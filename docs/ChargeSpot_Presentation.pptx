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My name is Rithvik Teja and today I'm presenting ChargeSpot — an EV Charging Availability and Usage Analytics System that I built for CSE494. The project uses MongoDB as the database, Python and PyMongo for the backend, and Streamlit for the interface. Let me walk you through what the system does and how I designed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has three parts. First, EV drivers don't know which connector is free before they arrive. Second, without a proper database, connector status gets out of sync when someone starts or ends a charging session. Third, operators have no data to work with — they can't see usage trends or plan maintenance. ChargeSpot solves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ChargeSpot achieves the practical goal — a working EV charging tracker — while demonstrating every database concept required for CSE494. The left side shows what the application does for a user. The right side maps each feature to a specific NoSQL concept. So the project is not just a demo; it's a full course requirement checklist.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eight technologies form the complete stack. MongoDB stores the data. Python and PyMongo connect to it. Streamlit builds the web interface without requiring any HTML or JavaScript. Plotly draws the analytics charts. scikit-learn provides the machine learning model. Pandas helps display tables, and python-dotenv keeps the database URI out of the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has two collections. Stations embed connectors because a station always has a small fixed number of connectors — two to five — and we always fetch them together. Charging sessions are stored separately because they grow without limit. If we embedded sessions inside the station document, we would eventually hit MongoDB's 16 megabyte document size limit. The foreign key is station_id, which we use in $lookup aggregations.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has five pages. The home dashboard shows the network health at a glance — total stations, available connectors, and energy delivered — all pulled from MongoDB aggregation pipelines. The Find page lets users search by city, connector type, and minimum charging speed. The Sessions page manages the full session lifecycle. When a session starts, the connector immediately transitions to occupied. When it ends, it returns to available.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database operations and analytics. For CRUD, each operation uses a specific PyMongo method. The update for connectors uses the dollar positional operator — that's the dollar sign in connectors dot dollar dot status — which updates only the matched connector inside the embedded array. For schema validation, I tested a deliberately invalid document — negative speed, wrong status enum, empty connector array — and MongoDB rejected it with a WriteError. For aggregations, the most complex one is Pipeline 2 which chains five stages including a $lookup join between the sessions and stations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machine learning component, I used a Decision Tree classifier because it produces interpretable rules — I can explain exactly why the model predicted a station as busy. The model takes five inputs: the hour, whether it's a weekend, the charger speed, the number of connectors, and whether it's a peak period. I generated 600 synthetic training samples. The split is 75% training, 25% test, with stratification to keep the busy and not-busy ratio equal in both sets. The 91.3% accuracy is on this synthetic data — I want to be clear that this has not been tested on real charging network logs. Also importantly, the model only reads station attributes — it never writes to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wrote two automated test files. test_crud.py has nine tests and test_aggregations.py has five tests — one per pipeline. For the CRUD tests, I first deliberately submit an invalid document to prove that MongoDB's schema validator rejects it. Then I test each operation in order: create, read, update, session start with connector sync, deletion protection while a session is active, session end with connector restoration, and finally deletion of the test records. Test 9 calls explain() and confirms the query planner chose IXSCAN instead of COLLSCAN. All 14 tests passed.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 ChargeSpot demonstrates every course requirement for CSE494 in one working application: document design, validation, CRUD, indexing, aggregation, and machine learning. The database contains 10 stations, 33 connectors, and 42 session records. All 14 automated tests passed. The verified energy delivered across all completed sessions is 1,145 kilowatt-hours. For future work, the most impactful improvement would be connecting to a real OCPP charging API so the data reflects actual station activity. I'm happy to take any questions about the database design, the aggregation pipelines, or the machine learning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88952" cy="2743200"/>
          </a:xfrm>
          <a:prstGeom prst="rect">
            <a:avLst/>
          </a:prstGeom>
          <a:solidFill>
            <a:srgbClr val="F8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069080"/>
            <a:ext cx="12188952" cy="73152"/>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0"/>
            <a:ext cx="1097280" cy="1097280"/>
          </a:xfrm>
          <a:prstGeom prst="rect">
            <a:avLst/>
          </a:prstGeom>
          <a:noFill/>
        </p:spPr>
        <p:txBody>
          <a:bodyPr wrap="square">
            <a:spAutoFit/>
          </a:bodyPr>
          <a:lstStyle/>
          <a:p>
            <a:pPr algn="ctr"/>
            <a:r>
              <a:rPr sz="6000" b="0" i="0">
                <a:solidFill>
                  <a:srgbClr val="E9C46A"/>
                </a:solidFill>
                <a:latin typeface="Calibri"/>
              </a:rPr>
              <a:t>⚡</a:t>
            </a:r>
          </a:p>
        </p:txBody>
      </p:sp>
      <p:sp>
        <p:nvSpPr>
          <p:cNvPr id="6" name="TextBox 5"/>
          <p:cNvSpPr txBox="1"/>
          <p:nvPr/>
        </p:nvSpPr>
        <p:spPr>
          <a:xfrm>
            <a:off x="1371600" y="457200"/>
            <a:ext cx="10058400" cy="1097280"/>
          </a:xfrm>
          <a:prstGeom prst="rect">
            <a:avLst/>
          </a:prstGeom>
          <a:noFill/>
        </p:spPr>
        <p:txBody>
          <a:bodyPr wrap="square">
            <a:spAutoFit/>
          </a:bodyPr>
          <a:lstStyle/>
          <a:p>
            <a:pPr algn="l"/>
            <a:r>
              <a:rPr sz="5400" b="1" i="0">
                <a:solidFill>
                  <a:srgbClr val="FFFFFF"/>
                </a:solidFill>
                <a:latin typeface="Calibri"/>
              </a:rPr>
              <a:t>ChargeSpot</a:t>
            </a:r>
          </a:p>
        </p:txBody>
      </p:sp>
      <p:sp>
        <p:nvSpPr>
          <p:cNvPr id="7" name="TextBox 6"/>
          <p:cNvSpPr txBox="1"/>
          <p:nvPr/>
        </p:nvSpPr>
        <p:spPr>
          <a:xfrm>
            <a:off x="1371600" y="1508760"/>
            <a:ext cx="9601200" cy="548640"/>
          </a:xfrm>
          <a:prstGeom prst="rect">
            <a:avLst/>
          </a:prstGeom>
          <a:noFill/>
        </p:spPr>
        <p:txBody>
          <a:bodyPr wrap="square">
            <a:spAutoFit/>
          </a:bodyPr>
          <a:lstStyle/>
          <a:p>
            <a:pPr algn="l"/>
            <a:r>
              <a:rPr sz="2200" b="0" i="1">
                <a:solidFill>
                  <a:srgbClr val="D8F3DC"/>
                </a:solidFill>
                <a:latin typeface="Calibri"/>
              </a:rPr>
              <a:t>EV Charging Availability &amp; Usage Analytics System</a:t>
            </a:r>
          </a:p>
        </p:txBody>
      </p:sp>
      <p:sp>
        <p:nvSpPr>
          <p:cNvPr id="8" name="Rectangle 7"/>
          <p:cNvSpPr/>
          <p:nvPr/>
        </p:nvSpPr>
        <p:spPr>
          <a:xfrm>
            <a:off x="1371600" y="2194560"/>
            <a:ext cx="4572000" cy="2540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331720"/>
            <a:ext cx="9144000" cy="411480"/>
          </a:xfrm>
          <a:prstGeom prst="rect">
            <a:avLst/>
          </a:prstGeom>
          <a:noFill/>
        </p:spPr>
        <p:txBody>
          <a:bodyPr wrap="square">
            <a:spAutoFit/>
          </a:bodyPr>
          <a:lstStyle/>
          <a:p>
            <a:pPr algn="l"/>
            <a:r>
              <a:rPr sz="1600" b="0" i="0">
                <a:solidFill>
                  <a:srgbClr val="D8F3DC"/>
                </a:solidFill>
                <a:latin typeface="Calibri"/>
              </a:rPr>
              <a:t>CSE494 — Intelligent NoSQL Databases</a:t>
            </a:r>
          </a:p>
        </p:txBody>
      </p:sp>
      <p:sp>
        <p:nvSpPr>
          <p:cNvPr id="10" name="TextBox 9"/>
          <p:cNvSpPr txBox="1"/>
          <p:nvPr/>
        </p:nvSpPr>
        <p:spPr>
          <a:xfrm>
            <a:off x="1371600" y="2743200"/>
            <a:ext cx="9144000" cy="365760"/>
          </a:xfrm>
          <a:prstGeom prst="rect">
            <a:avLst/>
          </a:prstGeom>
          <a:noFill/>
        </p:spPr>
        <p:txBody>
          <a:bodyPr wrap="square">
            <a:spAutoFit/>
          </a:bodyPr>
          <a:lstStyle/>
          <a:p>
            <a:pPr algn="l"/>
            <a:r>
              <a:rPr sz="1400" b="0" i="0">
                <a:solidFill>
                  <a:srgbClr val="A8CBB5"/>
                </a:solidFill>
                <a:latin typeface="Calibri"/>
              </a:rPr>
              <a:t>Academic Task 2  |  Lovely Professional University</a:t>
            </a:r>
          </a:p>
        </p:txBody>
      </p:sp>
      <p:sp>
        <p:nvSpPr>
          <p:cNvPr id="11" name="Rectangle 10"/>
          <p:cNvSpPr/>
          <p:nvPr/>
        </p:nvSpPr>
        <p:spPr>
          <a:xfrm>
            <a:off x="457200" y="4343400"/>
            <a:ext cx="2011680" cy="502920"/>
          </a:xfrm>
          <a:prstGeom prst="rect">
            <a:avLst/>
          </a:prstGeom>
          <a:solidFill>
            <a:srgbClr val="D8F3DC"/>
          </a:solidFill>
          <a:ln w="1270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407408"/>
            <a:ext cx="1828800" cy="384048"/>
          </a:xfrm>
          <a:prstGeom prst="rect">
            <a:avLst/>
          </a:prstGeom>
          <a:noFill/>
        </p:spPr>
        <p:txBody>
          <a:bodyPr wrap="square">
            <a:spAutoFit/>
          </a:bodyPr>
          <a:lstStyle/>
          <a:p>
            <a:pPr algn="ctr"/>
            <a:r>
              <a:rPr sz="1300" b="1" i="0">
                <a:solidFill>
                  <a:srgbClr val="1B4332"/>
                </a:solidFill>
                <a:latin typeface="Calibri"/>
              </a:rPr>
              <a:t>Python</a:t>
            </a:r>
          </a:p>
        </p:txBody>
      </p:sp>
      <p:sp>
        <p:nvSpPr>
          <p:cNvPr id="13" name="Rectangle 12"/>
          <p:cNvSpPr/>
          <p:nvPr/>
        </p:nvSpPr>
        <p:spPr>
          <a:xfrm>
            <a:off x="2743200" y="4343400"/>
            <a:ext cx="2011680" cy="502920"/>
          </a:xfrm>
          <a:prstGeom prst="rect">
            <a:avLst/>
          </a:prstGeom>
          <a:solidFill>
            <a:srgbClr val="D8F3DC"/>
          </a:solidFill>
          <a:ln w="1270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4407408"/>
            <a:ext cx="1828800" cy="384048"/>
          </a:xfrm>
          <a:prstGeom prst="rect">
            <a:avLst/>
          </a:prstGeom>
          <a:noFill/>
        </p:spPr>
        <p:txBody>
          <a:bodyPr wrap="square">
            <a:spAutoFit/>
          </a:bodyPr>
          <a:lstStyle/>
          <a:p>
            <a:pPr algn="ctr"/>
            <a:r>
              <a:rPr sz="1300" b="1" i="0">
                <a:solidFill>
                  <a:srgbClr val="1B4332"/>
                </a:solidFill>
                <a:latin typeface="Calibri"/>
              </a:rPr>
              <a:t>MongoDB</a:t>
            </a:r>
          </a:p>
        </p:txBody>
      </p:sp>
      <p:sp>
        <p:nvSpPr>
          <p:cNvPr id="15" name="Rectangle 14"/>
          <p:cNvSpPr/>
          <p:nvPr/>
        </p:nvSpPr>
        <p:spPr>
          <a:xfrm>
            <a:off x="5029200" y="4343400"/>
            <a:ext cx="2011680" cy="502920"/>
          </a:xfrm>
          <a:prstGeom prst="rect">
            <a:avLst/>
          </a:prstGeom>
          <a:solidFill>
            <a:srgbClr val="D8F3DC"/>
          </a:solidFill>
          <a:ln w="1270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4407408"/>
            <a:ext cx="1828800" cy="384048"/>
          </a:xfrm>
          <a:prstGeom prst="rect">
            <a:avLst/>
          </a:prstGeom>
          <a:noFill/>
        </p:spPr>
        <p:txBody>
          <a:bodyPr wrap="square">
            <a:spAutoFit/>
          </a:bodyPr>
          <a:lstStyle/>
          <a:p>
            <a:pPr algn="ctr"/>
            <a:r>
              <a:rPr sz="1300" b="1" i="0">
                <a:solidFill>
                  <a:srgbClr val="1B4332"/>
                </a:solidFill>
                <a:latin typeface="Calibri"/>
              </a:rPr>
              <a:t>Streamlit</a:t>
            </a:r>
          </a:p>
        </p:txBody>
      </p:sp>
      <p:sp>
        <p:nvSpPr>
          <p:cNvPr id="17" name="Rectangle 16"/>
          <p:cNvSpPr/>
          <p:nvPr/>
        </p:nvSpPr>
        <p:spPr>
          <a:xfrm>
            <a:off x="7315200" y="4343400"/>
            <a:ext cx="2011680" cy="502920"/>
          </a:xfrm>
          <a:prstGeom prst="rect">
            <a:avLst/>
          </a:prstGeom>
          <a:solidFill>
            <a:srgbClr val="D8F3DC"/>
          </a:solidFill>
          <a:ln w="1270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0" y="4407408"/>
            <a:ext cx="1828800" cy="384048"/>
          </a:xfrm>
          <a:prstGeom prst="rect">
            <a:avLst/>
          </a:prstGeom>
          <a:noFill/>
        </p:spPr>
        <p:txBody>
          <a:bodyPr wrap="square">
            <a:spAutoFit/>
          </a:bodyPr>
          <a:lstStyle/>
          <a:p>
            <a:pPr algn="ctr"/>
            <a:r>
              <a:rPr sz="1300" b="1" i="0">
                <a:solidFill>
                  <a:srgbClr val="1B4332"/>
                </a:solidFill>
                <a:latin typeface="Calibri"/>
              </a:rPr>
              <a:t>scikit-learn</a:t>
            </a:r>
          </a:p>
        </p:txBody>
      </p:sp>
      <p:sp>
        <p:nvSpPr>
          <p:cNvPr id="19" name="Rectangle 18"/>
          <p:cNvSpPr/>
          <p:nvPr/>
        </p:nvSpPr>
        <p:spPr>
          <a:xfrm>
            <a:off x="9601200" y="4343400"/>
            <a:ext cx="2011680" cy="502920"/>
          </a:xfrm>
          <a:prstGeom prst="rect">
            <a:avLst/>
          </a:prstGeom>
          <a:solidFill>
            <a:srgbClr val="D8F3DC"/>
          </a:solidFill>
          <a:ln w="1270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4407408"/>
            <a:ext cx="1828800" cy="384048"/>
          </a:xfrm>
          <a:prstGeom prst="rect">
            <a:avLst/>
          </a:prstGeom>
          <a:noFill/>
        </p:spPr>
        <p:txBody>
          <a:bodyPr wrap="square">
            <a:spAutoFit/>
          </a:bodyPr>
          <a:lstStyle/>
          <a:p>
            <a:pPr algn="ctr"/>
            <a:r>
              <a:rPr sz="1300" b="1" i="0">
                <a:solidFill>
                  <a:srgbClr val="1B4332"/>
                </a:solidFill>
                <a:latin typeface="Calibri"/>
              </a:rPr>
              <a:t>PyMongo</a:t>
            </a:r>
          </a:p>
        </p:txBody>
      </p:sp>
      <p:sp>
        <p:nvSpPr>
          <p:cNvPr id="21" name="TextBox 20"/>
          <p:cNvSpPr txBox="1"/>
          <p:nvPr/>
        </p:nvSpPr>
        <p:spPr>
          <a:xfrm>
            <a:off x="457200" y="6217920"/>
            <a:ext cx="7315200" cy="365760"/>
          </a:xfrm>
          <a:prstGeom prst="rect">
            <a:avLst/>
          </a:prstGeom>
          <a:noFill/>
        </p:spPr>
        <p:txBody>
          <a:bodyPr wrap="square">
            <a:spAutoFit/>
          </a:bodyPr>
          <a:lstStyle/>
          <a:p>
            <a:pPr algn="l"/>
            <a:r>
              <a:rPr sz="1100" b="0" i="0">
                <a:solidFill>
                  <a:srgbClr val="6C757D"/>
                </a:solidFill>
                <a:latin typeface="Calibri"/>
              </a:rPr>
              <a:t>🔗  github.com/Rithvikteja123/chargespot</a:t>
            </a:r>
          </a:p>
        </p:txBody>
      </p:sp>
      <p:sp>
        <p:nvSpPr>
          <p:cNvPr id="22" name="TextBox 21"/>
          <p:cNvSpPr txBox="1"/>
          <p:nvPr/>
        </p:nvSpPr>
        <p:spPr>
          <a:xfrm>
            <a:off x="11731752" y="6537960"/>
            <a:ext cx="365760" cy="256032"/>
          </a:xfrm>
          <a:prstGeom prst="rect">
            <a:avLst/>
          </a:prstGeom>
          <a:noFill/>
        </p:spPr>
        <p:txBody>
          <a:bodyPr wrap="square">
            <a:spAutoFit/>
          </a:bodyPr>
          <a:lstStyle/>
          <a:p>
            <a:pPr algn="r"/>
            <a:r>
              <a:rPr sz="1000" b="0" i="0">
                <a:solidFill>
                  <a:srgbClr val="6C757D"/>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57432" cy="640080"/>
          </a:xfrm>
          <a:prstGeom prst="rect">
            <a:avLst/>
          </a:prstGeom>
          <a:noFill/>
        </p:spPr>
        <p:txBody>
          <a:bodyPr wrap="square">
            <a:spAutoFit/>
          </a:bodyPr>
          <a:lstStyle/>
          <a:p>
            <a:pPr algn="l"/>
            <a:r>
              <a:rPr sz="2600" b="1" i="0">
                <a:solidFill>
                  <a:srgbClr val="FFFFFF"/>
                </a:solidFill>
                <a:latin typeface="Calibri"/>
              </a:rPr>
              <a:t>Problem Statement</a:t>
            </a:r>
          </a:p>
        </p:txBody>
      </p:sp>
      <p:sp>
        <p:nvSpPr>
          <p:cNvPr id="5" name="TextBox 4"/>
          <p:cNvSpPr txBox="1"/>
          <p:nvPr/>
        </p:nvSpPr>
        <p:spPr>
          <a:xfrm>
            <a:off x="365760" y="749808"/>
            <a:ext cx="11457432" cy="365760"/>
          </a:xfrm>
          <a:prstGeom prst="rect">
            <a:avLst/>
          </a:prstGeom>
          <a:noFill/>
        </p:spPr>
        <p:txBody>
          <a:bodyPr wrap="square">
            <a:spAutoFit/>
          </a:bodyPr>
          <a:lstStyle/>
          <a:p>
            <a:pPr algn="l"/>
            <a:r>
              <a:rPr sz="1300" b="0" i="1">
                <a:solidFill>
                  <a:srgbClr val="D8F3DC"/>
                </a:solidFill>
                <a:latin typeface="Calibri"/>
              </a:rPr>
              <a:t>Why do EV drivers and operators need a better system?</a:t>
            </a:r>
          </a:p>
        </p:txBody>
      </p:sp>
      <p:sp>
        <p:nvSpPr>
          <p:cNvPr id="6" name="Rectangle 5"/>
          <p:cNvSpPr/>
          <p:nvPr/>
        </p:nvSpPr>
        <p:spPr>
          <a:xfrm>
            <a:off x="0" y="1188720"/>
            <a:ext cx="12188952" cy="2540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3749039" cy="34747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08760"/>
            <a:ext cx="640080" cy="640080"/>
          </a:xfrm>
          <a:prstGeom prst="rect">
            <a:avLst/>
          </a:prstGeom>
          <a:noFill/>
        </p:spPr>
        <p:txBody>
          <a:bodyPr wrap="square">
            <a:spAutoFit/>
          </a:bodyPr>
          <a:lstStyle/>
          <a:p>
            <a:pPr algn="l"/>
            <a:r>
              <a:rPr sz="3400" b="0" i="0">
                <a:solidFill>
                  <a:srgbClr val="1B4332"/>
                </a:solidFill>
                <a:latin typeface="Calibri"/>
              </a:rPr>
              <a:t>🔌</a:t>
            </a:r>
          </a:p>
        </p:txBody>
      </p:sp>
      <p:sp>
        <p:nvSpPr>
          <p:cNvPr id="9" name="TextBox 8"/>
          <p:cNvSpPr txBox="1"/>
          <p:nvPr/>
        </p:nvSpPr>
        <p:spPr>
          <a:xfrm>
            <a:off x="502920" y="2148840"/>
            <a:ext cx="3429000" cy="457200"/>
          </a:xfrm>
          <a:prstGeom prst="rect">
            <a:avLst/>
          </a:prstGeom>
          <a:noFill/>
        </p:spPr>
        <p:txBody>
          <a:bodyPr wrap="square">
            <a:spAutoFit/>
          </a:bodyPr>
          <a:lstStyle/>
          <a:p>
            <a:pPr algn="l"/>
            <a:r>
              <a:rPr sz="1600" b="1" i="0">
                <a:solidFill>
                  <a:srgbClr val="1B4332"/>
                </a:solidFill>
                <a:latin typeface="Calibri"/>
              </a:rPr>
              <a:t>No Central Visibility</a:t>
            </a:r>
          </a:p>
        </p:txBody>
      </p:sp>
      <p:sp>
        <p:nvSpPr>
          <p:cNvPr id="10" name="TextBox 9"/>
          <p:cNvSpPr txBox="1"/>
          <p:nvPr/>
        </p:nvSpPr>
        <p:spPr>
          <a:xfrm>
            <a:off x="502920" y="2606040"/>
            <a:ext cx="3429000" cy="2103120"/>
          </a:xfrm>
          <a:prstGeom prst="rect">
            <a:avLst/>
          </a:prstGeom>
          <a:noFill/>
        </p:spPr>
        <p:txBody>
          <a:bodyPr wrap="square">
            <a:spAutoFit/>
          </a:bodyPr>
          <a:lstStyle/>
          <a:p>
            <a:pPr algn="l"/>
            <a:r>
              <a:rPr sz="1300" b="0" i="0">
                <a:solidFill>
                  <a:srgbClr val="1A1A2E"/>
                </a:solidFill>
                <a:latin typeface="Calibri"/>
              </a:rPr>
              <a:t>Drivers have no way to check which charging connectors are available before arriving at a station.</a:t>
            </a:r>
          </a:p>
        </p:txBody>
      </p:sp>
      <p:sp>
        <p:nvSpPr>
          <p:cNvPr id="11" name="Rectangle 10"/>
          <p:cNvSpPr/>
          <p:nvPr/>
        </p:nvSpPr>
        <p:spPr>
          <a:xfrm>
            <a:off x="4297680" y="1371600"/>
            <a:ext cx="3749039" cy="34747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508760"/>
            <a:ext cx="640080" cy="640080"/>
          </a:xfrm>
          <a:prstGeom prst="rect">
            <a:avLst/>
          </a:prstGeom>
          <a:noFill/>
        </p:spPr>
        <p:txBody>
          <a:bodyPr wrap="square">
            <a:spAutoFit/>
          </a:bodyPr>
          <a:lstStyle/>
          <a:p>
            <a:pPr algn="l"/>
            <a:r>
              <a:rPr sz="3400" b="0" i="0">
                <a:solidFill>
                  <a:srgbClr val="1B4332"/>
                </a:solidFill>
                <a:latin typeface="Calibri"/>
              </a:rPr>
              <a:t>❌</a:t>
            </a:r>
          </a:p>
        </p:txBody>
      </p:sp>
      <p:sp>
        <p:nvSpPr>
          <p:cNvPr id="13" name="TextBox 12"/>
          <p:cNvSpPr txBox="1"/>
          <p:nvPr/>
        </p:nvSpPr>
        <p:spPr>
          <a:xfrm>
            <a:off x="4434840" y="2148840"/>
            <a:ext cx="3429000" cy="457200"/>
          </a:xfrm>
          <a:prstGeom prst="rect">
            <a:avLst/>
          </a:prstGeom>
          <a:noFill/>
        </p:spPr>
        <p:txBody>
          <a:bodyPr wrap="square">
            <a:spAutoFit/>
          </a:bodyPr>
          <a:lstStyle/>
          <a:p>
            <a:pPr algn="l"/>
            <a:r>
              <a:rPr sz="1600" b="1" i="0">
                <a:solidFill>
                  <a:srgbClr val="1B4332"/>
                </a:solidFill>
                <a:latin typeface="Calibri"/>
              </a:rPr>
              <a:t>Data Inconsistency</a:t>
            </a:r>
          </a:p>
        </p:txBody>
      </p:sp>
      <p:sp>
        <p:nvSpPr>
          <p:cNvPr id="14" name="TextBox 13"/>
          <p:cNvSpPr txBox="1"/>
          <p:nvPr/>
        </p:nvSpPr>
        <p:spPr>
          <a:xfrm>
            <a:off x="4434840" y="2606040"/>
            <a:ext cx="3429000" cy="2103120"/>
          </a:xfrm>
          <a:prstGeom prst="rect">
            <a:avLst/>
          </a:prstGeom>
          <a:noFill/>
        </p:spPr>
        <p:txBody>
          <a:bodyPr wrap="square">
            <a:spAutoFit/>
          </a:bodyPr>
          <a:lstStyle/>
          <a:p>
            <a:pPr algn="l"/>
            <a:r>
              <a:rPr sz="1300" b="0" i="0">
                <a:solidFill>
                  <a:srgbClr val="1A1A2E"/>
                </a:solidFill>
                <a:latin typeface="Calibri"/>
              </a:rPr>
              <a:t>Without a structured database, connector statuses become incorrect when sessions start and end manually.</a:t>
            </a:r>
          </a:p>
        </p:txBody>
      </p:sp>
      <p:sp>
        <p:nvSpPr>
          <p:cNvPr id="15" name="Rectangle 14"/>
          <p:cNvSpPr/>
          <p:nvPr/>
        </p:nvSpPr>
        <p:spPr>
          <a:xfrm>
            <a:off x="8229600" y="1371600"/>
            <a:ext cx="3749039" cy="34747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1508760"/>
            <a:ext cx="640080" cy="640080"/>
          </a:xfrm>
          <a:prstGeom prst="rect">
            <a:avLst/>
          </a:prstGeom>
          <a:noFill/>
        </p:spPr>
        <p:txBody>
          <a:bodyPr wrap="square">
            <a:spAutoFit/>
          </a:bodyPr>
          <a:lstStyle/>
          <a:p>
            <a:pPr algn="l"/>
            <a:r>
              <a:rPr sz="3400" b="0" i="0">
                <a:solidFill>
                  <a:srgbClr val="1B4332"/>
                </a:solidFill>
                <a:latin typeface="Calibri"/>
              </a:rPr>
              <a:t>📊</a:t>
            </a:r>
          </a:p>
        </p:txBody>
      </p:sp>
      <p:sp>
        <p:nvSpPr>
          <p:cNvPr id="17" name="TextBox 16"/>
          <p:cNvSpPr txBox="1"/>
          <p:nvPr/>
        </p:nvSpPr>
        <p:spPr>
          <a:xfrm>
            <a:off x="8366760" y="2148840"/>
            <a:ext cx="3429000" cy="457200"/>
          </a:xfrm>
          <a:prstGeom prst="rect">
            <a:avLst/>
          </a:prstGeom>
          <a:noFill/>
        </p:spPr>
        <p:txBody>
          <a:bodyPr wrap="square">
            <a:spAutoFit/>
          </a:bodyPr>
          <a:lstStyle/>
          <a:p>
            <a:pPr algn="l"/>
            <a:r>
              <a:rPr sz="1600" b="1" i="0">
                <a:solidFill>
                  <a:srgbClr val="1B4332"/>
                </a:solidFill>
                <a:latin typeface="Calibri"/>
              </a:rPr>
              <a:t>No Usage Analytics</a:t>
            </a:r>
          </a:p>
        </p:txBody>
      </p:sp>
      <p:sp>
        <p:nvSpPr>
          <p:cNvPr id="18" name="TextBox 17"/>
          <p:cNvSpPr txBox="1"/>
          <p:nvPr/>
        </p:nvSpPr>
        <p:spPr>
          <a:xfrm>
            <a:off x="8366760" y="2606040"/>
            <a:ext cx="3429000" cy="2103120"/>
          </a:xfrm>
          <a:prstGeom prst="rect">
            <a:avLst/>
          </a:prstGeom>
          <a:noFill/>
        </p:spPr>
        <p:txBody>
          <a:bodyPr wrap="square">
            <a:spAutoFit/>
          </a:bodyPr>
          <a:lstStyle/>
          <a:p>
            <a:pPr algn="l"/>
            <a:r>
              <a:rPr sz="1300" b="0" i="0">
                <a:solidFill>
                  <a:srgbClr val="1A1A2E"/>
                </a:solidFill>
                <a:latin typeface="Calibri"/>
              </a:rPr>
              <a:t>Operators cannot identify which stations are heavily used or which connector types need expansion.</a:t>
            </a:r>
          </a:p>
        </p:txBody>
      </p:sp>
      <p:sp>
        <p:nvSpPr>
          <p:cNvPr id="19" name="Rectangle 18"/>
          <p:cNvSpPr/>
          <p:nvPr/>
        </p:nvSpPr>
        <p:spPr>
          <a:xfrm>
            <a:off x="0" y="5029200"/>
            <a:ext cx="12188952" cy="64008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5093208"/>
            <a:ext cx="11457432" cy="502920"/>
          </a:xfrm>
          <a:prstGeom prst="rect">
            <a:avLst/>
          </a:prstGeom>
          <a:noFill/>
        </p:spPr>
        <p:txBody>
          <a:bodyPr wrap="square">
            <a:spAutoFit/>
          </a:bodyPr>
          <a:lstStyle/>
          <a:p>
            <a:pPr algn="ctr"/>
            <a:r>
              <a:rPr sz="1300" b="1" i="0">
                <a:solidFill>
                  <a:srgbClr val="1B4332"/>
                </a:solidFill>
                <a:latin typeface="Calibri"/>
              </a:rPr>
              <a:t>ChargeSpot addresses all three problems with a MongoDB document database, PyMongo CRUD operations, and aggregation-based analytics.</a:t>
            </a:r>
          </a:p>
        </p:txBody>
      </p:sp>
      <p:sp>
        <p:nvSpPr>
          <p:cNvPr id="21" name="TextBox 20"/>
          <p:cNvSpPr txBox="1"/>
          <p:nvPr/>
        </p:nvSpPr>
        <p:spPr>
          <a:xfrm>
            <a:off x="11731752" y="6537960"/>
            <a:ext cx="365760" cy="256032"/>
          </a:xfrm>
          <a:prstGeom prst="rect">
            <a:avLst/>
          </a:prstGeom>
          <a:noFill/>
        </p:spPr>
        <p:txBody>
          <a:bodyPr wrap="square">
            <a:spAutoFit/>
          </a:bodyPr>
          <a:lstStyle/>
          <a:p>
            <a:pPr algn="r"/>
            <a:r>
              <a:rPr sz="1000" b="0" i="0">
                <a:solidFill>
                  <a:srgbClr val="6C757D"/>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57432" cy="640080"/>
          </a:xfrm>
          <a:prstGeom prst="rect">
            <a:avLst/>
          </a:prstGeom>
          <a:noFill/>
        </p:spPr>
        <p:txBody>
          <a:bodyPr wrap="square">
            <a:spAutoFit/>
          </a:bodyPr>
          <a:lstStyle/>
          <a:p>
            <a:pPr algn="l"/>
            <a:r>
              <a:rPr sz="2600" b="1" i="0">
                <a:solidFill>
                  <a:srgbClr val="FFFFFF"/>
                </a:solidFill>
                <a:latin typeface="Calibri"/>
              </a:rPr>
              <a:t>Proposed Solution &amp; Objectives</a:t>
            </a:r>
          </a:p>
        </p:txBody>
      </p:sp>
      <p:sp>
        <p:nvSpPr>
          <p:cNvPr id="5" name="TextBox 4"/>
          <p:cNvSpPr txBox="1"/>
          <p:nvPr/>
        </p:nvSpPr>
        <p:spPr>
          <a:xfrm>
            <a:off x="365760" y="749808"/>
            <a:ext cx="11457432" cy="365760"/>
          </a:xfrm>
          <a:prstGeom prst="rect">
            <a:avLst/>
          </a:prstGeom>
          <a:noFill/>
        </p:spPr>
        <p:txBody>
          <a:bodyPr wrap="square">
            <a:spAutoFit/>
          </a:bodyPr>
          <a:lstStyle/>
          <a:p>
            <a:pPr algn="l"/>
            <a:r>
              <a:rPr sz="1300" b="0" i="1">
                <a:solidFill>
                  <a:srgbClr val="D8F3DC"/>
                </a:solidFill>
                <a:latin typeface="Calibri"/>
              </a:rPr>
              <a:t>What ChargeSpot does and what it demonstrates</a:t>
            </a:r>
          </a:p>
        </p:txBody>
      </p:sp>
      <p:sp>
        <p:nvSpPr>
          <p:cNvPr id="6" name="Rectangle 5"/>
          <p:cNvSpPr/>
          <p:nvPr/>
        </p:nvSpPr>
        <p:spPr>
          <a:xfrm>
            <a:off x="0" y="1188720"/>
            <a:ext cx="12188952" cy="2540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25880"/>
            <a:ext cx="5577840" cy="512064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5212080" cy="411480"/>
          </a:xfrm>
          <a:prstGeom prst="rect">
            <a:avLst/>
          </a:prstGeom>
          <a:noFill/>
        </p:spPr>
        <p:txBody>
          <a:bodyPr wrap="square">
            <a:spAutoFit/>
          </a:bodyPr>
          <a:lstStyle/>
          <a:p>
            <a:pPr algn="l"/>
            <a:r>
              <a:rPr sz="1500" b="1" i="0">
                <a:solidFill>
                  <a:srgbClr val="1B4332"/>
                </a:solidFill>
                <a:latin typeface="Calibri"/>
              </a:rPr>
              <a:t>🎯  The Application</a:t>
            </a:r>
          </a:p>
        </p:txBody>
      </p:sp>
      <p:sp>
        <p:nvSpPr>
          <p:cNvPr id="9" name="TextBox 8"/>
          <p:cNvSpPr txBox="1"/>
          <p:nvPr/>
        </p:nvSpPr>
        <p:spPr>
          <a:xfrm>
            <a:off x="457200" y="1920240"/>
            <a:ext cx="5212080" cy="4114800"/>
          </a:xfrm>
          <a:prstGeom prst="rect">
            <a:avLst/>
          </a:prstGeom>
          <a:noFill/>
        </p:spPr>
        <p:txBody>
          <a:bodyPr wrap="square">
            <a:spAutoFit/>
          </a:bodyPr>
          <a:lstStyle/>
          <a:p>
            <a:pPr>
              <a:spcBef>
                <a:spcPts val="300"/>
              </a:spcBef>
            </a:pPr>
            <a:r>
              <a:rPr sz="1300" b="0">
                <a:solidFill>
                  <a:srgbClr val="1A1A2E"/>
                </a:solidFill>
                <a:latin typeface="Calibri"/>
              </a:rPr>
              <a:t>✅  Station directory: search and filter 10 EV stations</a:t>
            </a:r>
          </a:p>
          <a:p>
            <a:pPr>
              <a:spcBef>
                <a:spcPts val="300"/>
              </a:spcBef>
            </a:pPr>
            <a:r>
              <a:rPr sz="1300" b="0">
                <a:solidFill>
                  <a:srgbClr val="1A1A2E"/>
                </a:solidFill>
                <a:latin typeface="Calibri"/>
              </a:rPr>
              <a:t>✅  Manage stations with full Create / Read / Update / Delete</a:t>
            </a:r>
          </a:p>
          <a:p>
            <a:pPr>
              <a:spcBef>
                <a:spcPts val="300"/>
              </a:spcBef>
            </a:pPr>
            <a:r>
              <a:rPr sz="1300" b="0">
                <a:solidFill>
                  <a:srgbClr val="1A1A2E"/>
                </a:solidFill>
                <a:latin typeface="Calibri"/>
              </a:rPr>
              <a:t>✅  Start, complete, and cancel charging sessions</a:t>
            </a:r>
          </a:p>
          <a:p>
            <a:pPr>
              <a:spcBef>
                <a:spcPts val="300"/>
              </a:spcBef>
            </a:pPr>
            <a:r>
              <a:rPr sz="1300" b="0">
                <a:solidFill>
                  <a:srgbClr val="1A1A2E"/>
                </a:solidFill>
                <a:latin typeface="Calibri"/>
              </a:rPr>
              <a:t>✅  Auto-sync connector status (available → occupied → available)</a:t>
            </a:r>
          </a:p>
          <a:p>
            <a:pPr>
              <a:spcBef>
                <a:spcPts val="300"/>
              </a:spcBef>
            </a:pPr>
            <a:r>
              <a:rPr sz="1300" b="0">
                <a:solidFill>
                  <a:srgbClr val="1A1A2E"/>
                </a:solidFill>
                <a:latin typeface="Calibri"/>
              </a:rPr>
              <a:t>✅  Five MongoDB aggregation analytics visualised with Plotly</a:t>
            </a:r>
          </a:p>
          <a:p>
            <a:pPr>
              <a:spcBef>
                <a:spcPts val="300"/>
              </a:spcBef>
            </a:pPr>
            <a:r>
              <a:rPr sz="1300" b="0">
                <a:solidFill>
                  <a:srgbClr val="1A1A2E"/>
                </a:solidFill>
                <a:latin typeface="Calibri"/>
              </a:rPr>
              <a:t>✅  ML congestion prediction using Decision Tree</a:t>
            </a:r>
          </a:p>
        </p:txBody>
      </p:sp>
      <p:sp>
        <p:nvSpPr>
          <p:cNvPr id="10" name="Rectangle 9"/>
          <p:cNvSpPr/>
          <p:nvPr/>
        </p:nvSpPr>
        <p:spPr>
          <a:xfrm>
            <a:off x="6035040" y="1325880"/>
            <a:ext cx="5852160" cy="5120640"/>
          </a:xfrm>
          <a:prstGeom prst="rect">
            <a:avLst/>
          </a:prstGeom>
          <a:solidFill>
            <a:srgbClr val="1B4332"/>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463040"/>
            <a:ext cx="5486400" cy="411480"/>
          </a:xfrm>
          <a:prstGeom prst="rect">
            <a:avLst/>
          </a:prstGeom>
          <a:noFill/>
        </p:spPr>
        <p:txBody>
          <a:bodyPr wrap="square">
            <a:spAutoFit/>
          </a:bodyPr>
          <a:lstStyle/>
          <a:p>
            <a:pPr algn="l"/>
            <a:r>
              <a:rPr sz="1500" b="1" i="0">
                <a:solidFill>
                  <a:srgbClr val="E9C46A"/>
                </a:solidFill>
                <a:latin typeface="Calibri"/>
              </a:rPr>
              <a:t>📌  Course Objectives Met</a:t>
            </a:r>
          </a:p>
        </p:txBody>
      </p:sp>
      <p:sp>
        <p:nvSpPr>
          <p:cNvPr id="12" name="TextBox 11"/>
          <p:cNvSpPr txBox="1"/>
          <p:nvPr/>
        </p:nvSpPr>
        <p:spPr>
          <a:xfrm>
            <a:off x="6217920" y="1965960"/>
            <a:ext cx="5394960" cy="4114800"/>
          </a:xfrm>
          <a:prstGeom prst="rect">
            <a:avLst/>
          </a:prstGeom>
          <a:noFill/>
        </p:spPr>
        <p:txBody>
          <a:bodyPr wrap="square">
            <a:spAutoFit/>
          </a:bodyPr>
          <a:lstStyle/>
          <a:p>
            <a:pPr>
              <a:spcBef>
                <a:spcPts val="300"/>
              </a:spcBef>
            </a:pPr>
            <a:r>
              <a:rPr sz="1300" b="0">
                <a:solidFill>
                  <a:srgbClr val="D8F3DC"/>
                </a:solidFill>
                <a:latin typeface="Calibri"/>
              </a:rPr>
              <a:t>→  MongoDB document design (embedded + referenced)</a:t>
            </a:r>
          </a:p>
          <a:p>
            <a:pPr>
              <a:spcBef>
                <a:spcPts val="300"/>
              </a:spcBef>
            </a:pPr>
            <a:r>
              <a:rPr sz="1300" b="0">
                <a:solidFill>
                  <a:srgbClr val="D8F3DC"/>
                </a:solidFill>
                <a:latin typeface="Calibri"/>
              </a:rPr>
              <a:t>→  $jsonSchema validation at collection level</a:t>
            </a:r>
          </a:p>
          <a:p>
            <a:pPr>
              <a:spcBef>
                <a:spcPts val="300"/>
              </a:spcBef>
            </a:pPr>
            <a:r>
              <a:rPr sz="1300" b="0">
                <a:solidFill>
                  <a:srgbClr val="D8F3DC"/>
                </a:solidFill>
                <a:latin typeface="Calibri"/>
              </a:rPr>
              <a:t>→  PyMongo CRUD operations (all four)</a:t>
            </a:r>
          </a:p>
          <a:p>
            <a:pPr>
              <a:spcBef>
                <a:spcPts val="300"/>
              </a:spcBef>
            </a:pPr>
            <a:r>
              <a:rPr sz="1300" b="0">
                <a:solidFill>
                  <a:srgbClr val="D8F3DC"/>
                </a:solidFill>
                <a:latin typeface="Calibri"/>
              </a:rPr>
              <a:t>→  Five aggregation pipelines ($match, $unwind, $group, $lookup…)</a:t>
            </a:r>
          </a:p>
          <a:p>
            <a:pPr>
              <a:spcBef>
                <a:spcPts val="300"/>
              </a:spcBef>
            </a:pPr>
            <a:r>
              <a:rPr sz="1300" b="0">
                <a:solidFill>
                  <a:srgbClr val="D8F3DC"/>
                </a:solidFill>
                <a:latin typeface="Calibri"/>
              </a:rPr>
              <a:t>→  B-Tree index + explain() performance verification</a:t>
            </a:r>
          </a:p>
          <a:p>
            <a:pPr>
              <a:spcBef>
                <a:spcPts val="300"/>
              </a:spcBef>
            </a:pPr>
            <a:r>
              <a:rPr sz="1300" b="0">
                <a:solidFill>
                  <a:srgbClr val="D8F3DC"/>
                </a:solidFill>
                <a:latin typeface="Calibri"/>
              </a:rPr>
              <a:t>→  scikit-learn ML integration (explainable Decision Tree)</a:t>
            </a:r>
          </a:p>
        </p:txBody>
      </p:sp>
      <p:sp>
        <p:nvSpPr>
          <p:cNvPr id="13" name="TextBox 12"/>
          <p:cNvSpPr txBox="1"/>
          <p:nvPr/>
        </p:nvSpPr>
        <p:spPr>
          <a:xfrm>
            <a:off x="11731752" y="6537960"/>
            <a:ext cx="365760" cy="256032"/>
          </a:xfrm>
          <a:prstGeom prst="rect">
            <a:avLst/>
          </a:prstGeom>
          <a:noFill/>
        </p:spPr>
        <p:txBody>
          <a:bodyPr wrap="square">
            <a:spAutoFit/>
          </a:bodyPr>
          <a:lstStyle/>
          <a:p>
            <a:pPr algn="r"/>
            <a:r>
              <a:rPr sz="1000" b="0" i="0">
                <a:solidFill>
                  <a:srgbClr val="6C757D"/>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57432" cy="640080"/>
          </a:xfrm>
          <a:prstGeom prst="rect">
            <a:avLst/>
          </a:prstGeom>
          <a:noFill/>
        </p:spPr>
        <p:txBody>
          <a:bodyPr wrap="square">
            <a:spAutoFit/>
          </a:bodyPr>
          <a:lstStyle/>
          <a:p>
            <a:pPr algn="l"/>
            <a:r>
              <a:rPr sz="2600" b="1" i="0">
                <a:solidFill>
                  <a:srgbClr val="FFFFFF"/>
                </a:solidFill>
                <a:latin typeface="Calibri"/>
              </a:rPr>
              <a:t>Technology Stack</a:t>
            </a:r>
          </a:p>
        </p:txBody>
      </p:sp>
      <p:sp>
        <p:nvSpPr>
          <p:cNvPr id="5" name="TextBox 4"/>
          <p:cNvSpPr txBox="1"/>
          <p:nvPr/>
        </p:nvSpPr>
        <p:spPr>
          <a:xfrm>
            <a:off x="365760" y="749808"/>
            <a:ext cx="11457432" cy="365760"/>
          </a:xfrm>
          <a:prstGeom prst="rect">
            <a:avLst/>
          </a:prstGeom>
          <a:noFill/>
        </p:spPr>
        <p:txBody>
          <a:bodyPr wrap="square">
            <a:spAutoFit/>
          </a:bodyPr>
          <a:lstStyle/>
          <a:p>
            <a:pPr algn="l"/>
            <a:r>
              <a:rPr sz="1300" b="0" i="1">
                <a:solidFill>
                  <a:srgbClr val="D8F3DC"/>
                </a:solidFill>
                <a:latin typeface="Calibri"/>
              </a:rPr>
              <a:t>Python · MongoDB · Streamlit · scikit-learn</a:t>
            </a:r>
          </a:p>
        </p:txBody>
      </p:sp>
      <p:sp>
        <p:nvSpPr>
          <p:cNvPr id="6" name="Rectangle 5"/>
          <p:cNvSpPr/>
          <p:nvPr/>
        </p:nvSpPr>
        <p:spPr>
          <a:xfrm>
            <a:off x="0" y="1188720"/>
            <a:ext cx="12188952" cy="2540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71600"/>
            <a:ext cx="2743200" cy="21031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08760"/>
            <a:ext cx="548640" cy="548640"/>
          </a:xfrm>
          <a:prstGeom prst="rect">
            <a:avLst/>
          </a:prstGeom>
          <a:noFill/>
        </p:spPr>
        <p:txBody>
          <a:bodyPr wrap="square">
            <a:spAutoFit/>
          </a:bodyPr>
          <a:lstStyle/>
          <a:p>
            <a:pPr algn="l"/>
            <a:r>
              <a:rPr sz="2400" b="0" i="0">
                <a:solidFill>
                  <a:srgbClr val="1B4332"/>
                </a:solidFill>
                <a:latin typeface="Calibri"/>
              </a:rPr>
              <a:t>🗄️</a:t>
            </a:r>
          </a:p>
        </p:txBody>
      </p:sp>
      <p:sp>
        <p:nvSpPr>
          <p:cNvPr id="9" name="TextBox 8"/>
          <p:cNvSpPr txBox="1"/>
          <p:nvPr/>
        </p:nvSpPr>
        <p:spPr>
          <a:xfrm>
            <a:off x="914400" y="1554480"/>
            <a:ext cx="1920240" cy="365760"/>
          </a:xfrm>
          <a:prstGeom prst="rect">
            <a:avLst/>
          </a:prstGeom>
          <a:noFill/>
        </p:spPr>
        <p:txBody>
          <a:bodyPr wrap="square">
            <a:spAutoFit/>
          </a:bodyPr>
          <a:lstStyle/>
          <a:p>
            <a:pPr algn="l"/>
            <a:r>
              <a:rPr sz="1300" b="1" i="0">
                <a:solidFill>
                  <a:srgbClr val="1B4332"/>
                </a:solidFill>
                <a:latin typeface="Calibri"/>
              </a:rPr>
              <a:t>MongoDB 7.0</a:t>
            </a:r>
          </a:p>
        </p:txBody>
      </p:sp>
      <p:sp>
        <p:nvSpPr>
          <p:cNvPr id="10" name="TextBox 9"/>
          <p:cNvSpPr txBox="1"/>
          <p:nvPr/>
        </p:nvSpPr>
        <p:spPr>
          <a:xfrm>
            <a:off x="365760" y="2103120"/>
            <a:ext cx="2514600" cy="1234440"/>
          </a:xfrm>
          <a:prstGeom prst="rect">
            <a:avLst/>
          </a:prstGeom>
          <a:noFill/>
        </p:spPr>
        <p:txBody>
          <a:bodyPr wrap="square">
            <a:spAutoFit/>
          </a:bodyPr>
          <a:lstStyle/>
          <a:p>
            <a:pPr algn="l"/>
            <a:r>
              <a:rPr sz="1100" b="0" i="0">
                <a:solidFill>
                  <a:srgbClr val="1A1A2E"/>
                </a:solidFill>
                <a:latin typeface="Calibri"/>
              </a:rPr>
              <a:t>NoSQL document database</a:t>
            </a:r>
          </a:p>
        </p:txBody>
      </p:sp>
      <p:sp>
        <p:nvSpPr>
          <p:cNvPr id="11" name="Rectangle 10"/>
          <p:cNvSpPr/>
          <p:nvPr/>
        </p:nvSpPr>
        <p:spPr>
          <a:xfrm>
            <a:off x="3200400" y="1371600"/>
            <a:ext cx="2743200" cy="21031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508760"/>
            <a:ext cx="548640" cy="548640"/>
          </a:xfrm>
          <a:prstGeom prst="rect">
            <a:avLst/>
          </a:prstGeom>
          <a:noFill/>
        </p:spPr>
        <p:txBody>
          <a:bodyPr wrap="square">
            <a:spAutoFit/>
          </a:bodyPr>
          <a:lstStyle/>
          <a:p>
            <a:pPr algn="l"/>
            <a:r>
              <a:rPr sz="2400" b="0" i="0">
                <a:solidFill>
                  <a:srgbClr val="2D6A4F"/>
                </a:solidFill>
                <a:latin typeface="Calibri"/>
              </a:rPr>
              <a:t>🐍</a:t>
            </a:r>
          </a:p>
        </p:txBody>
      </p:sp>
      <p:sp>
        <p:nvSpPr>
          <p:cNvPr id="13" name="TextBox 12"/>
          <p:cNvSpPr txBox="1"/>
          <p:nvPr/>
        </p:nvSpPr>
        <p:spPr>
          <a:xfrm>
            <a:off x="3840480" y="1554480"/>
            <a:ext cx="1920240" cy="365760"/>
          </a:xfrm>
          <a:prstGeom prst="rect">
            <a:avLst/>
          </a:prstGeom>
          <a:noFill/>
        </p:spPr>
        <p:txBody>
          <a:bodyPr wrap="square">
            <a:spAutoFit/>
          </a:bodyPr>
          <a:lstStyle/>
          <a:p>
            <a:pPr algn="l"/>
            <a:r>
              <a:rPr sz="1300" b="1" i="0">
                <a:solidFill>
                  <a:srgbClr val="2D6A4F"/>
                </a:solidFill>
                <a:latin typeface="Calibri"/>
              </a:rPr>
              <a:t>Python 3.14</a:t>
            </a:r>
          </a:p>
        </p:txBody>
      </p:sp>
      <p:sp>
        <p:nvSpPr>
          <p:cNvPr id="14" name="TextBox 13"/>
          <p:cNvSpPr txBox="1"/>
          <p:nvPr/>
        </p:nvSpPr>
        <p:spPr>
          <a:xfrm>
            <a:off x="3291840" y="2103120"/>
            <a:ext cx="2514600" cy="1234440"/>
          </a:xfrm>
          <a:prstGeom prst="rect">
            <a:avLst/>
          </a:prstGeom>
          <a:noFill/>
        </p:spPr>
        <p:txBody>
          <a:bodyPr wrap="square">
            <a:spAutoFit/>
          </a:bodyPr>
          <a:lstStyle/>
          <a:p>
            <a:pPr algn="l"/>
            <a:r>
              <a:rPr sz="1100" b="0" i="0">
                <a:solidFill>
                  <a:srgbClr val="1A1A2E"/>
                </a:solidFill>
                <a:latin typeface="Calibri"/>
              </a:rPr>
              <a:t>Application logic &amp; service layer</a:t>
            </a:r>
          </a:p>
        </p:txBody>
      </p:sp>
      <p:sp>
        <p:nvSpPr>
          <p:cNvPr id="15" name="Rectangle 14"/>
          <p:cNvSpPr/>
          <p:nvPr/>
        </p:nvSpPr>
        <p:spPr>
          <a:xfrm>
            <a:off x="6126480" y="1371600"/>
            <a:ext cx="2743200" cy="21031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08760"/>
            <a:ext cx="548640" cy="548640"/>
          </a:xfrm>
          <a:prstGeom prst="rect">
            <a:avLst/>
          </a:prstGeom>
          <a:noFill/>
        </p:spPr>
        <p:txBody>
          <a:bodyPr wrap="square">
            <a:spAutoFit/>
          </a:bodyPr>
          <a:lstStyle/>
          <a:p>
            <a:pPr algn="l"/>
            <a:r>
              <a:rPr sz="2400" b="0" i="0">
                <a:solidFill>
                  <a:srgbClr val="40916C"/>
                </a:solidFill>
                <a:latin typeface="Calibri"/>
              </a:rPr>
              <a:t>🔌</a:t>
            </a:r>
          </a:p>
        </p:txBody>
      </p:sp>
      <p:sp>
        <p:nvSpPr>
          <p:cNvPr id="17" name="TextBox 16"/>
          <p:cNvSpPr txBox="1"/>
          <p:nvPr/>
        </p:nvSpPr>
        <p:spPr>
          <a:xfrm>
            <a:off x="6766560" y="1554480"/>
            <a:ext cx="1920240" cy="365760"/>
          </a:xfrm>
          <a:prstGeom prst="rect">
            <a:avLst/>
          </a:prstGeom>
          <a:noFill/>
        </p:spPr>
        <p:txBody>
          <a:bodyPr wrap="square">
            <a:spAutoFit/>
          </a:bodyPr>
          <a:lstStyle/>
          <a:p>
            <a:pPr algn="l"/>
            <a:r>
              <a:rPr sz="1300" b="1" i="0">
                <a:solidFill>
                  <a:srgbClr val="40916C"/>
                </a:solidFill>
                <a:latin typeface="Calibri"/>
              </a:rPr>
              <a:t>PyMongo 4.19</a:t>
            </a:r>
          </a:p>
        </p:txBody>
      </p:sp>
      <p:sp>
        <p:nvSpPr>
          <p:cNvPr id="18" name="TextBox 17"/>
          <p:cNvSpPr txBox="1"/>
          <p:nvPr/>
        </p:nvSpPr>
        <p:spPr>
          <a:xfrm>
            <a:off x="6217920" y="2103120"/>
            <a:ext cx="2514600" cy="1234440"/>
          </a:xfrm>
          <a:prstGeom prst="rect">
            <a:avLst/>
          </a:prstGeom>
          <a:noFill/>
        </p:spPr>
        <p:txBody>
          <a:bodyPr wrap="square">
            <a:spAutoFit/>
          </a:bodyPr>
          <a:lstStyle/>
          <a:p>
            <a:pPr algn="l"/>
            <a:r>
              <a:rPr sz="1100" b="0" i="0">
                <a:solidFill>
                  <a:srgbClr val="1A1A2E"/>
                </a:solidFill>
                <a:latin typeface="Calibri"/>
              </a:rPr>
              <a:t>Python driver — CRUD &amp; aggregations</a:t>
            </a:r>
          </a:p>
        </p:txBody>
      </p:sp>
      <p:sp>
        <p:nvSpPr>
          <p:cNvPr id="19" name="Rectangle 18"/>
          <p:cNvSpPr/>
          <p:nvPr/>
        </p:nvSpPr>
        <p:spPr>
          <a:xfrm>
            <a:off x="9052560" y="1371600"/>
            <a:ext cx="2743200" cy="21031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1508760"/>
            <a:ext cx="548640" cy="548640"/>
          </a:xfrm>
          <a:prstGeom prst="rect">
            <a:avLst/>
          </a:prstGeom>
          <a:noFill/>
        </p:spPr>
        <p:txBody>
          <a:bodyPr wrap="square">
            <a:spAutoFit/>
          </a:bodyPr>
          <a:lstStyle/>
          <a:p>
            <a:pPr algn="l"/>
            <a:r>
              <a:rPr sz="2400" b="0" i="0">
                <a:solidFill>
                  <a:srgbClr val="1B4332"/>
                </a:solidFill>
                <a:latin typeface="Calibri"/>
              </a:rPr>
              <a:t>🌐</a:t>
            </a:r>
          </a:p>
        </p:txBody>
      </p:sp>
      <p:sp>
        <p:nvSpPr>
          <p:cNvPr id="21" name="TextBox 20"/>
          <p:cNvSpPr txBox="1"/>
          <p:nvPr/>
        </p:nvSpPr>
        <p:spPr>
          <a:xfrm>
            <a:off x="9692640" y="1554480"/>
            <a:ext cx="1920240" cy="365760"/>
          </a:xfrm>
          <a:prstGeom prst="rect">
            <a:avLst/>
          </a:prstGeom>
          <a:noFill/>
        </p:spPr>
        <p:txBody>
          <a:bodyPr wrap="square">
            <a:spAutoFit/>
          </a:bodyPr>
          <a:lstStyle/>
          <a:p>
            <a:pPr algn="l"/>
            <a:r>
              <a:rPr sz="1300" b="1" i="0">
                <a:solidFill>
                  <a:srgbClr val="1B4332"/>
                </a:solidFill>
                <a:latin typeface="Calibri"/>
              </a:rPr>
              <a:t>Streamlit 1.66</a:t>
            </a:r>
          </a:p>
        </p:txBody>
      </p:sp>
      <p:sp>
        <p:nvSpPr>
          <p:cNvPr id="22" name="TextBox 21"/>
          <p:cNvSpPr txBox="1"/>
          <p:nvPr/>
        </p:nvSpPr>
        <p:spPr>
          <a:xfrm>
            <a:off x="9144000" y="2103120"/>
            <a:ext cx="2514600" cy="1234440"/>
          </a:xfrm>
          <a:prstGeom prst="rect">
            <a:avLst/>
          </a:prstGeom>
          <a:noFill/>
        </p:spPr>
        <p:txBody>
          <a:bodyPr wrap="square">
            <a:spAutoFit/>
          </a:bodyPr>
          <a:lstStyle/>
          <a:p>
            <a:pPr algn="l"/>
            <a:r>
              <a:rPr sz="1100" b="0" i="0">
                <a:solidFill>
                  <a:srgbClr val="1A1A2E"/>
                </a:solidFill>
                <a:latin typeface="Calibri"/>
              </a:rPr>
              <a:t>Reactive web UI with custom CSS</a:t>
            </a:r>
          </a:p>
        </p:txBody>
      </p:sp>
      <p:sp>
        <p:nvSpPr>
          <p:cNvPr id="23" name="Rectangle 22"/>
          <p:cNvSpPr/>
          <p:nvPr/>
        </p:nvSpPr>
        <p:spPr>
          <a:xfrm>
            <a:off x="274320" y="3749039"/>
            <a:ext cx="2743200" cy="21031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3886199"/>
            <a:ext cx="548640" cy="548640"/>
          </a:xfrm>
          <a:prstGeom prst="rect">
            <a:avLst/>
          </a:prstGeom>
          <a:noFill/>
        </p:spPr>
        <p:txBody>
          <a:bodyPr wrap="square">
            <a:spAutoFit/>
          </a:bodyPr>
          <a:lstStyle/>
          <a:p>
            <a:pPr algn="l"/>
            <a:r>
              <a:rPr sz="2400" b="0" i="0">
                <a:solidFill>
                  <a:srgbClr val="2D6A4F"/>
                </a:solidFill>
                <a:latin typeface="Calibri"/>
              </a:rPr>
              <a:t>📊</a:t>
            </a:r>
          </a:p>
        </p:txBody>
      </p:sp>
      <p:sp>
        <p:nvSpPr>
          <p:cNvPr id="25" name="TextBox 24"/>
          <p:cNvSpPr txBox="1"/>
          <p:nvPr/>
        </p:nvSpPr>
        <p:spPr>
          <a:xfrm>
            <a:off x="914400" y="3931919"/>
            <a:ext cx="1920240" cy="365760"/>
          </a:xfrm>
          <a:prstGeom prst="rect">
            <a:avLst/>
          </a:prstGeom>
          <a:noFill/>
        </p:spPr>
        <p:txBody>
          <a:bodyPr wrap="square">
            <a:spAutoFit/>
          </a:bodyPr>
          <a:lstStyle/>
          <a:p>
            <a:pPr algn="l"/>
            <a:r>
              <a:rPr sz="1300" b="1" i="0">
                <a:solidFill>
                  <a:srgbClr val="2D6A4F"/>
                </a:solidFill>
                <a:latin typeface="Calibri"/>
              </a:rPr>
              <a:t>Plotly 7.1</a:t>
            </a:r>
          </a:p>
        </p:txBody>
      </p:sp>
      <p:sp>
        <p:nvSpPr>
          <p:cNvPr id="26" name="TextBox 25"/>
          <p:cNvSpPr txBox="1"/>
          <p:nvPr/>
        </p:nvSpPr>
        <p:spPr>
          <a:xfrm>
            <a:off x="365760" y="4480559"/>
            <a:ext cx="2514600" cy="1234440"/>
          </a:xfrm>
          <a:prstGeom prst="rect">
            <a:avLst/>
          </a:prstGeom>
          <a:noFill/>
        </p:spPr>
        <p:txBody>
          <a:bodyPr wrap="square">
            <a:spAutoFit/>
          </a:bodyPr>
          <a:lstStyle/>
          <a:p>
            <a:pPr algn="l"/>
            <a:r>
              <a:rPr sz="1100" b="0" i="0">
                <a:solidFill>
                  <a:srgbClr val="1A1A2E"/>
                </a:solidFill>
                <a:latin typeface="Calibri"/>
              </a:rPr>
              <a:t>Interactive bar, donut, pie charts</a:t>
            </a:r>
          </a:p>
        </p:txBody>
      </p:sp>
      <p:sp>
        <p:nvSpPr>
          <p:cNvPr id="27" name="Rectangle 26"/>
          <p:cNvSpPr/>
          <p:nvPr/>
        </p:nvSpPr>
        <p:spPr>
          <a:xfrm>
            <a:off x="3200400" y="3749039"/>
            <a:ext cx="2743200" cy="21031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91840" y="3886199"/>
            <a:ext cx="548640" cy="548640"/>
          </a:xfrm>
          <a:prstGeom prst="rect">
            <a:avLst/>
          </a:prstGeom>
          <a:noFill/>
        </p:spPr>
        <p:txBody>
          <a:bodyPr wrap="square">
            <a:spAutoFit/>
          </a:bodyPr>
          <a:lstStyle/>
          <a:p>
            <a:pPr algn="l"/>
            <a:r>
              <a:rPr sz="2400" b="0" i="0">
                <a:solidFill>
                  <a:srgbClr val="40916C"/>
                </a:solidFill>
                <a:latin typeface="Calibri"/>
              </a:rPr>
              <a:t>🤖</a:t>
            </a:r>
          </a:p>
        </p:txBody>
      </p:sp>
      <p:sp>
        <p:nvSpPr>
          <p:cNvPr id="29" name="TextBox 28"/>
          <p:cNvSpPr txBox="1"/>
          <p:nvPr/>
        </p:nvSpPr>
        <p:spPr>
          <a:xfrm>
            <a:off x="3840480" y="3931919"/>
            <a:ext cx="1920240" cy="365760"/>
          </a:xfrm>
          <a:prstGeom prst="rect">
            <a:avLst/>
          </a:prstGeom>
          <a:noFill/>
        </p:spPr>
        <p:txBody>
          <a:bodyPr wrap="square">
            <a:spAutoFit/>
          </a:bodyPr>
          <a:lstStyle/>
          <a:p>
            <a:pPr algn="l"/>
            <a:r>
              <a:rPr sz="1300" b="1" i="0">
                <a:solidFill>
                  <a:srgbClr val="40916C"/>
                </a:solidFill>
                <a:latin typeface="Calibri"/>
              </a:rPr>
              <a:t>scikit-learn 1.9</a:t>
            </a:r>
          </a:p>
        </p:txBody>
      </p:sp>
      <p:sp>
        <p:nvSpPr>
          <p:cNvPr id="30" name="TextBox 29"/>
          <p:cNvSpPr txBox="1"/>
          <p:nvPr/>
        </p:nvSpPr>
        <p:spPr>
          <a:xfrm>
            <a:off x="3291840" y="4480559"/>
            <a:ext cx="2514600" cy="1234440"/>
          </a:xfrm>
          <a:prstGeom prst="rect">
            <a:avLst/>
          </a:prstGeom>
          <a:noFill/>
        </p:spPr>
        <p:txBody>
          <a:bodyPr wrap="square">
            <a:spAutoFit/>
          </a:bodyPr>
          <a:lstStyle/>
          <a:p>
            <a:pPr algn="l"/>
            <a:r>
              <a:rPr sz="1100" b="0" i="0">
                <a:solidFill>
                  <a:srgbClr val="1A1A2E"/>
                </a:solidFill>
                <a:latin typeface="Calibri"/>
              </a:rPr>
              <a:t>Decision Tree congestion predictor</a:t>
            </a:r>
          </a:p>
        </p:txBody>
      </p:sp>
      <p:sp>
        <p:nvSpPr>
          <p:cNvPr id="31" name="Rectangle 30"/>
          <p:cNvSpPr/>
          <p:nvPr/>
        </p:nvSpPr>
        <p:spPr>
          <a:xfrm>
            <a:off x="6126480" y="3749039"/>
            <a:ext cx="2743200" cy="21031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3886199"/>
            <a:ext cx="548640" cy="548640"/>
          </a:xfrm>
          <a:prstGeom prst="rect">
            <a:avLst/>
          </a:prstGeom>
          <a:noFill/>
        </p:spPr>
        <p:txBody>
          <a:bodyPr wrap="square">
            <a:spAutoFit/>
          </a:bodyPr>
          <a:lstStyle/>
          <a:p>
            <a:pPr algn="l"/>
            <a:r>
              <a:rPr sz="2400" b="0" i="0">
                <a:solidFill>
                  <a:srgbClr val="1B4332"/>
                </a:solidFill>
                <a:latin typeface="Calibri"/>
              </a:rPr>
              <a:t>🐼</a:t>
            </a:r>
          </a:p>
        </p:txBody>
      </p:sp>
      <p:sp>
        <p:nvSpPr>
          <p:cNvPr id="33" name="TextBox 32"/>
          <p:cNvSpPr txBox="1"/>
          <p:nvPr/>
        </p:nvSpPr>
        <p:spPr>
          <a:xfrm>
            <a:off x="6766560" y="3931919"/>
            <a:ext cx="1920240" cy="365760"/>
          </a:xfrm>
          <a:prstGeom prst="rect">
            <a:avLst/>
          </a:prstGeom>
          <a:noFill/>
        </p:spPr>
        <p:txBody>
          <a:bodyPr wrap="square">
            <a:spAutoFit/>
          </a:bodyPr>
          <a:lstStyle/>
          <a:p>
            <a:pPr algn="l"/>
            <a:r>
              <a:rPr sz="1300" b="1" i="0">
                <a:solidFill>
                  <a:srgbClr val="1B4332"/>
                </a:solidFill>
                <a:latin typeface="Calibri"/>
              </a:rPr>
              <a:t>Pandas 3.1</a:t>
            </a:r>
          </a:p>
        </p:txBody>
      </p:sp>
      <p:sp>
        <p:nvSpPr>
          <p:cNvPr id="34" name="TextBox 33"/>
          <p:cNvSpPr txBox="1"/>
          <p:nvPr/>
        </p:nvSpPr>
        <p:spPr>
          <a:xfrm>
            <a:off x="6217920" y="4480559"/>
            <a:ext cx="2514600" cy="1234440"/>
          </a:xfrm>
          <a:prstGeom prst="rect">
            <a:avLst/>
          </a:prstGeom>
          <a:noFill/>
        </p:spPr>
        <p:txBody>
          <a:bodyPr wrap="square">
            <a:spAutoFit/>
          </a:bodyPr>
          <a:lstStyle/>
          <a:p>
            <a:pPr algn="l"/>
            <a:r>
              <a:rPr sz="1100" b="0" i="0">
                <a:solidFill>
                  <a:srgbClr val="1A1A2E"/>
                </a:solidFill>
                <a:latin typeface="Calibri"/>
              </a:rPr>
              <a:t>Tabular data formatting</a:t>
            </a:r>
          </a:p>
        </p:txBody>
      </p:sp>
      <p:sp>
        <p:nvSpPr>
          <p:cNvPr id="35" name="Rectangle 34"/>
          <p:cNvSpPr/>
          <p:nvPr/>
        </p:nvSpPr>
        <p:spPr>
          <a:xfrm>
            <a:off x="9052560" y="3749039"/>
            <a:ext cx="2743200" cy="21031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0" y="3886199"/>
            <a:ext cx="548640" cy="548640"/>
          </a:xfrm>
          <a:prstGeom prst="rect">
            <a:avLst/>
          </a:prstGeom>
          <a:noFill/>
        </p:spPr>
        <p:txBody>
          <a:bodyPr wrap="square">
            <a:spAutoFit/>
          </a:bodyPr>
          <a:lstStyle/>
          <a:p>
            <a:pPr algn="l"/>
            <a:r>
              <a:rPr sz="2400" b="0" i="0">
                <a:solidFill>
                  <a:srgbClr val="2D6A4F"/>
                </a:solidFill>
                <a:latin typeface="Calibri"/>
              </a:rPr>
              <a:t>🔐</a:t>
            </a:r>
          </a:p>
        </p:txBody>
      </p:sp>
      <p:sp>
        <p:nvSpPr>
          <p:cNvPr id="37" name="TextBox 36"/>
          <p:cNvSpPr txBox="1"/>
          <p:nvPr/>
        </p:nvSpPr>
        <p:spPr>
          <a:xfrm>
            <a:off x="9692640" y="3931919"/>
            <a:ext cx="1920240" cy="365760"/>
          </a:xfrm>
          <a:prstGeom prst="rect">
            <a:avLst/>
          </a:prstGeom>
          <a:noFill/>
        </p:spPr>
        <p:txBody>
          <a:bodyPr wrap="square">
            <a:spAutoFit/>
          </a:bodyPr>
          <a:lstStyle/>
          <a:p>
            <a:pPr algn="l"/>
            <a:r>
              <a:rPr sz="1300" b="1" i="0">
                <a:solidFill>
                  <a:srgbClr val="2D6A4F"/>
                </a:solidFill>
                <a:latin typeface="Calibri"/>
              </a:rPr>
              <a:t>python-dotenv</a:t>
            </a:r>
          </a:p>
        </p:txBody>
      </p:sp>
      <p:sp>
        <p:nvSpPr>
          <p:cNvPr id="38" name="TextBox 37"/>
          <p:cNvSpPr txBox="1"/>
          <p:nvPr/>
        </p:nvSpPr>
        <p:spPr>
          <a:xfrm>
            <a:off x="9144000" y="4480559"/>
            <a:ext cx="2514600" cy="1234440"/>
          </a:xfrm>
          <a:prstGeom prst="rect">
            <a:avLst/>
          </a:prstGeom>
          <a:noFill/>
        </p:spPr>
        <p:txBody>
          <a:bodyPr wrap="square">
            <a:spAutoFit/>
          </a:bodyPr>
          <a:lstStyle/>
          <a:p>
            <a:pPr algn="l"/>
            <a:r>
              <a:rPr sz="1100" b="0" i="0">
                <a:solidFill>
                  <a:srgbClr val="1A1A2E"/>
                </a:solidFill>
                <a:latin typeface="Calibri"/>
              </a:rPr>
              <a:t>Secure .env config management</a:t>
            </a:r>
          </a:p>
        </p:txBody>
      </p:sp>
      <p:sp>
        <p:nvSpPr>
          <p:cNvPr id="39" name="TextBox 38"/>
          <p:cNvSpPr txBox="1"/>
          <p:nvPr/>
        </p:nvSpPr>
        <p:spPr>
          <a:xfrm>
            <a:off x="11731752" y="6537960"/>
            <a:ext cx="365760" cy="256032"/>
          </a:xfrm>
          <a:prstGeom prst="rect">
            <a:avLst/>
          </a:prstGeom>
          <a:noFill/>
        </p:spPr>
        <p:txBody>
          <a:bodyPr wrap="square">
            <a:spAutoFit/>
          </a:bodyPr>
          <a:lstStyle/>
          <a:p>
            <a:pPr algn="r"/>
            <a:r>
              <a:rPr sz="1000" b="0" i="0">
                <a:solidFill>
                  <a:srgbClr val="6C757D"/>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57432" cy="640080"/>
          </a:xfrm>
          <a:prstGeom prst="rect">
            <a:avLst/>
          </a:prstGeom>
          <a:noFill/>
        </p:spPr>
        <p:txBody>
          <a:bodyPr wrap="square">
            <a:spAutoFit/>
          </a:bodyPr>
          <a:lstStyle/>
          <a:p>
            <a:pPr algn="l"/>
            <a:r>
              <a:rPr sz="2600" b="1" i="0">
                <a:solidFill>
                  <a:srgbClr val="FFFFFF"/>
                </a:solidFill>
                <a:latin typeface="Calibri"/>
              </a:rPr>
              <a:t>MongoDB Database Design</a:t>
            </a:r>
          </a:p>
        </p:txBody>
      </p:sp>
      <p:sp>
        <p:nvSpPr>
          <p:cNvPr id="5" name="TextBox 4"/>
          <p:cNvSpPr txBox="1"/>
          <p:nvPr/>
        </p:nvSpPr>
        <p:spPr>
          <a:xfrm>
            <a:off x="365760" y="749808"/>
            <a:ext cx="11457432" cy="365760"/>
          </a:xfrm>
          <a:prstGeom prst="rect">
            <a:avLst/>
          </a:prstGeom>
          <a:noFill/>
        </p:spPr>
        <p:txBody>
          <a:bodyPr wrap="square">
            <a:spAutoFit/>
          </a:bodyPr>
          <a:lstStyle/>
          <a:p>
            <a:pPr algn="l"/>
            <a:r>
              <a:rPr sz="1300" b="0" i="1">
                <a:solidFill>
                  <a:srgbClr val="D8F3DC"/>
                </a:solidFill>
                <a:latin typeface="Calibri"/>
              </a:rPr>
              <a:t>chargespot_db  ·  stations collection  ·  charging_sessions collection</a:t>
            </a:r>
          </a:p>
        </p:txBody>
      </p:sp>
      <p:sp>
        <p:nvSpPr>
          <p:cNvPr id="6" name="Rectangle 5"/>
          <p:cNvSpPr/>
          <p:nvPr/>
        </p:nvSpPr>
        <p:spPr>
          <a:xfrm>
            <a:off x="0" y="1188720"/>
            <a:ext cx="12188952" cy="2540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25880"/>
            <a:ext cx="5303520" cy="50749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63040"/>
            <a:ext cx="5029200" cy="411480"/>
          </a:xfrm>
          <a:prstGeom prst="rect">
            <a:avLst/>
          </a:prstGeom>
          <a:noFill/>
        </p:spPr>
        <p:txBody>
          <a:bodyPr wrap="square">
            <a:spAutoFit/>
          </a:bodyPr>
          <a:lstStyle/>
          <a:p>
            <a:pPr algn="l"/>
            <a:r>
              <a:rPr sz="1400" b="1" i="0">
                <a:solidFill>
                  <a:srgbClr val="1B4332"/>
                </a:solidFill>
                <a:latin typeface="Calibri"/>
              </a:rPr>
              <a:t>📦  stations  (Embedded Connectors)</a:t>
            </a:r>
          </a:p>
        </p:txBody>
      </p:sp>
      <p:sp>
        <p:nvSpPr>
          <p:cNvPr id="9" name="Rectangle 8"/>
          <p:cNvSpPr/>
          <p:nvPr/>
        </p:nvSpPr>
        <p:spPr>
          <a:xfrm>
            <a:off x="411480" y="1920240"/>
            <a:ext cx="4937760" cy="3291840"/>
          </a:xfrm>
          <a:prstGeom prst="rect">
            <a:avLst/>
          </a:prstGeom>
          <a:solidFill>
            <a:srgbClr val="F1F3F5"/>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011680"/>
            <a:ext cx="4754880" cy="3108960"/>
          </a:xfrm>
          <a:prstGeom prst="rect">
            <a:avLst/>
          </a:prstGeom>
          <a:noFill/>
        </p:spPr>
        <p:txBody>
          <a:bodyPr wrap="square">
            <a:spAutoFit/>
          </a:bodyPr>
          <a:lstStyle/>
          <a:p>
            <a:r>
              <a:rPr sz="950">
                <a:solidFill>
                  <a:srgbClr val="1B4332"/>
                </a:solidFill>
                <a:latin typeface="Courier New"/>
              </a:rPr>
              <a:t>{
  "station_id": "CS001",
  "name": "Campus North Hub",
  "city": "Phagwara",
  "status": "operational",
  "charging_speed_kw": 60,
  "connectors": [
    { "connector_id": "C1",
      "connector_type": "CCS2",
      "power_kw": 60,
      "status": "available" },
    { "connector_id": "C2", ... }
  ]
}</a:t>
            </a:r>
          </a:p>
        </p:txBody>
      </p:sp>
      <p:sp>
        <p:nvSpPr>
          <p:cNvPr id="11" name="TextBox 10"/>
          <p:cNvSpPr txBox="1"/>
          <p:nvPr/>
        </p:nvSpPr>
        <p:spPr>
          <a:xfrm>
            <a:off x="411480" y="5303520"/>
            <a:ext cx="5029200" cy="548640"/>
          </a:xfrm>
          <a:prstGeom prst="rect">
            <a:avLst/>
          </a:prstGeom>
          <a:noFill/>
        </p:spPr>
        <p:txBody>
          <a:bodyPr wrap="square">
            <a:spAutoFit/>
          </a:bodyPr>
          <a:lstStyle/>
          <a:p>
            <a:pPr algn="l"/>
            <a:r>
              <a:rPr sz="1100" b="0" i="1">
                <a:solidFill>
                  <a:srgbClr val="40916C"/>
                </a:solidFill>
                <a:latin typeface="Calibri"/>
              </a:rPr>
              <a:t>✅ Connectors embedded — always fetched with the station (1:Few)</a:t>
            </a:r>
          </a:p>
        </p:txBody>
      </p:sp>
      <p:sp>
        <p:nvSpPr>
          <p:cNvPr id="12" name="Rectangle 11"/>
          <p:cNvSpPr/>
          <p:nvPr/>
        </p:nvSpPr>
        <p:spPr>
          <a:xfrm>
            <a:off x="5852160" y="1325880"/>
            <a:ext cx="6035040" cy="5074920"/>
          </a:xfrm>
          <a:prstGeom prst="rect">
            <a:avLst/>
          </a:prstGeom>
          <a:solidFill>
            <a:srgbClr val="1B4332"/>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9320" y="1463040"/>
            <a:ext cx="5760720" cy="411480"/>
          </a:xfrm>
          <a:prstGeom prst="rect">
            <a:avLst/>
          </a:prstGeom>
          <a:noFill/>
        </p:spPr>
        <p:txBody>
          <a:bodyPr wrap="square">
            <a:spAutoFit/>
          </a:bodyPr>
          <a:lstStyle/>
          <a:p>
            <a:pPr algn="l"/>
            <a:r>
              <a:rPr sz="1400" b="1" i="0">
                <a:solidFill>
                  <a:srgbClr val="E9C46A"/>
                </a:solidFill>
                <a:latin typeface="Calibri"/>
              </a:rPr>
              <a:t>🗂️  charging_sessions  (Referenced)</a:t>
            </a:r>
          </a:p>
        </p:txBody>
      </p:sp>
      <p:sp>
        <p:nvSpPr>
          <p:cNvPr id="14" name="Rectangle 13"/>
          <p:cNvSpPr/>
          <p:nvPr/>
        </p:nvSpPr>
        <p:spPr>
          <a:xfrm>
            <a:off x="5989320" y="1920240"/>
            <a:ext cx="5715000" cy="2834640"/>
          </a:xfrm>
          <a:prstGeom prst="rect">
            <a:avLst/>
          </a:prstGeom>
          <a:solidFill>
            <a:srgbClr val="102B20"/>
          </a:solidFill>
          <a:ln w="127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80760" y="2011680"/>
            <a:ext cx="5532120" cy="2697480"/>
          </a:xfrm>
          <a:prstGeom prst="rect">
            <a:avLst/>
          </a:prstGeom>
          <a:noFill/>
        </p:spPr>
        <p:txBody>
          <a:bodyPr wrap="square">
            <a:spAutoFit/>
          </a:bodyPr>
          <a:lstStyle/>
          <a:p>
            <a:r>
              <a:rPr sz="950">
                <a:solidFill>
                  <a:srgbClr val="D8F3DC"/>
                </a:solidFill>
                <a:latin typeface="Courier New"/>
              </a:rPr>
              <a:t>{
  "session_id": "SESS-1001",
  "station_id": "CS001",   ← reference
  "connector_id": "C2",
  "vehicle_id": "EV-NEXON-01",
  "started_at": ISODate(...),
  "ended_at": null,
  "energy_kwh": 12.4,
  "status": "in_progress"
}</a:t>
            </a:r>
          </a:p>
        </p:txBody>
      </p:sp>
      <p:sp>
        <p:nvSpPr>
          <p:cNvPr id="16" name="TextBox 15"/>
          <p:cNvSpPr txBox="1"/>
          <p:nvPr/>
        </p:nvSpPr>
        <p:spPr>
          <a:xfrm>
            <a:off x="5989320" y="4828032"/>
            <a:ext cx="5760720" cy="1463040"/>
          </a:xfrm>
          <a:prstGeom prst="rect">
            <a:avLst/>
          </a:prstGeom>
          <a:noFill/>
        </p:spPr>
        <p:txBody>
          <a:bodyPr wrap="square">
            <a:spAutoFit/>
          </a:bodyPr>
          <a:lstStyle/>
          <a:p>
            <a:pPr>
              <a:spcBef>
                <a:spcPts val="300"/>
              </a:spcBef>
            </a:pPr>
            <a:r>
              <a:rPr sz="1150" b="0">
                <a:solidFill>
                  <a:srgbClr val="D8F3DC"/>
                </a:solidFill>
                <a:latin typeface="Calibri"/>
              </a:rPr>
              <a:t>→  Sessions grow without bound over time</a:t>
            </a:r>
          </a:p>
          <a:p>
            <a:pPr>
              <a:spcBef>
                <a:spcPts val="300"/>
              </a:spcBef>
            </a:pPr>
            <a:r>
              <a:rPr sz="1150" b="0">
                <a:solidFill>
                  <a:srgbClr val="D8F3DC"/>
                </a:solidFill>
                <a:latin typeface="Calibri"/>
              </a:rPr>
              <a:t>→  Embedding would breach MongoDB 16 MB doc limit</a:t>
            </a:r>
          </a:p>
          <a:p>
            <a:pPr>
              <a:spcBef>
                <a:spcPts val="300"/>
              </a:spcBef>
            </a:pPr>
            <a:r>
              <a:rPr sz="1150" b="0">
                <a:solidFill>
                  <a:srgbClr val="D8F3DC"/>
                </a:solidFill>
                <a:latin typeface="Calibri"/>
              </a:rPr>
              <a:t>→  Separate collection → independent indexes + $group</a:t>
            </a:r>
          </a:p>
          <a:p>
            <a:pPr>
              <a:spcBef>
                <a:spcPts val="300"/>
              </a:spcBef>
            </a:pPr>
            <a:r>
              <a:rPr sz="1150" b="0">
                <a:solidFill>
                  <a:srgbClr val="D8F3DC"/>
                </a:solidFill>
                <a:latin typeface="Calibri"/>
              </a:rPr>
              <a:t>→  $lookup joins sessions ↔ stations in aggregations</a:t>
            </a:r>
          </a:p>
        </p:txBody>
      </p:sp>
      <p:sp>
        <p:nvSpPr>
          <p:cNvPr id="17" name="TextBox 16"/>
          <p:cNvSpPr txBox="1"/>
          <p:nvPr/>
        </p:nvSpPr>
        <p:spPr>
          <a:xfrm>
            <a:off x="11731752" y="6537960"/>
            <a:ext cx="365760" cy="256032"/>
          </a:xfrm>
          <a:prstGeom prst="rect">
            <a:avLst/>
          </a:prstGeom>
          <a:noFill/>
        </p:spPr>
        <p:txBody>
          <a:bodyPr wrap="square">
            <a:spAutoFit/>
          </a:bodyPr>
          <a:lstStyle/>
          <a:p>
            <a:pPr algn="r"/>
            <a:r>
              <a:rPr sz="1000" b="0" i="0">
                <a:solidFill>
                  <a:srgbClr val="6C757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57432" cy="640080"/>
          </a:xfrm>
          <a:prstGeom prst="rect">
            <a:avLst/>
          </a:prstGeom>
          <a:noFill/>
        </p:spPr>
        <p:txBody>
          <a:bodyPr wrap="square">
            <a:spAutoFit/>
          </a:bodyPr>
          <a:lstStyle/>
          <a:p>
            <a:pPr algn="l"/>
            <a:r>
              <a:rPr sz="2600" b="1" i="0">
                <a:solidFill>
                  <a:srgbClr val="FFFFFF"/>
                </a:solidFill>
                <a:latin typeface="Calibri"/>
              </a:rPr>
              <a:t>Application Modules &amp; Interface</a:t>
            </a:r>
          </a:p>
        </p:txBody>
      </p:sp>
      <p:sp>
        <p:nvSpPr>
          <p:cNvPr id="5" name="TextBox 4"/>
          <p:cNvSpPr txBox="1"/>
          <p:nvPr/>
        </p:nvSpPr>
        <p:spPr>
          <a:xfrm>
            <a:off x="365760" y="749808"/>
            <a:ext cx="11457432" cy="365760"/>
          </a:xfrm>
          <a:prstGeom prst="rect">
            <a:avLst/>
          </a:prstGeom>
          <a:noFill/>
        </p:spPr>
        <p:txBody>
          <a:bodyPr wrap="square">
            <a:spAutoFit/>
          </a:bodyPr>
          <a:lstStyle/>
          <a:p>
            <a:pPr algn="l"/>
            <a:r>
              <a:rPr sz="1300" b="0" i="1">
                <a:solidFill>
                  <a:srgbClr val="D8F3DC"/>
                </a:solidFill>
                <a:latin typeface="Calibri"/>
              </a:rPr>
              <a:t>Five pages — Home · Find · Manage · Sessions · Insights</a:t>
            </a:r>
          </a:p>
        </p:txBody>
      </p:sp>
      <p:sp>
        <p:nvSpPr>
          <p:cNvPr id="6" name="Rectangle 5"/>
          <p:cNvSpPr/>
          <p:nvPr/>
        </p:nvSpPr>
        <p:spPr>
          <a:xfrm>
            <a:off x="0" y="1188720"/>
            <a:ext cx="12188952" cy="2540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280160"/>
            <a:ext cx="2194560" cy="868680"/>
          </a:xfrm>
          <a:prstGeom prst="rect">
            <a:avLst/>
          </a:prstGeom>
          <a:solidFill>
            <a:srgbClr val="1B4332"/>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325880"/>
            <a:ext cx="2011680" cy="365760"/>
          </a:xfrm>
          <a:prstGeom prst="rect">
            <a:avLst/>
          </a:prstGeom>
          <a:noFill/>
        </p:spPr>
        <p:txBody>
          <a:bodyPr wrap="square">
            <a:spAutoFit/>
          </a:bodyPr>
          <a:lstStyle/>
          <a:p>
            <a:pPr algn="ctr"/>
            <a:r>
              <a:rPr sz="1200" b="1" i="0">
                <a:solidFill>
                  <a:srgbClr val="FFFFFF"/>
                </a:solidFill>
                <a:latin typeface="Calibri"/>
              </a:rPr>
              <a:t>🏠 Home</a:t>
            </a:r>
          </a:p>
        </p:txBody>
      </p:sp>
      <p:sp>
        <p:nvSpPr>
          <p:cNvPr id="9" name="TextBox 8"/>
          <p:cNvSpPr txBox="1"/>
          <p:nvPr/>
        </p:nvSpPr>
        <p:spPr>
          <a:xfrm>
            <a:off x="320040" y="1664208"/>
            <a:ext cx="2011680" cy="438912"/>
          </a:xfrm>
          <a:prstGeom prst="rect">
            <a:avLst/>
          </a:prstGeom>
          <a:noFill/>
        </p:spPr>
        <p:txBody>
          <a:bodyPr wrap="square">
            <a:spAutoFit/>
          </a:bodyPr>
          <a:lstStyle/>
          <a:p>
            <a:pPr algn="ctr"/>
            <a:r>
              <a:rPr sz="950" b="0" i="0">
                <a:solidFill>
                  <a:srgbClr val="FFFFFF"/>
                </a:solidFill>
                <a:latin typeface="Calibri"/>
              </a:rPr>
              <a:t>KPI dashboard
&amp; live status</a:t>
            </a:r>
          </a:p>
        </p:txBody>
      </p:sp>
      <p:sp>
        <p:nvSpPr>
          <p:cNvPr id="10" name="Rectangle 9"/>
          <p:cNvSpPr/>
          <p:nvPr/>
        </p:nvSpPr>
        <p:spPr>
          <a:xfrm>
            <a:off x="2606040" y="1280160"/>
            <a:ext cx="2194560" cy="868680"/>
          </a:xfrm>
          <a:prstGeom prst="rect">
            <a:avLst/>
          </a:prstGeom>
          <a:solidFill>
            <a:srgbClr val="D8F3DC"/>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1325880"/>
            <a:ext cx="2011680" cy="365760"/>
          </a:xfrm>
          <a:prstGeom prst="rect">
            <a:avLst/>
          </a:prstGeom>
          <a:noFill/>
        </p:spPr>
        <p:txBody>
          <a:bodyPr wrap="square">
            <a:spAutoFit/>
          </a:bodyPr>
          <a:lstStyle/>
          <a:p>
            <a:pPr algn="ctr"/>
            <a:r>
              <a:rPr sz="1200" b="1" i="0">
                <a:solidFill>
                  <a:srgbClr val="1B4332"/>
                </a:solidFill>
                <a:latin typeface="Calibri"/>
              </a:rPr>
              <a:t>🔍 Find</a:t>
            </a:r>
          </a:p>
        </p:txBody>
      </p:sp>
      <p:sp>
        <p:nvSpPr>
          <p:cNvPr id="12" name="TextBox 11"/>
          <p:cNvSpPr txBox="1"/>
          <p:nvPr/>
        </p:nvSpPr>
        <p:spPr>
          <a:xfrm>
            <a:off x="2697480" y="1664208"/>
            <a:ext cx="2011680" cy="438912"/>
          </a:xfrm>
          <a:prstGeom prst="rect">
            <a:avLst/>
          </a:prstGeom>
          <a:noFill/>
        </p:spPr>
        <p:txBody>
          <a:bodyPr wrap="square">
            <a:spAutoFit/>
          </a:bodyPr>
          <a:lstStyle/>
          <a:p>
            <a:pPr algn="ctr"/>
            <a:r>
              <a:rPr sz="950" b="0" i="0">
                <a:solidFill>
                  <a:srgbClr val="1B4332"/>
                </a:solidFill>
                <a:latin typeface="Calibri"/>
              </a:rPr>
              <a:t>Search &amp;
filter stations</a:t>
            </a:r>
          </a:p>
        </p:txBody>
      </p:sp>
      <p:sp>
        <p:nvSpPr>
          <p:cNvPr id="13" name="Rectangle 12"/>
          <p:cNvSpPr/>
          <p:nvPr/>
        </p:nvSpPr>
        <p:spPr>
          <a:xfrm>
            <a:off x="4983480" y="1280160"/>
            <a:ext cx="2194560" cy="868680"/>
          </a:xfrm>
          <a:prstGeom prst="rect">
            <a:avLst/>
          </a:prstGeom>
          <a:solidFill>
            <a:srgbClr val="D8F3DC"/>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74920" y="1325880"/>
            <a:ext cx="2011680" cy="365760"/>
          </a:xfrm>
          <a:prstGeom prst="rect">
            <a:avLst/>
          </a:prstGeom>
          <a:noFill/>
        </p:spPr>
        <p:txBody>
          <a:bodyPr wrap="square">
            <a:spAutoFit/>
          </a:bodyPr>
          <a:lstStyle/>
          <a:p>
            <a:pPr algn="ctr"/>
            <a:r>
              <a:rPr sz="1200" b="1" i="0">
                <a:solidFill>
                  <a:srgbClr val="1B4332"/>
                </a:solidFill>
                <a:latin typeface="Calibri"/>
              </a:rPr>
              <a:t>⚙️ Manage</a:t>
            </a:r>
          </a:p>
        </p:txBody>
      </p:sp>
      <p:sp>
        <p:nvSpPr>
          <p:cNvPr id="15" name="TextBox 14"/>
          <p:cNvSpPr txBox="1"/>
          <p:nvPr/>
        </p:nvSpPr>
        <p:spPr>
          <a:xfrm>
            <a:off x="5074920" y="1664208"/>
            <a:ext cx="2011680" cy="438912"/>
          </a:xfrm>
          <a:prstGeom prst="rect">
            <a:avLst/>
          </a:prstGeom>
          <a:noFill/>
        </p:spPr>
        <p:txBody>
          <a:bodyPr wrap="square">
            <a:spAutoFit/>
          </a:bodyPr>
          <a:lstStyle/>
          <a:p>
            <a:pPr algn="ctr"/>
            <a:r>
              <a:rPr sz="950" b="0" i="0">
                <a:solidFill>
                  <a:srgbClr val="1B4332"/>
                </a:solidFill>
                <a:latin typeface="Calibri"/>
              </a:rPr>
              <a:t>Full CRUD
operations</a:t>
            </a:r>
          </a:p>
        </p:txBody>
      </p:sp>
      <p:sp>
        <p:nvSpPr>
          <p:cNvPr id="16" name="Rectangle 15"/>
          <p:cNvSpPr/>
          <p:nvPr/>
        </p:nvSpPr>
        <p:spPr>
          <a:xfrm>
            <a:off x="7360920" y="1280160"/>
            <a:ext cx="2194560" cy="868680"/>
          </a:xfrm>
          <a:prstGeom prst="rect">
            <a:avLst/>
          </a:prstGeom>
          <a:solidFill>
            <a:srgbClr val="D8F3DC"/>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1325880"/>
            <a:ext cx="2011680" cy="365760"/>
          </a:xfrm>
          <a:prstGeom prst="rect">
            <a:avLst/>
          </a:prstGeom>
          <a:noFill/>
        </p:spPr>
        <p:txBody>
          <a:bodyPr wrap="square">
            <a:spAutoFit/>
          </a:bodyPr>
          <a:lstStyle/>
          <a:p>
            <a:pPr algn="ctr"/>
            <a:r>
              <a:rPr sz="1200" b="1" i="0">
                <a:solidFill>
                  <a:srgbClr val="1B4332"/>
                </a:solidFill>
                <a:latin typeface="Calibri"/>
              </a:rPr>
              <a:t>⚡ Sessions</a:t>
            </a:r>
          </a:p>
        </p:txBody>
      </p:sp>
      <p:sp>
        <p:nvSpPr>
          <p:cNvPr id="18" name="TextBox 17"/>
          <p:cNvSpPr txBox="1"/>
          <p:nvPr/>
        </p:nvSpPr>
        <p:spPr>
          <a:xfrm>
            <a:off x="7452360" y="1664208"/>
            <a:ext cx="2011680" cy="438912"/>
          </a:xfrm>
          <a:prstGeom prst="rect">
            <a:avLst/>
          </a:prstGeom>
          <a:noFill/>
        </p:spPr>
        <p:txBody>
          <a:bodyPr wrap="square">
            <a:spAutoFit/>
          </a:bodyPr>
          <a:lstStyle/>
          <a:p>
            <a:pPr algn="ctr"/>
            <a:r>
              <a:rPr sz="950" b="0" i="0">
                <a:solidFill>
                  <a:srgbClr val="1B4332"/>
                </a:solidFill>
                <a:latin typeface="Calibri"/>
              </a:rPr>
              <a:t>Lifecycle
management</a:t>
            </a:r>
          </a:p>
        </p:txBody>
      </p:sp>
      <p:sp>
        <p:nvSpPr>
          <p:cNvPr id="19" name="Rectangle 18"/>
          <p:cNvSpPr/>
          <p:nvPr/>
        </p:nvSpPr>
        <p:spPr>
          <a:xfrm>
            <a:off x="9738360" y="1280160"/>
            <a:ext cx="2194560" cy="868680"/>
          </a:xfrm>
          <a:prstGeom prst="rect">
            <a:avLst/>
          </a:prstGeom>
          <a:solidFill>
            <a:srgbClr val="D8F3DC"/>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9800" y="1325880"/>
            <a:ext cx="2011680" cy="365760"/>
          </a:xfrm>
          <a:prstGeom prst="rect">
            <a:avLst/>
          </a:prstGeom>
          <a:noFill/>
        </p:spPr>
        <p:txBody>
          <a:bodyPr wrap="square">
            <a:spAutoFit/>
          </a:bodyPr>
          <a:lstStyle/>
          <a:p>
            <a:pPr algn="ctr"/>
            <a:r>
              <a:rPr sz="1200" b="1" i="0">
                <a:solidFill>
                  <a:srgbClr val="1B4332"/>
                </a:solidFill>
                <a:latin typeface="Calibri"/>
              </a:rPr>
              <a:t>📊 Insights</a:t>
            </a:r>
          </a:p>
        </p:txBody>
      </p:sp>
      <p:sp>
        <p:nvSpPr>
          <p:cNvPr id="21" name="TextBox 20"/>
          <p:cNvSpPr txBox="1"/>
          <p:nvPr/>
        </p:nvSpPr>
        <p:spPr>
          <a:xfrm>
            <a:off x="9829800" y="1664208"/>
            <a:ext cx="2011680" cy="438912"/>
          </a:xfrm>
          <a:prstGeom prst="rect">
            <a:avLst/>
          </a:prstGeom>
          <a:noFill/>
        </p:spPr>
        <p:txBody>
          <a:bodyPr wrap="square">
            <a:spAutoFit/>
          </a:bodyPr>
          <a:lstStyle/>
          <a:p>
            <a:pPr algn="ctr"/>
            <a:r>
              <a:rPr sz="950" b="0" i="0">
                <a:solidFill>
                  <a:srgbClr val="1B4332"/>
                </a:solidFill>
                <a:latin typeface="Calibri"/>
              </a:rPr>
              <a:t>Aggregations
&amp; ML</a:t>
            </a:r>
          </a:p>
        </p:txBody>
      </p:sp>
      <p:pic>
        <p:nvPicPr>
          <p:cNvPr id="22" name="Picture 21" descr="01_home_dashboard.png"/>
          <p:cNvPicPr>
            <a:picLocks noChangeAspect="1"/>
          </p:cNvPicPr>
          <p:nvPr/>
        </p:nvPicPr>
        <p:blipFill>
          <a:blip r:embed="rId2"/>
          <a:stretch>
            <a:fillRect/>
          </a:stretch>
        </p:blipFill>
        <p:spPr>
          <a:xfrm>
            <a:off x="228600" y="2286000"/>
            <a:ext cx="5669280" cy="4114800"/>
          </a:xfrm>
          <a:prstGeom prst="rect">
            <a:avLst/>
          </a:prstGeom>
        </p:spPr>
      </p:pic>
      <p:sp>
        <p:nvSpPr>
          <p:cNvPr id="23" name="TextBox 22"/>
          <p:cNvSpPr txBox="1"/>
          <p:nvPr/>
        </p:nvSpPr>
        <p:spPr>
          <a:xfrm>
            <a:off x="228600" y="6400800"/>
            <a:ext cx="5669280" cy="320040"/>
          </a:xfrm>
          <a:prstGeom prst="rect">
            <a:avLst/>
          </a:prstGeom>
          <a:noFill/>
        </p:spPr>
        <p:txBody>
          <a:bodyPr wrap="square">
            <a:spAutoFit/>
          </a:bodyPr>
          <a:lstStyle/>
          <a:p>
            <a:pPr algn="ctr"/>
            <a:r>
              <a:rPr sz="900" b="0" i="1">
                <a:solidFill>
                  <a:srgbClr val="6C757D"/>
                </a:solidFill>
                <a:latin typeface="Calibri"/>
              </a:rPr>
              <a:t>Home Dashboard — KPI cards, live donut chart, recent sessions</a:t>
            </a:r>
          </a:p>
        </p:txBody>
      </p:sp>
      <p:pic>
        <p:nvPicPr>
          <p:cNvPr id="24" name="Picture 23" descr="02_find_station.png"/>
          <p:cNvPicPr>
            <a:picLocks noChangeAspect="1"/>
          </p:cNvPicPr>
          <p:nvPr/>
        </p:nvPicPr>
        <p:blipFill>
          <a:blip r:embed="rId3"/>
          <a:stretch>
            <a:fillRect/>
          </a:stretch>
        </p:blipFill>
        <p:spPr>
          <a:xfrm>
            <a:off x="6080760" y="2286000"/>
            <a:ext cx="5852160" cy="1920240"/>
          </a:xfrm>
          <a:prstGeom prst="rect">
            <a:avLst/>
          </a:prstGeom>
        </p:spPr>
      </p:pic>
      <p:sp>
        <p:nvSpPr>
          <p:cNvPr id="25" name="TextBox 24"/>
          <p:cNvSpPr txBox="1"/>
          <p:nvPr/>
        </p:nvSpPr>
        <p:spPr>
          <a:xfrm>
            <a:off x="6080760" y="4206240"/>
            <a:ext cx="5852160" cy="320040"/>
          </a:xfrm>
          <a:prstGeom prst="rect">
            <a:avLst/>
          </a:prstGeom>
          <a:noFill/>
        </p:spPr>
        <p:txBody>
          <a:bodyPr wrap="square">
            <a:spAutoFit/>
          </a:bodyPr>
          <a:lstStyle/>
          <a:p>
            <a:pPr algn="ctr"/>
            <a:r>
              <a:rPr sz="900" b="0" i="1">
                <a:solidFill>
                  <a:srgbClr val="6C757D"/>
                </a:solidFill>
                <a:latin typeface="Calibri"/>
              </a:rPr>
              <a:t>Find a Station — search, city/status/speed filters, connector badges</a:t>
            </a:r>
          </a:p>
        </p:txBody>
      </p:sp>
      <p:pic>
        <p:nvPicPr>
          <p:cNvPr id="26" name="Picture 25" descr="04_charging_sessions.png"/>
          <p:cNvPicPr>
            <a:picLocks noChangeAspect="1"/>
          </p:cNvPicPr>
          <p:nvPr/>
        </p:nvPicPr>
        <p:blipFill>
          <a:blip r:embed="rId4"/>
          <a:stretch>
            <a:fillRect/>
          </a:stretch>
        </p:blipFill>
        <p:spPr>
          <a:xfrm>
            <a:off x="6080760" y="4663440"/>
            <a:ext cx="5852160" cy="1920240"/>
          </a:xfrm>
          <a:prstGeom prst="rect">
            <a:avLst/>
          </a:prstGeom>
        </p:spPr>
      </p:pic>
      <p:sp>
        <p:nvSpPr>
          <p:cNvPr id="27" name="TextBox 26"/>
          <p:cNvSpPr txBox="1"/>
          <p:nvPr/>
        </p:nvSpPr>
        <p:spPr>
          <a:xfrm>
            <a:off x="6080760" y="6583680"/>
            <a:ext cx="5852160" cy="320040"/>
          </a:xfrm>
          <a:prstGeom prst="rect">
            <a:avLst/>
          </a:prstGeom>
          <a:noFill/>
        </p:spPr>
        <p:txBody>
          <a:bodyPr wrap="square">
            <a:spAutoFit/>
          </a:bodyPr>
          <a:lstStyle/>
          <a:p>
            <a:pPr algn="ctr"/>
            <a:r>
              <a:rPr sz="900" b="0" i="1">
                <a:solidFill>
                  <a:srgbClr val="6C757D"/>
                </a:solidFill>
                <a:latin typeface="Calibri"/>
              </a:rPr>
              <a:t>Charging Sessions — start, complete, cancel with connector sync</a:t>
            </a:r>
          </a:p>
        </p:txBody>
      </p:sp>
      <p:sp>
        <p:nvSpPr>
          <p:cNvPr id="28" name="TextBox 27"/>
          <p:cNvSpPr txBox="1"/>
          <p:nvPr/>
        </p:nvSpPr>
        <p:spPr>
          <a:xfrm>
            <a:off x="11731752" y="6537960"/>
            <a:ext cx="365760" cy="256032"/>
          </a:xfrm>
          <a:prstGeom prst="rect">
            <a:avLst/>
          </a:prstGeom>
          <a:noFill/>
        </p:spPr>
        <p:txBody>
          <a:bodyPr wrap="square">
            <a:spAutoFit/>
          </a:bodyPr>
          <a:lstStyle/>
          <a:p>
            <a:pPr algn="r"/>
            <a:r>
              <a:rPr sz="1000" b="0" i="0">
                <a:solidFill>
                  <a:srgbClr val="6C757D"/>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57432" cy="640080"/>
          </a:xfrm>
          <a:prstGeom prst="rect">
            <a:avLst/>
          </a:prstGeom>
          <a:noFill/>
        </p:spPr>
        <p:txBody>
          <a:bodyPr wrap="square">
            <a:spAutoFit/>
          </a:bodyPr>
          <a:lstStyle/>
          <a:p>
            <a:pPr algn="l"/>
            <a:r>
              <a:rPr sz="2600" b="1" i="0">
                <a:solidFill>
                  <a:srgbClr val="FFFFFF"/>
                </a:solidFill>
                <a:latin typeface="Calibri"/>
              </a:rPr>
              <a:t>CRUD · Validation · Indexing · Aggregation Pipelines</a:t>
            </a:r>
          </a:p>
        </p:txBody>
      </p:sp>
      <p:sp>
        <p:nvSpPr>
          <p:cNvPr id="5" name="TextBox 4"/>
          <p:cNvSpPr txBox="1"/>
          <p:nvPr/>
        </p:nvSpPr>
        <p:spPr>
          <a:xfrm>
            <a:off x="365760" y="749808"/>
            <a:ext cx="11457432" cy="365760"/>
          </a:xfrm>
          <a:prstGeom prst="rect">
            <a:avLst/>
          </a:prstGeom>
          <a:noFill/>
        </p:spPr>
        <p:txBody>
          <a:bodyPr wrap="square">
            <a:spAutoFit/>
          </a:bodyPr>
          <a:lstStyle/>
          <a:p>
            <a:pPr algn="l"/>
            <a:r>
              <a:rPr sz="1300" b="0" i="1">
                <a:solidFill>
                  <a:srgbClr val="D8F3DC"/>
                </a:solidFill>
                <a:latin typeface="Calibri"/>
              </a:rPr>
              <a:t>All four database operations + five analytics pipelines verified</a:t>
            </a:r>
          </a:p>
        </p:txBody>
      </p:sp>
      <p:sp>
        <p:nvSpPr>
          <p:cNvPr id="6" name="Rectangle 5"/>
          <p:cNvSpPr/>
          <p:nvPr/>
        </p:nvSpPr>
        <p:spPr>
          <a:xfrm>
            <a:off x="0" y="1188720"/>
            <a:ext cx="12188952" cy="2540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25880"/>
            <a:ext cx="5486400" cy="50749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17320"/>
            <a:ext cx="5212080" cy="365760"/>
          </a:xfrm>
          <a:prstGeom prst="rect">
            <a:avLst/>
          </a:prstGeom>
          <a:noFill/>
        </p:spPr>
        <p:txBody>
          <a:bodyPr wrap="square">
            <a:spAutoFit/>
          </a:bodyPr>
          <a:lstStyle/>
          <a:p>
            <a:pPr algn="l"/>
            <a:r>
              <a:rPr sz="1400" b="1" i="0">
                <a:solidFill>
                  <a:srgbClr val="1B4332"/>
                </a:solidFill>
                <a:latin typeface="Calibri"/>
              </a:rPr>
              <a:t>🛠️  CRUD &amp; Validation</a:t>
            </a:r>
          </a:p>
        </p:txBody>
      </p:sp>
      <p:sp>
        <p:nvSpPr>
          <p:cNvPr id="9" name="TextBox 8"/>
          <p:cNvSpPr txBox="1"/>
          <p:nvPr/>
        </p:nvSpPr>
        <p:spPr>
          <a:xfrm>
            <a:off x="411480" y="1828800"/>
            <a:ext cx="5212080" cy="4297680"/>
          </a:xfrm>
          <a:prstGeom prst="rect">
            <a:avLst/>
          </a:prstGeom>
          <a:noFill/>
        </p:spPr>
        <p:txBody>
          <a:bodyPr wrap="square">
            <a:spAutoFit/>
          </a:bodyPr>
          <a:lstStyle/>
          <a:p>
            <a:pPr>
              <a:spcBef>
                <a:spcPts val="300"/>
              </a:spcBef>
            </a:pPr>
            <a:r>
              <a:rPr sz="1150" b="0">
                <a:solidFill>
                  <a:srgbClr val="1A1A2E"/>
                </a:solidFill>
                <a:latin typeface="Calibri"/>
              </a:rPr>
              <a:t>›  CREATE  insert_one() — add station + $jsonSchema check</a:t>
            </a:r>
          </a:p>
          <a:p>
            <a:pPr>
              <a:spcBef>
                <a:spcPts val="300"/>
              </a:spcBef>
            </a:pPr>
            <a:r>
              <a:rPr sz="1150" b="0">
                <a:solidFill>
                  <a:srgbClr val="1A1A2E"/>
                </a:solidFill>
                <a:latin typeface="Calibri"/>
              </a:rPr>
              <a:t>›  READ    find() / find_one() — compound regex query</a:t>
            </a:r>
          </a:p>
          <a:p>
            <a:pPr>
              <a:spcBef>
                <a:spcPts val="300"/>
              </a:spcBef>
            </a:pPr>
            <a:r>
              <a:rPr sz="1150" b="0">
                <a:solidFill>
                  <a:srgbClr val="1A1A2E"/>
                </a:solidFill>
                <a:latin typeface="Calibri"/>
              </a:rPr>
              <a:t>›  UPDATE  update_one($set) — metadata + connectors.$.status</a:t>
            </a:r>
          </a:p>
          <a:p>
            <a:pPr>
              <a:spcBef>
                <a:spcPts val="300"/>
              </a:spcBef>
            </a:pPr>
            <a:r>
              <a:rPr sz="1150" b="0">
                <a:solidFill>
                  <a:srgbClr val="1A1A2E"/>
                </a:solidFill>
                <a:latin typeface="Calibri"/>
              </a:rPr>
              <a:t>›  DELETE  delete_one() — blocked if active sessions exist</a:t>
            </a:r>
          </a:p>
          <a:p>
            <a:pPr>
              <a:spcBef>
                <a:spcPts val="300"/>
              </a:spcBef>
            </a:pPr>
            <a:r>
              <a:rPr sz="1150" b="0">
                <a:solidFill>
                  <a:srgbClr val="1A1A2E"/>
                </a:solidFill>
                <a:latin typeface="Calibri"/>
              </a:rPr>
              <a:t>›  $jsonSchema rejects: negative speed, bad enum, empty connectors</a:t>
            </a:r>
          </a:p>
          <a:p>
            <a:pPr>
              <a:spcBef>
                <a:spcPts val="300"/>
              </a:spcBef>
            </a:pPr>
            <a:r>
              <a:rPr sz="1150" b="0">
                <a:solidFill>
                  <a:srgbClr val="1A1A2E"/>
                </a:solidFill>
                <a:latin typeface="Calibri"/>
              </a:rPr>
              <a:t>›  IXSCAN confirmed via explain() — O(log N) vs O(N) COLLSCAN</a:t>
            </a:r>
          </a:p>
        </p:txBody>
      </p:sp>
      <p:sp>
        <p:nvSpPr>
          <p:cNvPr id="10" name="Rectangle 9"/>
          <p:cNvSpPr/>
          <p:nvPr/>
        </p:nvSpPr>
        <p:spPr>
          <a:xfrm>
            <a:off x="5943600" y="1325880"/>
            <a:ext cx="5943600" cy="5074920"/>
          </a:xfrm>
          <a:prstGeom prst="rect">
            <a:avLst/>
          </a:prstGeom>
          <a:solidFill>
            <a:srgbClr val="1B4332"/>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417320"/>
            <a:ext cx="5669280" cy="365760"/>
          </a:xfrm>
          <a:prstGeom prst="rect">
            <a:avLst/>
          </a:prstGeom>
          <a:noFill/>
        </p:spPr>
        <p:txBody>
          <a:bodyPr wrap="square">
            <a:spAutoFit/>
          </a:bodyPr>
          <a:lstStyle/>
          <a:p>
            <a:pPr algn="l"/>
            <a:r>
              <a:rPr sz="1400" b="1" i="0">
                <a:solidFill>
                  <a:srgbClr val="E9C46A"/>
                </a:solidFill>
                <a:latin typeface="Calibri"/>
              </a:rPr>
              <a:t>📈  5 Aggregation Pipelines</a:t>
            </a:r>
          </a:p>
        </p:txBody>
      </p:sp>
      <p:sp>
        <p:nvSpPr>
          <p:cNvPr id="12" name="TextBox 11"/>
          <p:cNvSpPr txBox="1"/>
          <p:nvPr/>
        </p:nvSpPr>
        <p:spPr>
          <a:xfrm>
            <a:off x="6080760" y="1828800"/>
            <a:ext cx="5669280" cy="2926080"/>
          </a:xfrm>
          <a:prstGeom prst="rect">
            <a:avLst/>
          </a:prstGeom>
          <a:noFill/>
        </p:spPr>
        <p:txBody>
          <a:bodyPr wrap="square">
            <a:spAutoFit/>
          </a:bodyPr>
          <a:lstStyle/>
          <a:p>
            <a:pPr>
              <a:spcBef>
                <a:spcPts val="300"/>
              </a:spcBef>
            </a:pPr>
            <a:r>
              <a:rPr sz="1150" b="0">
                <a:solidFill>
                  <a:srgbClr val="D8F3DC"/>
                </a:solidFill>
                <a:latin typeface="Calibri"/>
              </a:rPr>
              <a:t>  ① Connector status count  ($unwind → $group)</a:t>
            </a:r>
          </a:p>
          <a:p>
            <a:pPr>
              <a:spcBef>
                <a:spcPts val="300"/>
              </a:spcBef>
            </a:pPr>
            <a:r>
              <a:rPr sz="1150" b="0">
                <a:solidFill>
                  <a:srgbClr val="D8F3DC"/>
                </a:solidFill>
                <a:latin typeface="Calibri"/>
              </a:rPr>
              <a:t>  ② Energy by station  ($match → $group → $lookup → $project → $sort)</a:t>
            </a:r>
          </a:p>
          <a:p>
            <a:pPr>
              <a:spcBef>
                <a:spcPts val="300"/>
              </a:spcBef>
            </a:pPr>
            <a:r>
              <a:rPr sz="1150" b="0">
                <a:solidFill>
                  <a:srgbClr val="D8F3DC"/>
                </a:solidFill>
                <a:latin typeface="Calibri"/>
              </a:rPr>
              <a:t>  ③ Most-used stations  ($group → $lookup → $sort → $limit)</a:t>
            </a:r>
          </a:p>
          <a:p>
            <a:pPr>
              <a:spcBef>
                <a:spcPts val="300"/>
              </a:spcBef>
            </a:pPr>
            <a:r>
              <a:rPr sz="1150" b="0">
                <a:solidFill>
                  <a:srgbClr val="D8F3DC"/>
                </a:solidFill>
                <a:latin typeface="Calibri"/>
              </a:rPr>
              <a:t>  ④ Session status breakdown  ($group → $project)</a:t>
            </a:r>
          </a:p>
          <a:p>
            <a:pPr>
              <a:spcBef>
                <a:spcPts val="300"/>
              </a:spcBef>
            </a:pPr>
            <a:r>
              <a:rPr sz="1150" b="0">
                <a:solidFill>
                  <a:srgbClr val="D8F3DC"/>
                </a:solidFill>
                <a:latin typeface="Calibri"/>
              </a:rPr>
              <a:t>  ⑤ Connector standard pricing  ($unwind → $group → $sort)</a:t>
            </a:r>
          </a:p>
        </p:txBody>
      </p:sp>
      <p:sp>
        <p:nvSpPr>
          <p:cNvPr id="13" name="Rectangle 12"/>
          <p:cNvSpPr/>
          <p:nvPr/>
        </p:nvSpPr>
        <p:spPr>
          <a:xfrm>
            <a:off x="5943600" y="4800600"/>
            <a:ext cx="5943600" cy="1508760"/>
          </a:xfrm>
          <a:prstGeom prst="rect">
            <a:avLst/>
          </a:prstGeom>
          <a:solidFill>
            <a:srgbClr val="102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4846320"/>
            <a:ext cx="5669280" cy="1417320"/>
          </a:xfrm>
          <a:prstGeom prst="rect">
            <a:avLst/>
          </a:prstGeom>
          <a:noFill/>
        </p:spPr>
        <p:txBody>
          <a:bodyPr wrap="square">
            <a:spAutoFit/>
          </a:bodyPr>
          <a:lstStyle/>
          <a:p>
            <a:r>
              <a:rPr sz="950">
                <a:solidFill>
                  <a:srgbClr val="98F5A0"/>
                </a:solidFill>
                <a:latin typeface="Courier New"/>
              </a:rPr>
              <a:t>VERIFIED OUTPUT:
  available: 20  ·  occupied: 6  ·  out_of_service: 7
  Top station: CS004  —  247.97 kWh  ·  9 sessions
  CCS2: 18 connectors  ·  Avg Rs. 17.08 / kWh</a:t>
            </a:r>
          </a:p>
        </p:txBody>
      </p:sp>
      <p:sp>
        <p:nvSpPr>
          <p:cNvPr id="15" name="TextBox 14"/>
          <p:cNvSpPr txBox="1"/>
          <p:nvPr/>
        </p:nvSpPr>
        <p:spPr>
          <a:xfrm>
            <a:off x="11731752" y="6537960"/>
            <a:ext cx="365760" cy="256032"/>
          </a:xfrm>
          <a:prstGeom prst="rect">
            <a:avLst/>
          </a:prstGeom>
          <a:noFill/>
        </p:spPr>
        <p:txBody>
          <a:bodyPr wrap="square">
            <a:spAutoFit/>
          </a:bodyPr>
          <a:lstStyle/>
          <a:p>
            <a:pPr algn="r"/>
            <a:r>
              <a:rPr sz="1000" b="0" i="0">
                <a:solidFill>
                  <a:srgbClr val="6C757D"/>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57432" cy="640080"/>
          </a:xfrm>
          <a:prstGeom prst="rect">
            <a:avLst/>
          </a:prstGeom>
          <a:noFill/>
        </p:spPr>
        <p:txBody>
          <a:bodyPr wrap="square">
            <a:spAutoFit/>
          </a:bodyPr>
          <a:lstStyle/>
          <a:p>
            <a:pPr algn="l"/>
            <a:r>
              <a:rPr sz="2600" b="1" i="0">
                <a:solidFill>
                  <a:srgbClr val="FFFFFF"/>
                </a:solidFill>
                <a:latin typeface="Calibri"/>
              </a:rPr>
              <a:t>Machine Learning — Station Busy Predictor</a:t>
            </a:r>
          </a:p>
        </p:txBody>
      </p:sp>
      <p:sp>
        <p:nvSpPr>
          <p:cNvPr id="5" name="TextBox 4"/>
          <p:cNvSpPr txBox="1"/>
          <p:nvPr/>
        </p:nvSpPr>
        <p:spPr>
          <a:xfrm>
            <a:off x="365760" y="749808"/>
            <a:ext cx="11457432" cy="365760"/>
          </a:xfrm>
          <a:prstGeom prst="rect">
            <a:avLst/>
          </a:prstGeom>
          <a:noFill/>
        </p:spPr>
        <p:txBody>
          <a:bodyPr wrap="square">
            <a:spAutoFit/>
          </a:bodyPr>
          <a:lstStyle/>
          <a:p>
            <a:pPr algn="l"/>
            <a:r>
              <a:rPr sz="1300" b="0" i="1">
                <a:solidFill>
                  <a:srgbClr val="D8F3DC"/>
                </a:solidFill>
                <a:latin typeface="Calibri"/>
              </a:rPr>
              <a:t>DecisionTreeClassifier  ·  91.3% accuracy on synthetic demo data</a:t>
            </a:r>
          </a:p>
        </p:txBody>
      </p:sp>
      <p:sp>
        <p:nvSpPr>
          <p:cNvPr id="6" name="Rectangle 5"/>
          <p:cNvSpPr/>
          <p:nvPr/>
        </p:nvSpPr>
        <p:spPr>
          <a:xfrm>
            <a:off x="0" y="1188720"/>
            <a:ext cx="12188952" cy="2540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5b_ml_prediction.png"/>
          <p:cNvPicPr>
            <a:picLocks noChangeAspect="1"/>
          </p:cNvPicPr>
          <p:nvPr/>
        </p:nvPicPr>
        <p:blipFill>
          <a:blip r:embed="rId2"/>
          <a:stretch>
            <a:fillRect/>
          </a:stretch>
        </p:blipFill>
        <p:spPr>
          <a:xfrm>
            <a:off x="274320" y="1371600"/>
            <a:ext cx="5486400" cy="5074920"/>
          </a:xfrm>
          <a:prstGeom prst="rect">
            <a:avLst/>
          </a:prstGeom>
        </p:spPr>
      </p:pic>
      <p:sp>
        <p:nvSpPr>
          <p:cNvPr id="8" name="Rectangle 7"/>
          <p:cNvSpPr/>
          <p:nvPr/>
        </p:nvSpPr>
        <p:spPr>
          <a:xfrm>
            <a:off x="6035040" y="1371600"/>
            <a:ext cx="5852160" cy="192024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463040"/>
            <a:ext cx="5577840" cy="347472"/>
          </a:xfrm>
          <a:prstGeom prst="rect">
            <a:avLst/>
          </a:prstGeom>
          <a:noFill/>
        </p:spPr>
        <p:txBody>
          <a:bodyPr wrap="square">
            <a:spAutoFit/>
          </a:bodyPr>
          <a:lstStyle/>
          <a:p>
            <a:pPr algn="l"/>
            <a:r>
              <a:rPr sz="1300" b="1" i="0">
                <a:solidFill>
                  <a:srgbClr val="1B4332"/>
                </a:solidFill>
                <a:latin typeface="Calibri"/>
              </a:rPr>
              <a:t>🎛️  Input Features</a:t>
            </a:r>
          </a:p>
        </p:txBody>
      </p:sp>
      <p:sp>
        <p:nvSpPr>
          <p:cNvPr id="10" name="TextBox 9"/>
          <p:cNvSpPr txBox="1"/>
          <p:nvPr/>
        </p:nvSpPr>
        <p:spPr>
          <a:xfrm>
            <a:off x="6172200" y="1828800"/>
            <a:ext cx="5577840" cy="1371600"/>
          </a:xfrm>
          <a:prstGeom prst="rect">
            <a:avLst/>
          </a:prstGeom>
          <a:noFill/>
        </p:spPr>
        <p:txBody>
          <a:bodyPr wrap="square">
            <a:spAutoFit/>
          </a:bodyPr>
          <a:lstStyle/>
          <a:p>
            <a:pPr>
              <a:spcBef>
                <a:spcPts val="300"/>
              </a:spcBef>
            </a:pPr>
            <a:r>
              <a:rPr sz="1100" b="0">
                <a:solidFill>
                  <a:srgbClr val="1A1A2E"/>
                </a:solidFill>
                <a:latin typeface="Calibri"/>
              </a:rPr>
              <a:t>●  Hour of day (0–23)</a:t>
            </a:r>
          </a:p>
          <a:p>
            <a:pPr>
              <a:spcBef>
                <a:spcPts val="300"/>
              </a:spcBef>
            </a:pPr>
            <a:r>
              <a:rPr sz="1100" b="0">
                <a:solidFill>
                  <a:srgbClr val="1A1A2E"/>
                </a:solidFill>
                <a:latin typeface="Calibri"/>
              </a:rPr>
              <a:t>●  Day type (Weekday / Weekend)</a:t>
            </a:r>
          </a:p>
          <a:p>
            <a:pPr>
              <a:spcBef>
                <a:spcPts val="300"/>
              </a:spcBef>
            </a:pPr>
            <a:r>
              <a:rPr sz="1100" b="0">
                <a:solidFill>
                  <a:srgbClr val="1A1A2E"/>
                </a:solidFill>
                <a:latin typeface="Calibri"/>
              </a:rPr>
              <a:t>●  Charging speed (kW)</a:t>
            </a:r>
          </a:p>
          <a:p>
            <a:pPr>
              <a:spcBef>
                <a:spcPts val="300"/>
              </a:spcBef>
            </a:pPr>
            <a:r>
              <a:rPr sz="1100" b="0">
                <a:solidFill>
                  <a:srgbClr val="1A1A2E"/>
                </a:solidFill>
                <a:latin typeface="Calibri"/>
              </a:rPr>
              <a:t>●  Connector count</a:t>
            </a:r>
          </a:p>
          <a:p>
            <a:pPr>
              <a:spcBef>
                <a:spcPts val="300"/>
              </a:spcBef>
            </a:pPr>
            <a:r>
              <a:rPr sz="1100" b="0">
                <a:solidFill>
                  <a:srgbClr val="1A1A2E"/>
                </a:solidFill>
                <a:latin typeface="Calibri"/>
              </a:rPr>
              <a:t>●  Is peak hours</a:t>
            </a:r>
          </a:p>
        </p:txBody>
      </p:sp>
      <p:sp>
        <p:nvSpPr>
          <p:cNvPr id="11" name="Rectangle 10"/>
          <p:cNvSpPr/>
          <p:nvPr/>
        </p:nvSpPr>
        <p:spPr>
          <a:xfrm>
            <a:off x="6035040" y="3429000"/>
            <a:ext cx="5852160" cy="1645920"/>
          </a:xfrm>
          <a:prstGeom prst="rect">
            <a:avLst/>
          </a:prstGeom>
          <a:solidFill>
            <a:srgbClr val="D8F3DC"/>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3520440"/>
            <a:ext cx="5577840" cy="347472"/>
          </a:xfrm>
          <a:prstGeom prst="rect">
            <a:avLst/>
          </a:prstGeom>
          <a:noFill/>
        </p:spPr>
        <p:txBody>
          <a:bodyPr wrap="square">
            <a:spAutoFit/>
          </a:bodyPr>
          <a:lstStyle/>
          <a:p>
            <a:pPr algn="l"/>
            <a:r>
              <a:rPr sz="1300" b="1" i="0">
                <a:solidFill>
                  <a:srgbClr val="1B4332"/>
                </a:solidFill>
                <a:latin typeface="Calibri"/>
              </a:rPr>
              <a:t>🌳  Model Setup</a:t>
            </a:r>
          </a:p>
        </p:txBody>
      </p:sp>
      <p:sp>
        <p:nvSpPr>
          <p:cNvPr id="13" name="TextBox 12"/>
          <p:cNvSpPr txBox="1"/>
          <p:nvPr/>
        </p:nvSpPr>
        <p:spPr>
          <a:xfrm>
            <a:off x="6172200" y="3886200"/>
            <a:ext cx="5577840" cy="1097280"/>
          </a:xfrm>
          <a:prstGeom prst="rect">
            <a:avLst/>
          </a:prstGeom>
          <a:noFill/>
        </p:spPr>
        <p:txBody>
          <a:bodyPr wrap="square">
            <a:spAutoFit/>
          </a:bodyPr>
          <a:lstStyle/>
          <a:p>
            <a:pPr>
              <a:spcBef>
                <a:spcPts val="300"/>
              </a:spcBef>
            </a:pPr>
            <a:r>
              <a:rPr sz="1100" b="0">
                <a:solidFill>
                  <a:srgbClr val="1A1A2E"/>
                </a:solidFill>
                <a:latin typeface="Calibri"/>
              </a:rPr>
              <a:t>→  600 synthetic samples  ·  seed=42 (reproducible)</a:t>
            </a:r>
          </a:p>
          <a:p>
            <a:pPr>
              <a:spcBef>
                <a:spcPts val="300"/>
              </a:spcBef>
            </a:pPr>
            <a:r>
              <a:rPr sz="1100" b="0">
                <a:solidFill>
                  <a:srgbClr val="1A1A2E"/>
                </a:solidFill>
                <a:latin typeface="Calibri"/>
              </a:rPr>
              <a:t>→  75 / 25 train-test split  ·  stratify=y</a:t>
            </a:r>
          </a:p>
          <a:p>
            <a:pPr>
              <a:spcBef>
                <a:spcPts val="300"/>
              </a:spcBef>
            </a:pPr>
            <a:r>
              <a:rPr sz="1100" b="0">
                <a:solidFill>
                  <a:srgbClr val="1A1A2E"/>
                </a:solidFill>
                <a:latin typeface="Calibri"/>
              </a:rPr>
              <a:t>→  Max depth = 4  ·  Accuracy = 91.3%</a:t>
            </a:r>
          </a:p>
        </p:txBody>
      </p:sp>
      <p:sp>
        <p:nvSpPr>
          <p:cNvPr id="14" name="Rectangle 13"/>
          <p:cNvSpPr/>
          <p:nvPr/>
        </p:nvSpPr>
        <p:spPr>
          <a:xfrm>
            <a:off x="6035040" y="5212080"/>
            <a:ext cx="5852160" cy="1234440"/>
          </a:xfrm>
          <a:prstGeom prst="rect">
            <a:avLst/>
          </a:prstGeom>
          <a:solidFill>
            <a:srgbClr val="FFF3CD"/>
          </a:solidFill>
          <a:ln w="1270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5303520"/>
            <a:ext cx="5577840" cy="347472"/>
          </a:xfrm>
          <a:prstGeom prst="rect">
            <a:avLst/>
          </a:prstGeom>
          <a:noFill/>
        </p:spPr>
        <p:txBody>
          <a:bodyPr wrap="square">
            <a:spAutoFit/>
          </a:bodyPr>
          <a:lstStyle/>
          <a:p>
            <a:pPr algn="l"/>
            <a:r>
              <a:rPr sz="1200" b="1" i="0">
                <a:solidFill>
                  <a:srgbClr val="856304"/>
                </a:solidFill>
                <a:latin typeface="Calibri"/>
              </a:rPr>
              <a:t>⚠️  Academic Disclaimer</a:t>
            </a:r>
          </a:p>
        </p:txBody>
      </p:sp>
      <p:sp>
        <p:nvSpPr>
          <p:cNvPr id="16" name="TextBox 15"/>
          <p:cNvSpPr txBox="1"/>
          <p:nvPr/>
        </p:nvSpPr>
        <p:spPr>
          <a:xfrm>
            <a:off x="6172200" y="5669280"/>
            <a:ext cx="5577840" cy="685800"/>
          </a:xfrm>
          <a:prstGeom prst="rect">
            <a:avLst/>
          </a:prstGeom>
          <a:noFill/>
        </p:spPr>
        <p:txBody>
          <a:bodyPr wrap="square">
            <a:spAutoFit/>
          </a:bodyPr>
          <a:lstStyle/>
          <a:p>
            <a:pPr algn="l"/>
            <a:r>
              <a:rPr sz="1100" b="0" i="0">
                <a:solidFill>
                  <a:srgbClr val="856304"/>
                </a:solidFill>
                <a:latin typeface="Calibri"/>
              </a:rPr>
              <a:t>91.3% is evaluated on synthetic / demo data only. Real-world accuracy would require re-training on actual charging logs. The model never writes to MongoDB.</a:t>
            </a:r>
          </a:p>
        </p:txBody>
      </p:sp>
      <p:sp>
        <p:nvSpPr>
          <p:cNvPr id="17" name="TextBox 16"/>
          <p:cNvSpPr txBox="1"/>
          <p:nvPr/>
        </p:nvSpPr>
        <p:spPr>
          <a:xfrm>
            <a:off x="11731752" y="6537960"/>
            <a:ext cx="365760" cy="256032"/>
          </a:xfrm>
          <a:prstGeom prst="rect">
            <a:avLst/>
          </a:prstGeom>
          <a:noFill/>
        </p:spPr>
        <p:txBody>
          <a:bodyPr wrap="square">
            <a:spAutoFit/>
          </a:bodyPr>
          <a:lstStyle/>
          <a:p>
            <a:pPr algn="r"/>
            <a:r>
              <a:rPr sz="1000" b="0" i="0">
                <a:solidFill>
                  <a:srgbClr val="6C757D"/>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57432" cy="640080"/>
          </a:xfrm>
          <a:prstGeom prst="rect">
            <a:avLst/>
          </a:prstGeom>
          <a:noFill/>
        </p:spPr>
        <p:txBody>
          <a:bodyPr wrap="square">
            <a:spAutoFit/>
          </a:bodyPr>
          <a:lstStyle/>
          <a:p>
            <a:pPr algn="l"/>
            <a:r>
              <a:rPr sz="2600" b="1" i="0">
                <a:solidFill>
                  <a:srgbClr val="FFFFFF"/>
                </a:solidFill>
                <a:latin typeface="Calibri"/>
              </a:rPr>
              <a:t>Testing &amp; Verified Results</a:t>
            </a:r>
          </a:p>
        </p:txBody>
      </p:sp>
      <p:sp>
        <p:nvSpPr>
          <p:cNvPr id="5" name="TextBox 4"/>
          <p:cNvSpPr txBox="1"/>
          <p:nvPr/>
        </p:nvSpPr>
        <p:spPr>
          <a:xfrm>
            <a:off x="365760" y="749808"/>
            <a:ext cx="11457432" cy="365760"/>
          </a:xfrm>
          <a:prstGeom prst="rect">
            <a:avLst/>
          </a:prstGeom>
          <a:noFill/>
        </p:spPr>
        <p:txBody>
          <a:bodyPr wrap="square">
            <a:spAutoFit/>
          </a:bodyPr>
          <a:lstStyle/>
          <a:p>
            <a:pPr algn="l"/>
            <a:r>
              <a:rPr sz="1300" b="0" i="1">
                <a:solidFill>
                  <a:srgbClr val="D8F3DC"/>
                </a:solidFill>
                <a:latin typeface="Calibri"/>
              </a:rPr>
              <a:t>Automated test suites: test_crud.py  ·  test_aggregations.py</a:t>
            </a:r>
          </a:p>
        </p:txBody>
      </p:sp>
      <p:sp>
        <p:nvSpPr>
          <p:cNvPr id="6" name="Rectangle 5"/>
          <p:cNvSpPr/>
          <p:nvPr/>
        </p:nvSpPr>
        <p:spPr>
          <a:xfrm>
            <a:off x="0" y="1188720"/>
            <a:ext cx="12188952" cy="2540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25880"/>
            <a:ext cx="5577840" cy="507492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17320"/>
            <a:ext cx="5303520" cy="365760"/>
          </a:xfrm>
          <a:prstGeom prst="rect">
            <a:avLst/>
          </a:prstGeom>
          <a:noFill/>
        </p:spPr>
        <p:txBody>
          <a:bodyPr wrap="square">
            <a:spAutoFit/>
          </a:bodyPr>
          <a:lstStyle/>
          <a:p>
            <a:pPr algn="l"/>
            <a:r>
              <a:rPr sz="1400" b="1" i="0">
                <a:solidFill>
                  <a:srgbClr val="1B4332"/>
                </a:solidFill>
                <a:latin typeface="Calibri"/>
              </a:rPr>
              <a:t>✅  All 14 Tests Passed</a:t>
            </a:r>
          </a:p>
        </p:txBody>
      </p:sp>
      <p:sp>
        <p:nvSpPr>
          <p:cNvPr id="9" name="Rectangle 8"/>
          <p:cNvSpPr/>
          <p:nvPr/>
        </p:nvSpPr>
        <p:spPr>
          <a:xfrm>
            <a:off x="411480" y="1874519"/>
            <a:ext cx="1005840" cy="34747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911095"/>
            <a:ext cx="960120" cy="274320"/>
          </a:xfrm>
          <a:prstGeom prst="rect">
            <a:avLst/>
          </a:prstGeom>
          <a:noFill/>
        </p:spPr>
        <p:txBody>
          <a:bodyPr wrap="square">
            <a:spAutoFit/>
          </a:bodyPr>
          <a:lstStyle/>
          <a:p>
            <a:pPr algn="l"/>
            <a:r>
              <a:rPr sz="900" b="1" i="0">
                <a:solidFill>
                  <a:srgbClr val="E9C46A"/>
                </a:solidFill>
                <a:latin typeface="Calibri"/>
              </a:rPr>
              <a:t>TC-01</a:t>
            </a:r>
          </a:p>
        </p:txBody>
      </p:sp>
      <p:sp>
        <p:nvSpPr>
          <p:cNvPr id="11" name="TextBox 10"/>
          <p:cNvSpPr txBox="1"/>
          <p:nvPr/>
        </p:nvSpPr>
        <p:spPr>
          <a:xfrm>
            <a:off x="1508760" y="1911095"/>
            <a:ext cx="4251960" cy="274320"/>
          </a:xfrm>
          <a:prstGeom prst="rect">
            <a:avLst/>
          </a:prstGeom>
          <a:noFill/>
        </p:spPr>
        <p:txBody>
          <a:bodyPr wrap="square">
            <a:spAutoFit/>
          </a:bodyPr>
          <a:lstStyle/>
          <a:p>
            <a:pPr algn="l"/>
            <a:r>
              <a:rPr sz="1050" b="0" i="0">
                <a:solidFill>
                  <a:srgbClr val="1A1A2E"/>
                </a:solidFill>
                <a:latin typeface="Calibri"/>
              </a:rPr>
              <a:t>$jsonSchema rejects invalid document</a:t>
            </a:r>
          </a:p>
        </p:txBody>
      </p:sp>
      <p:sp>
        <p:nvSpPr>
          <p:cNvPr id="12" name="Rectangle 11"/>
          <p:cNvSpPr/>
          <p:nvPr/>
        </p:nvSpPr>
        <p:spPr>
          <a:xfrm>
            <a:off x="411480" y="2304287"/>
            <a:ext cx="1005840" cy="34747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2340863"/>
            <a:ext cx="960120" cy="274320"/>
          </a:xfrm>
          <a:prstGeom prst="rect">
            <a:avLst/>
          </a:prstGeom>
          <a:noFill/>
        </p:spPr>
        <p:txBody>
          <a:bodyPr wrap="square">
            <a:spAutoFit/>
          </a:bodyPr>
          <a:lstStyle/>
          <a:p>
            <a:pPr algn="l"/>
            <a:r>
              <a:rPr sz="900" b="1" i="0">
                <a:solidFill>
                  <a:srgbClr val="E9C46A"/>
                </a:solidFill>
                <a:latin typeface="Calibri"/>
              </a:rPr>
              <a:t>TC-02</a:t>
            </a:r>
          </a:p>
        </p:txBody>
      </p:sp>
      <p:sp>
        <p:nvSpPr>
          <p:cNvPr id="14" name="TextBox 13"/>
          <p:cNvSpPr txBox="1"/>
          <p:nvPr/>
        </p:nvSpPr>
        <p:spPr>
          <a:xfrm>
            <a:off x="1508760" y="2340863"/>
            <a:ext cx="4251960" cy="274320"/>
          </a:xfrm>
          <a:prstGeom prst="rect">
            <a:avLst/>
          </a:prstGeom>
          <a:noFill/>
        </p:spPr>
        <p:txBody>
          <a:bodyPr wrap="square">
            <a:spAutoFit/>
          </a:bodyPr>
          <a:lstStyle/>
          <a:p>
            <a:pPr algn="l"/>
            <a:r>
              <a:rPr sz="1050" b="0" i="0">
                <a:solidFill>
                  <a:srgbClr val="1A1A2E"/>
                </a:solidFill>
                <a:latin typeface="Calibri"/>
              </a:rPr>
              <a:t>insert_one() creates station CS999</a:t>
            </a:r>
          </a:p>
        </p:txBody>
      </p:sp>
      <p:sp>
        <p:nvSpPr>
          <p:cNvPr id="15" name="Rectangle 14"/>
          <p:cNvSpPr/>
          <p:nvPr/>
        </p:nvSpPr>
        <p:spPr>
          <a:xfrm>
            <a:off x="411480" y="2734056"/>
            <a:ext cx="1005840" cy="34747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 y="2770632"/>
            <a:ext cx="960120" cy="274320"/>
          </a:xfrm>
          <a:prstGeom prst="rect">
            <a:avLst/>
          </a:prstGeom>
          <a:noFill/>
        </p:spPr>
        <p:txBody>
          <a:bodyPr wrap="square">
            <a:spAutoFit/>
          </a:bodyPr>
          <a:lstStyle/>
          <a:p>
            <a:pPr algn="l"/>
            <a:r>
              <a:rPr sz="900" b="1" i="0">
                <a:solidFill>
                  <a:srgbClr val="E9C46A"/>
                </a:solidFill>
                <a:latin typeface="Calibri"/>
              </a:rPr>
              <a:t>TC-03</a:t>
            </a:r>
          </a:p>
        </p:txBody>
      </p:sp>
      <p:sp>
        <p:nvSpPr>
          <p:cNvPr id="17" name="TextBox 16"/>
          <p:cNvSpPr txBox="1"/>
          <p:nvPr/>
        </p:nvSpPr>
        <p:spPr>
          <a:xfrm>
            <a:off x="1508760" y="2770632"/>
            <a:ext cx="4251960" cy="274320"/>
          </a:xfrm>
          <a:prstGeom prst="rect">
            <a:avLst/>
          </a:prstGeom>
          <a:noFill/>
        </p:spPr>
        <p:txBody>
          <a:bodyPr wrap="square">
            <a:spAutoFit/>
          </a:bodyPr>
          <a:lstStyle/>
          <a:p>
            <a:pPr algn="l"/>
            <a:r>
              <a:rPr sz="1050" b="0" i="0">
                <a:solidFill>
                  <a:srgbClr val="1A1A2E"/>
                </a:solidFill>
                <a:latin typeface="Calibri"/>
              </a:rPr>
              <a:t>find_one() reads station correctly</a:t>
            </a:r>
          </a:p>
        </p:txBody>
      </p:sp>
      <p:sp>
        <p:nvSpPr>
          <p:cNvPr id="18" name="Rectangle 17"/>
          <p:cNvSpPr/>
          <p:nvPr/>
        </p:nvSpPr>
        <p:spPr>
          <a:xfrm>
            <a:off x="411480" y="3163824"/>
            <a:ext cx="1005840" cy="34747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3200400"/>
            <a:ext cx="960120" cy="274320"/>
          </a:xfrm>
          <a:prstGeom prst="rect">
            <a:avLst/>
          </a:prstGeom>
          <a:noFill/>
        </p:spPr>
        <p:txBody>
          <a:bodyPr wrap="square">
            <a:spAutoFit/>
          </a:bodyPr>
          <a:lstStyle/>
          <a:p>
            <a:pPr algn="l"/>
            <a:r>
              <a:rPr sz="900" b="1" i="0">
                <a:solidFill>
                  <a:srgbClr val="E9C46A"/>
                </a:solidFill>
                <a:latin typeface="Calibri"/>
              </a:rPr>
              <a:t>TC-04</a:t>
            </a:r>
          </a:p>
        </p:txBody>
      </p:sp>
      <p:sp>
        <p:nvSpPr>
          <p:cNvPr id="20" name="TextBox 19"/>
          <p:cNvSpPr txBox="1"/>
          <p:nvPr/>
        </p:nvSpPr>
        <p:spPr>
          <a:xfrm>
            <a:off x="1508760" y="3200400"/>
            <a:ext cx="4251960" cy="274320"/>
          </a:xfrm>
          <a:prstGeom prst="rect">
            <a:avLst/>
          </a:prstGeom>
          <a:noFill/>
        </p:spPr>
        <p:txBody>
          <a:bodyPr wrap="square">
            <a:spAutoFit/>
          </a:bodyPr>
          <a:lstStyle/>
          <a:p>
            <a:pPr algn="l"/>
            <a:r>
              <a:rPr sz="1050" b="0" i="0">
                <a:solidFill>
                  <a:srgbClr val="1A1A2E"/>
                </a:solidFill>
                <a:latin typeface="Calibri"/>
              </a:rPr>
              <a:t>update_one($set) updates speed to 120 kW</a:t>
            </a:r>
          </a:p>
        </p:txBody>
      </p:sp>
      <p:sp>
        <p:nvSpPr>
          <p:cNvPr id="21" name="Rectangle 20"/>
          <p:cNvSpPr/>
          <p:nvPr/>
        </p:nvSpPr>
        <p:spPr>
          <a:xfrm>
            <a:off x="411480" y="3593591"/>
            <a:ext cx="1005840" cy="34747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3630167"/>
            <a:ext cx="960120" cy="274320"/>
          </a:xfrm>
          <a:prstGeom prst="rect">
            <a:avLst/>
          </a:prstGeom>
          <a:noFill/>
        </p:spPr>
        <p:txBody>
          <a:bodyPr wrap="square">
            <a:spAutoFit/>
          </a:bodyPr>
          <a:lstStyle/>
          <a:p>
            <a:pPr algn="l"/>
            <a:r>
              <a:rPr sz="900" b="1" i="0">
                <a:solidFill>
                  <a:srgbClr val="E9C46A"/>
                </a:solidFill>
                <a:latin typeface="Calibri"/>
              </a:rPr>
              <a:t>TC-05</a:t>
            </a:r>
          </a:p>
        </p:txBody>
      </p:sp>
      <p:sp>
        <p:nvSpPr>
          <p:cNvPr id="23" name="TextBox 22"/>
          <p:cNvSpPr txBox="1"/>
          <p:nvPr/>
        </p:nvSpPr>
        <p:spPr>
          <a:xfrm>
            <a:off x="1508760" y="3630167"/>
            <a:ext cx="4251960" cy="274320"/>
          </a:xfrm>
          <a:prstGeom prst="rect">
            <a:avLst/>
          </a:prstGeom>
          <a:noFill/>
        </p:spPr>
        <p:txBody>
          <a:bodyPr wrap="square">
            <a:spAutoFit/>
          </a:bodyPr>
          <a:lstStyle/>
          <a:p>
            <a:pPr algn="l"/>
            <a:r>
              <a:rPr sz="1050" b="0" i="0">
                <a:solidFill>
                  <a:srgbClr val="1A1A2E"/>
                </a:solidFill>
                <a:latin typeface="Calibri"/>
              </a:rPr>
              <a:t>Session start → connector: occupied</a:t>
            </a:r>
          </a:p>
        </p:txBody>
      </p:sp>
      <p:sp>
        <p:nvSpPr>
          <p:cNvPr id="24" name="Rectangle 23"/>
          <p:cNvSpPr/>
          <p:nvPr/>
        </p:nvSpPr>
        <p:spPr>
          <a:xfrm>
            <a:off x="411480" y="4023359"/>
            <a:ext cx="1005840" cy="34747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4059935"/>
            <a:ext cx="960120" cy="274320"/>
          </a:xfrm>
          <a:prstGeom prst="rect">
            <a:avLst/>
          </a:prstGeom>
          <a:noFill/>
        </p:spPr>
        <p:txBody>
          <a:bodyPr wrap="square">
            <a:spAutoFit/>
          </a:bodyPr>
          <a:lstStyle/>
          <a:p>
            <a:pPr algn="l"/>
            <a:r>
              <a:rPr sz="900" b="1" i="0">
                <a:solidFill>
                  <a:srgbClr val="E9C46A"/>
                </a:solidFill>
                <a:latin typeface="Calibri"/>
              </a:rPr>
              <a:t>TC-06</a:t>
            </a:r>
          </a:p>
        </p:txBody>
      </p:sp>
      <p:sp>
        <p:nvSpPr>
          <p:cNvPr id="26" name="TextBox 25"/>
          <p:cNvSpPr txBox="1"/>
          <p:nvPr/>
        </p:nvSpPr>
        <p:spPr>
          <a:xfrm>
            <a:off x="1508760" y="4059935"/>
            <a:ext cx="4251960" cy="274320"/>
          </a:xfrm>
          <a:prstGeom prst="rect">
            <a:avLst/>
          </a:prstGeom>
          <a:noFill/>
        </p:spPr>
        <p:txBody>
          <a:bodyPr wrap="square">
            <a:spAutoFit/>
          </a:bodyPr>
          <a:lstStyle/>
          <a:p>
            <a:pPr algn="l"/>
            <a:r>
              <a:rPr sz="1050" b="0" i="0">
                <a:solidFill>
                  <a:srgbClr val="1A1A2E"/>
                </a:solidFill>
                <a:latin typeface="Calibri"/>
              </a:rPr>
              <a:t>delete_one() blocked by active session</a:t>
            </a:r>
          </a:p>
        </p:txBody>
      </p:sp>
      <p:sp>
        <p:nvSpPr>
          <p:cNvPr id="27" name="Rectangle 26"/>
          <p:cNvSpPr/>
          <p:nvPr/>
        </p:nvSpPr>
        <p:spPr>
          <a:xfrm>
            <a:off x="411480" y="4453127"/>
            <a:ext cx="1005840" cy="34747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4489703"/>
            <a:ext cx="960120" cy="274320"/>
          </a:xfrm>
          <a:prstGeom prst="rect">
            <a:avLst/>
          </a:prstGeom>
          <a:noFill/>
        </p:spPr>
        <p:txBody>
          <a:bodyPr wrap="square">
            <a:spAutoFit/>
          </a:bodyPr>
          <a:lstStyle/>
          <a:p>
            <a:pPr algn="l"/>
            <a:r>
              <a:rPr sz="900" b="1" i="0">
                <a:solidFill>
                  <a:srgbClr val="E9C46A"/>
                </a:solidFill>
                <a:latin typeface="Calibri"/>
              </a:rPr>
              <a:t>TC-07</a:t>
            </a:r>
          </a:p>
        </p:txBody>
      </p:sp>
      <p:sp>
        <p:nvSpPr>
          <p:cNvPr id="29" name="TextBox 28"/>
          <p:cNvSpPr txBox="1"/>
          <p:nvPr/>
        </p:nvSpPr>
        <p:spPr>
          <a:xfrm>
            <a:off x="1508760" y="4489703"/>
            <a:ext cx="4251960" cy="274320"/>
          </a:xfrm>
          <a:prstGeom prst="rect">
            <a:avLst/>
          </a:prstGeom>
          <a:noFill/>
        </p:spPr>
        <p:txBody>
          <a:bodyPr wrap="square">
            <a:spAutoFit/>
          </a:bodyPr>
          <a:lstStyle/>
          <a:p>
            <a:pPr algn="l"/>
            <a:r>
              <a:rPr sz="1050" b="0" i="0">
                <a:solidFill>
                  <a:srgbClr val="1A1A2E"/>
                </a:solidFill>
                <a:latin typeface="Calibri"/>
              </a:rPr>
              <a:t>Session end → connector: available</a:t>
            </a:r>
          </a:p>
        </p:txBody>
      </p:sp>
      <p:sp>
        <p:nvSpPr>
          <p:cNvPr id="30" name="Rectangle 29"/>
          <p:cNvSpPr/>
          <p:nvPr/>
        </p:nvSpPr>
        <p:spPr>
          <a:xfrm>
            <a:off x="411480" y="4882896"/>
            <a:ext cx="1005840" cy="34747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4919472"/>
            <a:ext cx="960120" cy="274320"/>
          </a:xfrm>
          <a:prstGeom prst="rect">
            <a:avLst/>
          </a:prstGeom>
          <a:noFill/>
        </p:spPr>
        <p:txBody>
          <a:bodyPr wrap="square">
            <a:spAutoFit/>
          </a:bodyPr>
          <a:lstStyle/>
          <a:p>
            <a:pPr algn="l"/>
            <a:r>
              <a:rPr sz="900" b="1" i="0">
                <a:solidFill>
                  <a:srgbClr val="E9C46A"/>
                </a:solidFill>
                <a:latin typeface="Calibri"/>
              </a:rPr>
              <a:t>TC-08</a:t>
            </a:r>
          </a:p>
        </p:txBody>
      </p:sp>
      <p:sp>
        <p:nvSpPr>
          <p:cNvPr id="32" name="TextBox 31"/>
          <p:cNvSpPr txBox="1"/>
          <p:nvPr/>
        </p:nvSpPr>
        <p:spPr>
          <a:xfrm>
            <a:off x="1508760" y="4919472"/>
            <a:ext cx="4251960" cy="274320"/>
          </a:xfrm>
          <a:prstGeom prst="rect">
            <a:avLst/>
          </a:prstGeom>
          <a:noFill/>
        </p:spPr>
        <p:txBody>
          <a:bodyPr wrap="square">
            <a:spAutoFit/>
          </a:bodyPr>
          <a:lstStyle/>
          <a:p>
            <a:pPr algn="l"/>
            <a:r>
              <a:rPr sz="1050" b="0" i="0">
                <a:solidFill>
                  <a:srgbClr val="1A1A2E"/>
                </a:solidFill>
                <a:latin typeface="Calibri"/>
              </a:rPr>
              <a:t>delete_one() cleans up test records</a:t>
            </a:r>
          </a:p>
        </p:txBody>
      </p:sp>
      <p:sp>
        <p:nvSpPr>
          <p:cNvPr id="33" name="Rectangle 32"/>
          <p:cNvSpPr/>
          <p:nvPr/>
        </p:nvSpPr>
        <p:spPr>
          <a:xfrm>
            <a:off x="411480" y="5312664"/>
            <a:ext cx="1005840" cy="34747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5349240"/>
            <a:ext cx="960120" cy="274320"/>
          </a:xfrm>
          <a:prstGeom prst="rect">
            <a:avLst/>
          </a:prstGeom>
          <a:noFill/>
        </p:spPr>
        <p:txBody>
          <a:bodyPr wrap="square">
            <a:spAutoFit/>
          </a:bodyPr>
          <a:lstStyle/>
          <a:p>
            <a:pPr algn="l"/>
            <a:r>
              <a:rPr sz="900" b="1" i="0">
                <a:solidFill>
                  <a:srgbClr val="E9C46A"/>
                </a:solidFill>
                <a:latin typeface="Calibri"/>
              </a:rPr>
              <a:t>TC-09</a:t>
            </a:r>
          </a:p>
        </p:txBody>
      </p:sp>
      <p:sp>
        <p:nvSpPr>
          <p:cNvPr id="35" name="TextBox 34"/>
          <p:cNvSpPr txBox="1"/>
          <p:nvPr/>
        </p:nvSpPr>
        <p:spPr>
          <a:xfrm>
            <a:off x="1508760" y="5349240"/>
            <a:ext cx="4251960" cy="274320"/>
          </a:xfrm>
          <a:prstGeom prst="rect">
            <a:avLst/>
          </a:prstGeom>
          <a:noFill/>
        </p:spPr>
        <p:txBody>
          <a:bodyPr wrap="square">
            <a:spAutoFit/>
          </a:bodyPr>
          <a:lstStyle/>
          <a:p>
            <a:pPr algn="l"/>
            <a:r>
              <a:rPr sz="1050" b="0" i="0">
                <a:solidFill>
                  <a:srgbClr val="1A1A2E"/>
                </a:solidFill>
                <a:latin typeface="Calibri"/>
              </a:rPr>
              <a:t>explain() confirms IXSCAN on station_id</a:t>
            </a:r>
          </a:p>
        </p:txBody>
      </p:sp>
      <p:sp>
        <p:nvSpPr>
          <p:cNvPr id="36" name="Rectangle 35"/>
          <p:cNvSpPr/>
          <p:nvPr/>
        </p:nvSpPr>
        <p:spPr>
          <a:xfrm>
            <a:off x="411480" y="5742431"/>
            <a:ext cx="1005840" cy="347472"/>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5779007"/>
            <a:ext cx="960120" cy="274320"/>
          </a:xfrm>
          <a:prstGeom prst="rect">
            <a:avLst/>
          </a:prstGeom>
          <a:noFill/>
        </p:spPr>
        <p:txBody>
          <a:bodyPr wrap="square">
            <a:spAutoFit/>
          </a:bodyPr>
          <a:lstStyle/>
          <a:p>
            <a:pPr algn="l"/>
            <a:r>
              <a:rPr sz="900" b="1" i="0">
                <a:solidFill>
                  <a:srgbClr val="E9C46A"/>
                </a:solidFill>
                <a:latin typeface="Calibri"/>
              </a:rPr>
              <a:t>TC-10–14</a:t>
            </a:r>
          </a:p>
        </p:txBody>
      </p:sp>
      <p:sp>
        <p:nvSpPr>
          <p:cNvPr id="38" name="TextBox 37"/>
          <p:cNvSpPr txBox="1"/>
          <p:nvPr/>
        </p:nvSpPr>
        <p:spPr>
          <a:xfrm>
            <a:off x="1508760" y="5779007"/>
            <a:ext cx="4251960" cy="274320"/>
          </a:xfrm>
          <a:prstGeom prst="rect">
            <a:avLst/>
          </a:prstGeom>
          <a:noFill/>
        </p:spPr>
        <p:txBody>
          <a:bodyPr wrap="square">
            <a:spAutoFit/>
          </a:bodyPr>
          <a:lstStyle/>
          <a:p>
            <a:pPr algn="l"/>
            <a:r>
              <a:rPr sz="1050" b="0" i="0">
                <a:solidFill>
                  <a:srgbClr val="1A1A2E"/>
                </a:solidFill>
                <a:latin typeface="Calibri"/>
              </a:rPr>
              <a:t>All 5 aggregation pipelines verified</a:t>
            </a:r>
          </a:p>
        </p:txBody>
      </p:sp>
      <p:sp>
        <p:nvSpPr>
          <p:cNvPr id="39" name="Rectangle 38"/>
          <p:cNvSpPr/>
          <p:nvPr/>
        </p:nvSpPr>
        <p:spPr>
          <a:xfrm>
            <a:off x="6035040" y="1325880"/>
            <a:ext cx="5852160" cy="5074920"/>
          </a:xfrm>
          <a:prstGeom prst="rect">
            <a:avLst/>
          </a:prstGeom>
          <a:solidFill>
            <a:srgbClr val="0D1F17"/>
          </a:solidFill>
          <a:ln w="127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72200" y="1417320"/>
            <a:ext cx="5577840" cy="347472"/>
          </a:xfrm>
          <a:prstGeom prst="rect">
            <a:avLst/>
          </a:prstGeom>
          <a:noFill/>
        </p:spPr>
        <p:txBody>
          <a:bodyPr wrap="square">
            <a:spAutoFit/>
          </a:bodyPr>
          <a:lstStyle/>
          <a:p>
            <a:pPr algn="l"/>
            <a:r>
              <a:rPr sz="1200" b="1" i="0">
                <a:solidFill>
                  <a:srgbClr val="E9C46A"/>
                </a:solidFill>
                <a:latin typeface="Calibri"/>
              </a:rPr>
              <a:t>Terminal Output (test_crud.py)</a:t>
            </a:r>
          </a:p>
        </p:txBody>
      </p:sp>
      <p:sp>
        <p:nvSpPr>
          <p:cNvPr id="41" name="TextBox 40"/>
          <p:cNvSpPr txBox="1"/>
          <p:nvPr/>
        </p:nvSpPr>
        <p:spPr>
          <a:xfrm>
            <a:off x="6172200" y="1828800"/>
            <a:ext cx="5577840" cy="4389120"/>
          </a:xfrm>
          <a:prstGeom prst="rect">
            <a:avLst/>
          </a:prstGeom>
          <a:noFill/>
        </p:spPr>
        <p:txBody>
          <a:bodyPr wrap="square">
            <a:spAutoFit/>
          </a:bodyPr>
          <a:lstStyle/>
          <a:p>
            <a:r>
              <a:rPr sz="950">
                <a:solidFill>
                  <a:srgbClr val="98F5A0"/>
                </a:solidFill>
                <a:latin typeface="Courier New"/>
              </a:rPr>
              <a:t>✓ MongoDB Connection Verified.
TEST 1: Schema Validation Rejection
  Msg: 'Validation failed: Document failed'
  ✓ PASSED
TEST 5: Session Start + Connector Sync
  Session 'SESS-TEST-999' started!
  Connector 'C1' is now occupied.
  ✓ PASSED
TEST 6: Referential Integrity Guard
  Cannot delete CS999: 1 active session.
  ✓ PASSED
TEST 9: Index explain() — IXSCAN
  Stage: FETCH (input: IXSCAN)
  ✓ PASSED
ALL 9 TESTS PASSED!</a:t>
            </a:r>
          </a:p>
        </p:txBody>
      </p:sp>
      <p:sp>
        <p:nvSpPr>
          <p:cNvPr id="42" name="TextBox 41"/>
          <p:cNvSpPr txBox="1"/>
          <p:nvPr/>
        </p:nvSpPr>
        <p:spPr>
          <a:xfrm>
            <a:off x="11731752" y="6537960"/>
            <a:ext cx="365760" cy="256032"/>
          </a:xfrm>
          <a:prstGeom prst="rect">
            <a:avLst/>
          </a:prstGeom>
          <a:noFill/>
        </p:spPr>
        <p:txBody>
          <a:bodyPr wrap="square">
            <a:spAutoFit/>
          </a:bodyPr>
          <a:lstStyle/>
          <a:p>
            <a:pPr algn="r"/>
            <a:r>
              <a:rPr sz="1000" b="0" i="0">
                <a:solidFill>
                  <a:srgbClr val="6C757D"/>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57432" cy="640080"/>
          </a:xfrm>
          <a:prstGeom prst="rect">
            <a:avLst/>
          </a:prstGeom>
          <a:noFill/>
        </p:spPr>
        <p:txBody>
          <a:bodyPr wrap="square">
            <a:spAutoFit/>
          </a:bodyPr>
          <a:lstStyle/>
          <a:p>
            <a:pPr algn="l"/>
            <a:r>
              <a:rPr sz="2600" b="1" i="0">
                <a:solidFill>
                  <a:srgbClr val="FFFFFF"/>
                </a:solidFill>
                <a:latin typeface="Calibri"/>
              </a:rPr>
              <a:t>Conclusion &amp; Future Scope</a:t>
            </a:r>
          </a:p>
        </p:txBody>
      </p:sp>
      <p:sp>
        <p:nvSpPr>
          <p:cNvPr id="5" name="TextBox 4"/>
          <p:cNvSpPr txBox="1"/>
          <p:nvPr/>
        </p:nvSpPr>
        <p:spPr>
          <a:xfrm>
            <a:off x="365760" y="749808"/>
            <a:ext cx="11457432" cy="365760"/>
          </a:xfrm>
          <a:prstGeom prst="rect">
            <a:avLst/>
          </a:prstGeom>
          <a:noFill/>
        </p:spPr>
        <p:txBody>
          <a:bodyPr wrap="square">
            <a:spAutoFit/>
          </a:bodyPr>
          <a:lstStyle/>
          <a:p>
            <a:pPr algn="l"/>
            <a:r>
              <a:rPr sz="1300" b="0" i="1">
                <a:solidFill>
                  <a:srgbClr val="D8F3DC"/>
                </a:solidFill>
                <a:latin typeface="Calibri"/>
              </a:rPr>
              <a:t>What was built · What was demonstrated · What comes next</a:t>
            </a:r>
          </a:p>
        </p:txBody>
      </p:sp>
      <p:sp>
        <p:nvSpPr>
          <p:cNvPr id="6" name="Rectangle 5"/>
          <p:cNvSpPr/>
          <p:nvPr/>
        </p:nvSpPr>
        <p:spPr>
          <a:xfrm>
            <a:off x="0" y="1188720"/>
            <a:ext cx="12188952" cy="2540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25880"/>
            <a:ext cx="5577840" cy="3383280"/>
          </a:xfrm>
          <a:prstGeom prst="rect">
            <a:avLst/>
          </a:prstGeom>
          <a:solidFill>
            <a:srgbClr val="1B4332"/>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17320"/>
            <a:ext cx="5303520" cy="365760"/>
          </a:xfrm>
          <a:prstGeom prst="rect">
            <a:avLst/>
          </a:prstGeom>
          <a:noFill/>
        </p:spPr>
        <p:txBody>
          <a:bodyPr wrap="square">
            <a:spAutoFit/>
          </a:bodyPr>
          <a:lstStyle/>
          <a:p>
            <a:pPr algn="l"/>
            <a:r>
              <a:rPr sz="1400" b="1" i="0">
                <a:solidFill>
                  <a:srgbClr val="E9C46A"/>
                </a:solidFill>
                <a:latin typeface="Calibri"/>
              </a:rPr>
              <a:t>✅  What Was Achieved</a:t>
            </a:r>
          </a:p>
        </p:txBody>
      </p:sp>
      <p:sp>
        <p:nvSpPr>
          <p:cNvPr id="9" name="TextBox 8"/>
          <p:cNvSpPr txBox="1"/>
          <p:nvPr/>
        </p:nvSpPr>
        <p:spPr>
          <a:xfrm>
            <a:off x="411480" y="1828800"/>
            <a:ext cx="5303520" cy="2743200"/>
          </a:xfrm>
          <a:prstGeom prst="rect">
            <a:avLst/>
          </a:prstGeom>
          <a:noFill/>
        </p:spPr>
        <p:txBody>
          <a:bodyPr wrap="square">
            <a:spAutoFit/>
          </a:bodyPr>
          <a:lstStyle/>
          <a:p>
            <a:pPr>
              <a:spcBef>
                <a:spcPts val="300"/>
              </a:spcBef>
            </a:pPr>
            <a:r>
              <a:rPr sz="1150" b="0">
                <a:solidFill>
                  <a:srgbClr val="D8F3DC"/>
                </a:solidFill>
                <a:latin typeface="Calibri"/>
              </a:rPr>
              <a:t>✓  Hybrid MongoDB document model with clear design rationale</a:t>
            </a:r>
          </a:p>
          <a:p>
            <a:pPr>
              <a:spcBef>
                <a:spcPts val="300"/>
              </a:spcBef>
            </a:pPr>
            <a:r>
              <a:rPr sz="1150" b="0">
                <a:solidFill>
                  <a:srgbClr val="D8F3DC"/>
                </a:solidFill>
                <a:latin typeface="Calibri"/>
              </a:rPr>
              <a:t>✓  $jsonSchema validation rejected invalid data at DB level</a:t>
            </a:r>
          </a:p>
          <a:p>
            <a:pPr>
              <a:spcBef>
                <a:spcPts val="300"/>
              </a:spcBef>
            </a:pPr>
            <a:r>
              <a:rPr sz="1150" b="0">
                <a:solidFill>
                  <a:srgbClr val="D8F3DC"/>
                </a:solidFill>
                <a:latin typeface="Calibri"/>
              </a:rPr>
              <a:t>✓  All 4 CRUD operations with referential integrity guard</a:t>
            </a:r>
          </a:p>
          <a:p>
            <a:pPr>
              <a:spcBef>
                <a:spcPts val="300"/>
              </a:spcBef>
            </a:pPr>
            <a:r>
              <a:rPr sz="1150" b="0">
                <a:solidFill>
                  <a:srgbClr val="D8F3DC"/>
                </a:solidFill>
                <a:latin typeface="Calibri"/>
              </a:rPr>
              <a:t>✓  5 aggregation pipelines — data stays in the database</a:t>
            </a:r>
          </a:p>
          <a:p>
            <a:pPr>
              <a:spcBef>
                <a:spcPts val="300"/>
              </a:spcBef>
            </a:pPr>
            <a:r>
              <a:rPr sz="1150" b="0">
                <a:solidFill>
                  <a:srgbClr val="D8F3DC"/>
                </a:solidFill>
                <a:latin typeface="Calibri"/>
              </a:rPr>
              <a:t>✓  B-Tree index verified via explain() (IXSCAN)</a:t>
            </a:r>
          </a:p>
          <a:p>
            <a:pPr>
              <a:spcBef>
                <a:spcPts val="300"/>
              </a:spcBef>
            </a:pPr>
            <a:r>
              <a:rPr sz="1150" b="0">
                <a:solidFill>
                  <a:srgbClr val="D8F3DC"/>
                </a:solidFill>
                <a:latin typeface="Calibri"/>
              </a:rPr>
              <a:t>✓  Explainable ML congestion predictor — 91.3% on demo data</a:t>
            </a:r>
          </a:p>
          <a:p>
            <a:pPr>
              <a:spcBef>
                <a:spcPts val="300"/>
              </a:spcBef>
            </a:pPr>
            <a:r>
              <a:rPr sz="1150" b="0">
                <a:solidFill>
                  <a:srgbClr val="D8F3DC"/>
                </a:solidFill>
                <a:latin typeface="Calibri"/>
              </a:rPr>
              <a:t>✓  Polished Streamlit UI across 5 functional pages</a:t>
            </a:r>
          </a:p>
        </p:txBody>
      </p:sp>
      <p:sp>
        <p:nvSpPr>
          <p:cNvPr id="10" name="Rectangle 9"/>
          <p:cNvSpPr/>
          <p:nvPr/>
        </p:nvSpPr>
        <p:spPr>
          <a:xfrm>
            <a:off x="6035040" y="1325880"/>
            <a:ext cx="5852160" cy="3383280"/>
          </a:xfrm>
          <a:prstGeom prst="rect">
            <a:avLst/>
          </a:prstGeom>
          <a:solidFill>
            <a:srgbClr val="FFFFFF"/>
          </a:solidFill>
          <a:ln w="12700">
            <a:solidFill>
              <a:srgbClr val="D8F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1417320"/>
            <a:ext cx="5577840" cy="365760"/>
          </a:xfrm>
          <a:prstGeom prst="rect">
            <a:avLst/>
          </a:prstGeom>
          <a:noFill/>
        </p:spPr>
        <p:txBody>
          <a:bodyPr wrap="square">
            <a:spAutoFit/>
          </a:bodyPr>
          <a:lstStyle/>
          <a:p>
            <a:pPr algn="l"/>
            <a:r>
              <a:rPr sz="1400" b="1" i="0">
                <a:solidFill>
                  <a:srgbClr val="1B4332"/>
                </a:solidFill>
                <a:latin typeface="Calibri"/>
              </a:rPr>
              <a:t>🚀  Future Scope</a:t>
            </a:r>
          </a:p>
        </p:txBody>
      </p:sp>
      <p:sp>
        <p:nvSpPr>
          <p:cNvPr id="12" name="TextBox 11"/>
          <p:cNvSpPr txBox="1"/>
          <p:nvPr/>
        </p:nvSpPr>
        <p:spPr>
          <a:xfrm>
            <a:off x="6172200" y="1828800"/>
            <a:ext cx="5577840" cy="2743200"/>
          </a:xfrm>
          <a:prstGeom prst="rect">
            <a:avLst/>
          </a:prstGeom>
          <a:noFill/>
        </p:spPr>
        <p:txBody>
          <a:bodyPr wrap="square">
            <a:spAutoFit/>
          </a:bodyPr>
          <a:lstStyle/>
          <a:p>
            <a:pPr>
              <a:spcBef>
                <a:spcPts val="300"/>
              </a:spcBef>
            </a:pPr>
            <a:r>
              <a:rPr sz="1150" b="0">
                <a:solidFill>
                  <a:srgbClr val="1A1A2E"/>
                </a:solidFill>
                <a:latin typeface="Calibri"/>
              </a:rPr>
              <a:t>→  Real OCPP charging station API integration</a:t>
            </a:r>
          </a:p>
          <a:p>
            <a:pPr>
              <a:spcBef>
                <a:spcPts val="300"/>
              </a:spcBef>
            </a:pPr>
            <a:r>
              <a:rPr sz="1150" b="0">
                <a:solidFill>
                  <a:srgbClr val="1A1A2E"/>
                </a:solidFill>
                <a:latin typeface="Calibri"/>
              </a:rPr>
              <a:t>→  Geospatial search with MongoDB $geoNear + maps</a:t>
            </a:r>
          </a:p>
          <a:p>
            <a:pPr>
              <a:spcBef>
                <a:spcPts val="300"/>
              </a:spcBef>
            </a:pPr>
            <a:r>
              <a:rPr sz="1150" b="0">
                <a:solidFill>
                  <a:srgbClr val="1A1A2E"/>
                </a:solidFill>
                <a:latin typeface="Calibri"/>
              </a:rPr>
              <a:t>→  Role-based login for operators and drivers</a:t>
            </a:r>
          </a:p>
          <a:p>
            <a:pPr>
              <a:spcBef>
                <a:spcPts val="300"/>
              </a:spcBef>
            </a:pPr>
            <a:r>
              <a:rPr sz="1150" b="0">
                <a:solidFill>
                  <a:srgbClr val="1A1A2E"/>
                </a:solidFill>
                <a:latin typeface="Calibri"/>
              </a:rPr>
              <a:t>→  Real-time connector updates via WebSocket / MQTT</a:t>
            </a:r>
          </a:p>
          <a:p>
            <a:pPr>
              <a:spcBef>
                <a:spcPts val="300"/>
              </a:spcBef>
            </a:pPr>
            <a:r>
              <a:rPr sz="1150" b="0">
                <a:solidFill>
                  <a:srgbClr val="1A1A2E"/>
                </a:solidFill>
                <a:latin typeface="Calibri"/>
              </a:rPr>
              <a:t>→  Re-train ML on real charging network data</a:t>
            </a:r>
          </a:p>
          <a:p>
            <a:pPr>
              <a:spcBef>
                <a:spcPts val="300"/>
              </a:spcBef>
            </a:pPr>
            <a:r>
              <a:rPr sz="1150" b="0">
                <a:solidFill>
                  <a:srgbClr val="1A1A2E"/>
                </a:solidFill>
                <a:latin typeface="Calibri"/>
              </a:rPr>
              <a:t>→  Docker + CI/CD pipeline for deployment</a:t>
            </a:r>
          </a:p>
        </p:txBody>
      </p:sp>
      <p:sp>
        <p:nvSpPr>
          <p:cNvPr id="13" name="Rectangle 12"/>
          <p:cNvSpPr/>
          <p:nvPr/>
        </p:nvSpPr>
        <p:spPr>
          <a:xfrm>
            <a:off x="0" y="4846320"/>
            <a:ext cx="12188952" cy="822960"/>
          </a:xfrm>
          <a:prstGeom prst="rect">
            <a:avLst/>
          </a:prstGeom>
          <a:solidFill>
            <a:srgbClr val="D8F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4937760"/>
            <a:ext cx="11457432" cy="594360"/>
          </a:xfrm>
          <a:prstGeom prst="rect">
            <a:avLst/>
          </a:prstGeom>
          <a:noFill/>
        </p:spPr>
        <p:txBody>
          <a:bodyPr wrap="square">
            <a:spAutoFit/>
          </a:bodyPr>
          <a:lstStyle/>
          <a:p>
            <a:pPr algn="ctr"/>
            <a:r>
              <a:rPr sz="1400" b="1" i="0">
                <a:solidFill>
                  <a:srgbClr val="1B4332"/>
                </a:solidFill>
                <a:latin typeface="Calibri"/>
              </a:rPr>
              <a:t>10 stations  ·  33 connectors  ·  42 sessions  ·  1,145.85 kWh delivered  ·  91.3% ML accuracy</a:t>
            </a:r>
          </a:p>
        </p:txBody>
      </p:sp>
      <p:sp>
        <p:nvSpPr>
          <p:cNvPr id="15" name="Rectangle 14"/>
          <p:cNvSpPr/>
          <p:nvPr/>
        </p:nvSpPr>
        <p:spPr>
          <a:xfrm>
            <a:off x="0" y="5760720"/>
            <a:ext cx="12188952" cy="109728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5852160"/>
            <a:ext cx="7315200" cy="502920"/>
          </a:xfrm>
          <a:prstGeom prst="rect">
            <a:avLst/>
          </a:prstGeom>
          <a:noFill/>
        </p:spPr>
        <p:txBody>
          <a:bodyPr wrap="square">
            <a:spAutoFit/>
          </a:bodyPr>
          <a:lstStyle/>
          <a:p>
            <a:pPr algn="l"/>
            <a:r>
              <a:rPr sz="2000" b="1" i="0">
                <a:solidFill>
                  <a:srgbClr val="FFFFFF"/>
                </a:solidFill>
                <a:latin typeface="Calibri"/>
              </a:rPr>
              <a:t>Thank you — Questions welcome!</a:t>
            </a:r>
          </a:p>
        </p:txBody>
      </p:sp>
      <p:sp>
        <p:nvSpPr>
          <p:cNvPr id="17" name="TextBox 16"/>
          <p:cNvSpPr txBox="1"/>
          <p:nvPr/>
        </p:nvSpPr>
        <p:spPr>
          <a:xfrm>
            <a:off x="7772400" y="5989320"/>
            <a:ext cx="4114800" cy="365760"/>
          </a:xfrm>
          <a:prstGeom prst="rect">
            <a:avLst/>
          </a:prstGeom>
          <a:noFill/>
        </p:spPr>
        <p:txBody>
          <a:bodyPr wrap="square">
            <a:spAutoFit/>
          </a:bodyPr>
          <a:lstStyle/>
          <a:p>
            <a:pPr algn="r"/>
            <a:r>
              <a:rPr sz="1200" b="0" i="0">
                <a:solidFill>
                  <a:srgbClr val="D8F3DC"/>
                </a:solidFill>
                <a:latin typeface="Calibri"/>
              </a:rPr>
              <a:t>🔗  github.com/Rithvikteja123/chargespot</a:t>
            </a:r>
          </a:p>
        </p:txBody>
      </p:sp>
      <p:sp>
        <p:nvSpPr>
          <p:cNvPr id="18" name="TextBox 17"/>
          <p:cNvSpPr txBox="1"/>
          <p:nvPr/>
        </p:nvSpPr>
        <p:spPr>
          <a:xfrm>
            <a:off x="11731752" y="6537960"/>
            <a:ext cx="365760" cy="256032"/>
          </a:xfrm>
          <a:prstGeom prst="rect">
            <a:avLst/>
          </a:prstGeom>
          <a:noFill/>
        </p:spPr>
        <p:txBody>
          <a:bodyPr wrap="square">
            <a:spAutoFit/>
          </a:bodyPr>
          <a:lstStyle/>
          <a:p>
            <a:pPr algn="r"/>
            <a:r>
              <a:rPr sz="1000" b="0" i="0">
                <a:solidFill>
                  <a:srgbClr val="6C757D"/>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