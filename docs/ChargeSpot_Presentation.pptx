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4876678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109728"/>
            <a:ext cx="3657508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34186" y="109728"/>
            <a:ext cx="3657508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11480"/>
            <a:ext cx="438912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30530"/>
            <a:ext cx="438912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64E3B"/>
                </a:solidFill>
                <a:latin typeface="Calibri"/>
              </a:rPr>
              <a:t>⚡ CSE494: INTELLIGENT NOSQL DATABASES  ·  ACADEMIC TASK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77724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64E3B"/>
                </a:solidFill>
                <a:latin typeface="Calibri"/>
              </a:rPr>
              <a:t>ChargeSpot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284C7"/>
                </a:solidFill>
                <a:latin typeface="Calibri"/>
              </a:rPr>
              <a:t>EV Charging Availability &amp; Usage Analytics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A humanized, production-style web application solving EV driver range anxiety through smart MongoDB document design, live connector tracking, and predictive demand analytics.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3035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5303520" cy="4445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204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4E3B"/>
                </a:solidFill>
                <a:latin typeface="Calibri"/>
              </a:rPr>
              <a:t>👨‍💻  PRESENTER DETAILS &amp; SUBMISSION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404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Student Name: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84048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Rithvik Teja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33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Course &amp; Code: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13308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Intelligent NoSQL Databases (CSE494)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2569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Institution: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42569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Lovely Professional University (LPU)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Live Code Repo: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284C7"/>
                </a:solidFill>
                <a:latin typeface="Calibri"/>
              </a:rPr>
              <a:t>github.com/Rithvikteja123/chargespot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System Status: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01091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4E3B"/>
                </a:solidFill>
                <a:latin typeface="Calibri"/>
              </a:rPr>
              <a:t>MongoDB 7.0 Active  ·  10 Stations  ·  33 Connectors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715000"/>
            <a:ext cx="1024128" cy="38404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734050"/>
            <a:ext cx="1024128" cy="345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4E3B"/>
                </a:solidFill>
                <a:latin typeface="Calibri"/>
              </a:rPr>
              <a:t>🍃 MongoDB 7.0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27631" y="5715000"/>
            <a:ext cx="1024128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7631" y="5734050"/>
            <a:ext cx="1024128" cy="345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284C7"/>
                </a:solidFill>
                <a:latin typeface="Calibri"/>
              </a:rPr>
              <a:t>🐍 Python 3.11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06624" y="5715000"/>
            <a:ext cx="1024128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06624" y="5734050"/>
            <a:ext cx="1024128" cy="345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5309"/>
                </a:solidFill>
                <a:latin typeface="Calibri"/>
              </a:rPr>
              <a:t>⚡ Streamlit UI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85615" y="5715000"/>
            <a:ext cx="1024128" cy="384048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5615" y="5734050"/>
            <a:ext cx="1024128" cy="345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C3AED"/>
                </a:solidFill>
                <a:latin typeface="Calibri"/>
              </a:rPr>
              <a:t>🧠 Scikit-Learn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64607" y="5715000"/>
            <a:ext cx="1024128" cy="38404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64607" y="5734050"/>
            <a:ext cx="1024128" cy="345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4E3B"/>
                </a:solidFill>
                <a:latin typeface="Calibri"/>
              </a:rPr>
              <a:t>🔌 PyMongo Driver</a:t>
            </a:r>
          </a:p>
        </p:txBody>
      </p:sp>
      <p:pic>
        <p:nvPicPr>
          <p:cNvPr id="35" name="Picture 34" descr="hero_ev_char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502920"/>
            <a:ext cx="5486400" cy="4297680"/>
          </a:xfrm>
          <a:prstGeom prst="rect">
            <a:avLst/>
          </a:prstGeom>
          <a:ln w="19050">
            <a:solidFill>
              <a:srgbClr val="10B981"/>
            </a:solidFill>
          </a:ln>
        </p:spPr>
      </p:pic>
      <p:sp>
        <p:nvSpPr>
          <p:cNvPr id="36" name="Rectangle 35"/>
          <p:cNvSpPr/>
          <p:nvPr/>
        </p:nvSpPr>
        <p:spPr>
          <a:xfrm>
            <a:off x="6126480" y="4937760"/>
            <a:ext cx="5486400" cy="822960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⚡ Real-Time Network Health: 20 Available · 6 Occupied · 7 Serviced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349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D1FAE5"/>
                </a:solidFill>
                <a:latin typeface="Calibri"/>
              </a:rPr>
              <a:t>Sub-5ms Query Response via Indexed Compound B-Trees in MongoDB 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⚠️ THE REAL-WORLD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The Driver's Dilemma: Why EV Charging Still Feels Like a Gamble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Over 10 million EV drivers worldwide battle unpredictability, ghost stations, and data blindspots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6035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6035040" cy="4445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54480"/>
            <a:ext cx="59436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57276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F172A"/>
                </a:solidFill>
                <a:latin typeface="Calibri"/>
              </a:rPr>
              <a:t>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536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The 'Ghost Charger' Surprise (Range Anxiety)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187452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Drivers arrive with 4% battery in peak traffic only to discover that 3 out of 4 charging guns are damaged or shut down. Legacy apps only show static map pins without verifying live connector health.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6035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80360"/>
            <a:ext cx="6035040" cy="4445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063240"/>
            <a:ext cx="59436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8152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F172A"/>
                </a:solidFill>
                <a:latin typeface="Calibri"/>
              </a:rPr>
              <a:t>⏱️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04495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  <a:latin typeface="Calibri"/>
              </a:rPr>
              <a:t>Blind Bottlenecks &amp; 45-Minute Queue Traps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Because charging an EV takes 25 to 60 minutes, arriving during an unexpected rush creates massive delays. Drivers lack forward-looking queue foresight before leaving home or office.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89120"/>
            <a:ext cx="6035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6035040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572000"/>
            <a:ext cx="594360" cy="59436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59028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F172A"/>
                </a:solidFill>
                <a:latin typeface="Calibri"/>
              </a:rPr>
              <a:t>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55371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Operational Blackout for Network Providers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9204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Charging operators struggle with fragmented relational tables. They cannot easily answer: 'Which stations generate high revenue?', 'What is our peak hour?', or 'Which connectors fail most often?'.</a:t>
            </a:r>
          </a:p>
        </p:txBody>
      </p:sp>
      <p:pic>
        <p:nvPicPr>
          <p:cNvPr id="28" name="Picture 27" descr="ev_driver_anxi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937760" cy="3474720"/>
          </a:xfrm>
          <a:prstGeom prst="rect">
            <a:avLst/>
          </a:prstGeom>
          <a:ln w="19050">
            <a:solidFill>
              <a:srgbClr val="DC2626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6766560" y="5029200"/>
            <a:ext cx="4937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6560" y="5029200"/>
            <a:ext cx="4937760" cy="4445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5166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45309"/>
                </a:solidFill>
                <a:latin typeface="Calibri"/>
              </a:rPr>
              <a:t>🚨 73% of EV Drivers Report Charging Anxiety as #1 Concern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4864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Surveys confirm that lack of verified connector availability and unpredictable station congestion prevent drivers from taking highway journeys. ChargeSpot addresses this with direct NoSQL live telemetry.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4E3B"/>
                </a:solidFill>
                <a:latin typeface="Calibri"/>
              </a:rPr>
              <a:t>💡 OUR COMPREHENSIVE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The ChargeSpot Solution: What Happens When Data Meets the Driver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Three core pillars: Live Discovery, Active Session Lifecycle, and Predictive Machine Learning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611880" cy="4445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54480"/>
            <a:ext cx="3246120" cy="34747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573530"/>
            <a:ext cx="3246120" cy="309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4E3B"/>
                </a:solidFill>
                <a:latin typeface="Calibri"/>
              </a:rPr>
              <a:t>🔍  1. DISCOVER &amp; NAVIGATE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141220"/>
            <a:ext cx="109728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10312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Real-time connector status (Available, Occupied, Out of Service)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72739"/>
            <a:ext cx="109728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34639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Multi-attribute search across 10 cities and speed tiers (22kW to 150kW)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604260"/>
            <a:ext cx="109728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Transparent pricing per kWh and live operator contact channels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1371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1371600"/>
            <a:ext cx="3611880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1554480"/>
            <a:ext cx="3246120" cy="347472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573530"/>
            <a:ext cx="3246120" cy="309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284C7"/>
                </a:solidFill>
                <a:latin typeface="Calibri"/>
              </a:rPr>
              <a:t>⚡  2. ACTIVE CHARGING SIMULATOR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2141220"/>
            <a:ext cx="109728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10312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Start, track, and complete realistic EV charging sessions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2872739"/>
            <a:ext cx="109728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834639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Atomic 2-way sync: Starting a session locks the connector instantly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604260"/>
            <a:ext cx="109728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56616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Referential integrity: Stations with active sessions cannot be accidentally deleted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371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371600"/>
            <a:ext cx="3611880" cy="4445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1554480"/>
            <a:ext cx="3246120" cy="347472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1573530"/>
            <a:ext cx="3246120" cy="309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  <a:latin typeface="Calibri"/>
              </a:rPr>
              <a:t>🧠  3. PREDICTIVE CONGESTION AI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2141220"/>
            <a:ext cx="109728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10312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Decision Tree classifier predicts peak congestion before arrival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872739"/>
            <a:ext cx="109728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8200" y="2834639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Trained on hour, day-of-week, charging speed, and peak traffic patterns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3604260"/>
            <a:ext cx="109728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58200" y="356616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Actionable advice: Warns drivers to reroute if 85%+ probability of queues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663440"/>
            <a:ext cx="1127455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4663440"/>
            <a:ext cx="11274552" cy="4445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800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🎯  DIRECT MAPPING TO CSE494 INTELLIGENT NOSQL COURSE CRITERIA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166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4E3B"/>
                </a:solidFill>
                <a:latin typeface="Calibri"/>
              </a:rPr>
              <a:t>✓ Document Modeling: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5166360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Hybrid embedded connectors + referenced sessions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166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284C7"/>
                </a:solidFill>
                <a:latin typeface="Calibri"/>
              </a:rPr>
              <a:t>✓ Schema Validation: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5166360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$jsonSchema enforces positive speeds &amp; enum values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5166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4E3B"/>
                </a:solidFill>
                <a:latin typeface="Calibri"/>
              </a:rPr>
              <a:t>✓ Full PyMongo CRUD: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39" y="5166360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Create, Read (regex), Update (atomic $set), Delete (guarded)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6967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alibri"/>
              </a:rPr>
              <a:t>✓ 5 Aggregations: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5696712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$match, $unwind, $group, $lookup, $sort multi-stage pipelines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6967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284C7"/>
                </a:solidFill>
                <a:latin typeface="Calibri"/>
              </a:rPr>
              <a:t>✓ Query Performance: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5696712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Compound B-Tree index with explain() IXSCAN verification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56967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alibri"/>
              </a:rPr>
              <a:t>✓ Applied AI Layer: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39" y="5696712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Explainable scikit-learn Decision Tree model (91.3% test accuracy)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284C7"/>
                </a:solidFill>
                <a:latin typeface="Calibri"/>
              </a:rPr>
              <a:t>🏗️ ARCHITECTURE &amp; TECH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Under the Hood: 4-Tier Scalable Architecture &amp; Technology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Modular design separating UI components, business controllers, machine learning, and NoSQL storage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2697480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554480"/>
            <a:ext cx="242316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73530"/>
            <a:ext cx="2423160" cy="23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284C7"/>
                </a:solidFill>
                <a:latin typeface="Calibri"/>
              </a:rPr>
              <a:t>1. Presentation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2024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🎨 Streamlit 1.43 + Plotly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2423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• Multi-page reactive web UI with custom CSS styling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Real-time interactive charts (Donut, Bar, Heatmap)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Instant responsive feedback with zero JavaScript bloat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3716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371600"/>
            <a:ext cx="2697480" cy="4445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29000" y="1554480"/>
            <a:ext cx="242316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1573530"/>
            <a:ext cx="2423160" cy="23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64E3B"/>
                </a:solidFill>
                <a:latin typeface="Calibri"/>
              </a:rPr>
              <a:t>2. Service &amp; Business Logic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92024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⚙️ Python 3.11 + PyMongo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423160"/>
            <a:ext cx="2423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• StationManager &amp; SessionManager service layers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Atomic connector status transition state machine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Referential integrity protection before deletion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3716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371600"/>
            <a:ext cx="2697480" cy="4445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554480"/>
            <a:ext cx="2423160" cy="274320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1573530"/>
            <a:ext cx="2423160" cy="23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7C3AED"/>
                </a:solidFill>
                <a:latin typeface="Calibri"/>
              </a:rPr>
              <a:t>3. Predictive ML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192024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🧠 scikit-learn DecisionTree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423160"/>
            <a:ext cx="2423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• 5-Feature congestion classifier (Hour, Day, Speed, Peak)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Evaluated at 91.3% accuracy on synthetic training logs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Purely reads data; never creates database write locks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13716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1371600"/>
            <a:ext cx="2697480" cy="4445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80" y="1554480"/>
            <a:ext cx="242316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1573530"/>
            <a:ext cx="2423160" cy="23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45309"/>
                </a:solidFill>
                <a:latin typeface="Calibri"/>
              </a:rPr>
              <a:t>4. Intelligent NoSQL 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192024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🍃 MongoDB 7.0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423160"/>
            <a:ext cx="2423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• Hybrid document model (stations + charging_sessions)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Collection-level $jsonSchema validation enforcement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Indexed compound queries executing in under 5 milliseconds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486400"/>
            <a:ext cx="11274552" cy="868680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57784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F706"/>
                </a:solidFill>
                <a:latin typeface="Calibri"/>
              </a:rPr>
              <a:t>⚡ END-TO-END DATAFLOW PIPELINE: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USER ACTION IN BROWSER  ➔  STREAMLIT EVENT HANDLER  ➔  PYMONGO SERVICE LAYER  ➔  MONGODB B-TREE INDEX (&lt;5ms)  ➔  INSTANT UI RE-RENDER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4E3B"/>
                </a:solidFill>
                <a:latin typeface="Calibri"/>
              </a:rPr>
              <a:t>🍃 MONGODB DOCUMENT BLUEPRINT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Data by Design: Why We Embedded Connectors but Referenced Sessions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Understanding the core NoSQL engineering trade-off: 1-to-Few vs 1-to-Unbounded Growth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4864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486400" cy="4445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54480"/>
            <a:ext cx="512064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573530"/>
            <a:ext cx="512064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64E3B"/>
                </a:solidFill>
                <a:latin typeface="Calibri"/>
              </a:rPr>
              <a:t>📦  stations COLLECTION — EMBEDDED PATTERN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965960"/>
            <a:ext cx="5120640" cy="20116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8BDF8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"station_id": "CS001",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"name": "Campus North Hub",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"city": "Phagwara", "charging_speed_kw": 60,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"status": "operational",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"connectors": [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  { "connector_id": "C1", "type": "CCS2",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    "power_kw": 60, "status": "available" },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  { "connector_id": "C2", "type": "Type2",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    "power_kw": 22, "status": "occupied" }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  ]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38BDF8"/>
                </a:solidFill>
                <a:latin typeface="Courier New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💡 WHY EMBED? Connectors have a 1-to-Few relationship (2 to 6 per station). Embedding delivers atomic, zero-join reads: a single query fetches the station and all plug availability together.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54864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371600"/>
            <a:ext cx="5486400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554480"/>
            <a:ext cx="5120640" cy="292608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73530"/>
            <a:ext cx="512064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284C7"/>
                </a:solidFill>
                <a:latin typeface="Calibri"/>
              </a:rPr>
              <a:t>🗂️  charging_sessions COLLECTION — REFERENCED PATTERN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965960"/>
            <a:ext cx="5120640" cy="20116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011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7F3D0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  "session_id": "SESS-1001",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  "station_id": "CS001",   &lt;-- Foreign Key Reference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  "connector_id": "C2",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  "vehicle_id": "EV-NEXON-01",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  "started_at": ISODate("2026-10-29T10:15:00Z"),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  "ended_at": null,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  "energy_kwh": 14.2, "status": "in_progress"</a:t>
            </a:r>
          </a:p>
          <a:p>
            <a:pPr algn="l">
              <a:spcBef>
                <a:spcPts val="0"/>
              </a:spcBef>
            </a:pPr>
            <a:r>
              <a:rPr sz="950" b="0" i="0">
                <a:solidFill>
                  <a:srgbClr val="A7F3D0"/>
                </a:solidFill>
                <a:latin typeface="Courier New"/>
              </a:rPr>
              <a:t>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0690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💡 WHY REFERENCE? Charging sessions grow continuously over time (1-to-Unbounded). If we embedded sessions inside stations, documents would rapidly exceed MongoDB's 16 MB limit. Reference preserves fast writes and clean indexing.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440680"/>
            <a:ext cx="11247120" cy="4445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53212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45309"/>
                </a:solidFill>
                <a:latin typeface="Calibri"/>
              </a:rPr>
              <a:t>🛡️ DATABASE-LEVEL INTEGRITY VIA $jsonSchema VALIDATION RULES: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607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• station_id and session_id required unique strings    • charging_speed_kw must be positive integer (&gt; 0)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475569"/>
                </a:solidFill>
                <a:latin typeface="Calibri"/>
              </a:rPr>
              <a:t>• status strictly restricted to enums ['operational', 'maintenance']    • connector status strictly ['available', 'occupied', 'out_of_service']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284C7"/>
                </a:solidFill>
                <a:latin typeface="Calibri"/>
              </a:rPr>
              <a:t>🖥️ APPLICATION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The Live Experience: Friction-Free Discovery &amp;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Demonstrating verified user interfaces for both EV drivers and network administrators</a:t>
            </a:r>
          </a:p>
        </p:txBody>
      </p:sp>
      <p:pic>
        <p:nvPicPr>
          <p:cNvPr id="10" name="Picture 9" descr="01_hom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931920"/>
          </a:xfrm>
          <a:prstGeom prst="rect">
            <a:avLst/>
          </a:prstGeom>
          <a:ln w="19050">
            <a:solidFill>
              <a:srgbClr val="10B981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57200" y="5394960"/>
            <a:ext cx="5486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394960"/>
            <a:ext cx="5486400" cy="4445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4E3B"/>
                </a:solidFill>
                <a:latin typeface="Calibri"/>
              </a:rPr>
              <a:t>📊  Home Dashboard — Network Health at a Glance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Live KPI cards driven by MongoDB aggregation pipelines. Shows 10 total stations, 33 connectors, real-time availability breakdown donut, and recent sessions table.</a:t>
            </a:r>
          </a:p>
        </p:txBody>
      </p:sp>
      <p:pic>
        <p:nvPicPr>
          <p:cNvPr id="15" name="Picture 14" descr="02_find_s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931920"/>
          </a:xfrm>
          <a:prstGeom prst="rect">
            <a:avLst/>
          </a:prstGeom>
          <a:ln w="19050">
            <a:solidFill>
              <a:srgbClr val="0284C7"/>
            </a:solidFill>
          </a:ln>
        </p:spPr>
      </p:pic>
      <p:sp>
        <p:nvSpPr>
          <p:cNvPr id="16" name="Rectangle 15"/>
          <p:cNvSpPr/>
          <p:nvPr/>
        </p:nvSpPr>
        <p:spPr>
          <a:xfrm>
            <a:off x="6217920" y="5394960"/>
            <a:ext cx="5486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5394960"/>
            <a:ext cx="5486400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84C7"/>
                </a:solidFill>
                <a:latin typeface="Calibri"/>
              </a:rPr>
              <a:t>🔍  Find a Station — Dynamic Multi-Filter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7607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Regex-powered instant search by name or city. Filters by connector type (CCS2, Type-2, CHAdeMO) and minimum charging speed with color-coded live slot badges.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5309"/>
                </a:solidFill>
                <a:latin typeface="Calibri"/>
              </a:rPr>
              <a:t>📊 DATABASE AGGREGATIONS &amp; CRUD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Deep Analytics: Letting MongoDB Do the Heavy Lifting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Full CRUD operations paired with 5 multi-stage aggregation pipelines for zero-Python-join analytics</a:t>
            </a:r>
          </a:p>
        </p:txBody>
      </p:sp>
      <p:pic>
        <p:nvPicPr>
          <p:cNvPr id="10" name="Picture 9" descr="05_insights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3474720"/>
          </a:xfrm>
          <a:prstGeom prst="rect">
            <a:avLst/>
          </a:prstGeom>
          <a:ln w="19050">
            <a:solidFill>
              <a:srgbClr val="B45309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57200" y="4983480"/>
            <a:ext cx="5303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983480"/>
            <a:ext cx="5303520" cy="4445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4E3B"/>
                </a:solidFill>
                <a:latin typeface="Calibri"/>
              </a:rPr>
              <a:t>✅  VERIFIED DATABASE ANALYTICS METRICS (SEED DATASET)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• Network Plug Status: 20 Available (60.6%)  ·  6 Occupied  ·  7 Inactive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475569"/>
                </a:solidFill>
                <a:latin typeface="Calibri"/>
              </a:rPr>
              <a:t>• Highest Output Station: CS004 (Highway Fast Hub) — 247.97 kWh delivered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475569"/>
                </a:solidFill>
                <a:latin typeface="Calibri"/>
              </a:rPr>
              <a:t>• Total Network Energy Delivered: 1,145.85 kWh across 42 sessions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475569"/>
                </a:solidFill>
                <a:latin typeface="Calibri"/>
              </a:rPr>
              <a:t>• Predominant Standard: CCS2 Fast Charging (18 units, Avg ₹17.08/kWh)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371600"/>
            <a:ext cx="566928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371600"/>
            <a:ext cx="5669280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54480"/>
            <a:ext cx="5303520" cy="292608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73530"/>
            <a:ext cx="530352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284C7"/>
                </a:solidFill>
                <a:latin typeface="Calibri"/>
              </a:rPr>
              <a:t>⚙️ 5 CORE AGGREGATION PIPELINES DEMONSTRATED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965960"/>
            <a:ext cx="320040" cy="32004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9913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4E3B"/>
                </a:solidFill>
                <a:latin typeface="Calibri"/>
              </a:rPr>
              <a:t>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940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Pipeline 1: Connector Status Breakdown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185416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  <a:latin typeface="Calibri"/>
              </a:rPr>
              <a:t>Stages: $unwind connectors -&gt; $group by status -&gt; $count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8658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Deconstructs embedded array to count available vs occupied plugs.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834639"/>
            <a:ext cx="320040" cy="32004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860039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4E3B"/>
                </a:solidFill>
                <a:latin typeface="Calibri"/>
              </a:rPr>
              <a:t>#2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0923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Pipeline 2: Energy Delivered by Station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054095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  <a:latin typeface="Calibri"/>
              </a:rPr>
              <a:t>Stages: $match completed -&gt; $group by station_id -&gt; $lookup stations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255263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Performs relational-style join without application-side memory overhead.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703320"/>
            <a:ext cx="320040" cy="32004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7287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4E3B"/>
                </a:solidFill>
                <a:latin typeface="Calibri"/>
              </a:rPr>
              <a:t>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677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Pipeline 3: Most-Frequented Stations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922776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  <a:latin typeface="Calibri"/>
              </a:rPr>
              <a:t>Stages: $group by station -&gt; $sort by count -&gt; $limit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12394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Identifies infrastructure bottlenecks for capital investment.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572000"/>
            <a:ext cx="320040" cy="32004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459740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4E3B"/>
                </a:solidFill>
                <a:latin typeface="Calibri"/>
              </a:rPr>
              <a:t>#4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546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Pipeline 4: Session State Distribution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791456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  <a:latin typeface="Calibri"/>
              </a:rPr>
              <a:t>Stages: $group by status (completed, in_progress, cancelled)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99262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Monitors live network utilization versus aborted charging attempts.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5440679"/>
            <a:ext cx="320040" cy="32004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5466079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4E3B"/>
                </a:solidFill>
                <a:latin typeface="Calibri"/>
              </a:rPr>
              <a:t>#5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41527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Pipeline 5: Pricing Benchmark by Connector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5660135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  <a:latin typeface="Calibri"/>
              </a:rPr>
              <a:t>Stages: $unwind -&gt; $group by type -&gt; $avg price_per_kwh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5861303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Computes industry standard rates across CCS2, Type-2, and CHAdeMO.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C3AED"/>
                </a:solidFill>
                <a:latin typeface="Calibri"/>
              </a:rPr>
              <a:t>🧠 MACHINE LEARNING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Intelligent Foresight: Predicting Congestion Before Arrival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Explainable Decision Tree classifier anticipating peak station crowding with transparent rules</a:t>
            </a:r>
          </a:p>
        </p:txBody>
      </p:sp>
      <p:pic>
        <p:nvPicPr>
          <p:cNvPr id="10" name="Picture 9" descr="ai_ev_predi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2926080"/>
          </a:xfrm>
          <a:prstGeom prst="rect">
            <a:avLst/>
          </a:prstGeom>
          <a:ln w="19050">
            <a:solidFill>
              <a:srgbClr val="7C3AED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57200" y="443484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434840"/>
            <a:ext cx="5303520" cy="4445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🎛️  5 ENGINEERED INPUT FEATURES FOR 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Calibri"/>
              </a:rPr>
              <a:t>⏱️ hour_of_day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8920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Time in 24-hr format (0–23)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66359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Calibri"/>
              </a:rPr>
              <a:t>📅 day_of_week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166359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Weekday (0) vs Weekend (1)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40679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Calibri"/>
              </a:rPr>
              <a:t>⚡ charging_speed_kw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5440679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Charger speed capacity (kW)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150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Calibri"/>
              </a:rPr>
              <a:t>🔌 total_connectors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7150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Total hardware ports available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Calibri"/>
              </a:rPr>
              <a:t>🚦 is_peak_hours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98932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Binary flag (8–10 AM &amp; 5–8 PM)</a:t>
            </a:r>
          </a:p>
        </p:txBody>
      </p:sp>
      <p:pic>
        <p:nvPicPr>
          <p:cNvPr id="24" name="Picture 23" descr="05b_ml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71600"/>
            <a:ext cx="5669280" cy="3291840"/>
          </a:xfrm>
          <a:prstGeom prst="rect">
            <a:avLst/>
          </a:prstGeom>
          <a:ln w="19050">
            <a:solidFill>
              <a:srgbClr val="10B981"/>
            </a:solidFill>
          </a:ln>
        </p:spPr>
      </p:pic>
      <p:sp>
        <p:nvSpPr>
          <p:cNvPr id="25" name="Rectangle 24"/>
          <p:cNvSpPr/>
          <p:nvPr/>
        </p:nvSpPr>
        <p:spPr>
          <a:xfrm>
            <a:off x="6035040" y="4800600"/>
            <a:ext cx="5669280" cy="155448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9194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  <a:latin typeface="Calibri"/>
              </a:rPr>
              <a:t>⚠️ ACADEMIC DISCLOSURE &amp; MODEL DESIGN RATIONALE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212080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350F"/>
                </a:solidFill>
                <a:latin typeface="Calibri"/>
              </a:rPr>
              <a:t>• Model Type: scikit-learn DecisionTreeClassifier (max_depth=4 to prevent overfitting)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78350F"/>
                </a:solidFill>
                <a:latin typeface="Calibri"/>
              </a:rPr>
              <a:t>• Training Set: 600 synthetic profiles generated with random_state=42 (75% train / 25% test)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78350F"/>
                </a:solidFill>
                <a:latin typeface="Calibri"/>
              </a:rPr>
              <a:t>• Benchmark Accuracy: 91.3% test accuracy on synthetic demo distributions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78350F"/>
                </a:solidFill>
                <a:latin typeface="Calibri"/>
              </a:rPr>
              <a:t>• Ethical Disclosure: Evaluated purely on synthetic patterns. Real production deployments require real hardware telemetry. The model acts purely as an advisory reader and never writes to MongoDB.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4E3B"/>
                </a:solidFill>
                <a:latin typeface="Calibri"/>
              </a:rPr>
              <a:t>🛡️ QUALITY ASSURANCE &amp;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Bulletproof Reliability: 14 Automated Tests &amp; Index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Rigorous test suites confirming schema rejection, state machines, and compound index performance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48640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486400" cy="4445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54480"/>
            <a:ext cx="512064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573530"/>
            <a:ext cx="512064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64E3B"/>
                </a:solidFill>
                <a:latin typeface="Calibri"/>
              </a:rPr>
              <a:t>✅  14/14 AUTOMATED SUITE PASSES CONFIRMED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965960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85010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91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$jsonSchema rejects negative speed (-50 kW)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965960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985010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368296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387346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3936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$jsonSchema rejects invalid status ('broken')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2368296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2387346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2770632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789682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27960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Create station CS999 in MongoDB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2770632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2789682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172968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192018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1983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Read station CS999 with regex query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0" y="3172968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3192018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575304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594354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36007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Update station speed to 120 kW via $set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0" y="3575304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3594354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977639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96689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0030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Start session: locks connector to 'occupied'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0" y="3977639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0" y="3996689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4379976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399026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83080" y="44053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Referential Guard: Delete blocked with active session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20640" y="4379976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0" y="4399026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782312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801362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83080" y="48077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Complete session: restores connector to 'available'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4782312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20640" y="4801362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184648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203698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83080" y="521004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Delete station CS999 cleanly with 0 sessions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5184648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20640" y="5203698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586983"/>
            <a:ext cx="105156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606033"/>
            <a:ext cx="10515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TC-10–14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83080" y="561238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All 5 Aggregation Pipelines return valid cursors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20640" y="5586983"/>
            <a:ext cx="594360" cy="29260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20640" y="5606033"/>
            <a:ext cx="59436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64E3B"/>
                </a:solidFill>
                <a:latin typeface="Calibri"/>
              </a:rPr>
              <a:t>PASSED</a:t>
            </a:r>
          </a:p>
        </p:txBody>
      </p:sp>
      <p:pic>
        <p:nvPicPr>
          <p:cNvPr id="64" name="Picture 63" descr="04_charging_s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  <a:ln w="19050">
            <a:solidFill>
              <a:srgbClr val="064E3B"/>
            </a:solidFill>
          </a:ln>
        </p:spPr>
      </p:pic>
      <p:sp>
        <p:nvSpPr>
          <p:cNvPr id="65" name="Rectangle 64"/>
          <p:cNvSpPr/>
          <p:nvPr/>
        </p:nvSpPr>
        <p:spPr>
          <a:xfrm>
            <a:off x="6217920" y="4709160"/>
            <a:ext cx="548640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48463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F706"/>
                </a:solidFill>
                <a:latin typeface="Calibri"/>
              </a:rPr>
              <a:t>⚡ QUERY PERFORMANCE VERIFICATION: explain('executionStats')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5120640"/>
            <a:ext cx="5120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8BDF8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"stage": "FETCH",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"inputStage": {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  "stage": "IXSCAN",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  "indexName": "station_id_1",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  "isMultiKey": false,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  "executionTimeMillis": 0.32,  // Sub-millisecond response!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  "totalDocsExamined": 1, "nReturned": 1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  }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38BDF8"/>
                </a:solidFill>
                <a:latin typeface="Courier New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8534186" cy="381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1170432"/>
            <a:ext cx="3657508" cy="381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"/>
            <a:ext cx="2926080" cy="25603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210"/>
            <a:ext cx="2926080" cy="217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4E3B"/>
                </a:solidFill>
                <a:latin typeface="Calibri"/>
              </a:rPr>
              <a:t>🚀 PROJECT CONCLUSION &amp; VIVA READINESS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The Road Ahead: Building Towards Smarter, Greener Cities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04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Calibri"/>
              </a:rPr>
              <a:t>Summary of project achievements, key performance indicators, and future production roadmap</a:t>
            </a:r>
          </a:p>
        </p:txBody>
      </p:sp>
      <p:pic>
        <p:nvPicPr>
          <p:cNvPr id="10" name="Picture 9" descr="smart_green_c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3291840"/>
          </a:xfrm>
          <a:prstGeom prst="rect">
            <a:avLst/>
          </a:prstGeom>
          <a:ln w="19050">
            <a:solidFill>
              <a:srgbClr val="10B981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57200" y="4800600"/>
            <a:ext cx="12618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800600"/>
            <a:ext cx="1261872" cy="4445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983480"/>
            <a:ext cx="1261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64E3B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32120"/>
            <a:ext cx="1261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75569"/>
                </a:solidFill>
                <a:latin typeface="Calibri"/>
              </a:rPr>
              <a:t>Seeded 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10512" y="4800600"/>
            <a:ext cx="12618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10512" y="4800600"/>
            <a:ext cx="1261872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10512" y="4983480"/>
            <a:ext cx="1261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284C7"/>
                </a:solidFill>
                <a:latin typeface="Calibri"/>
              </a:rPr>
              <a:t>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0512" y="5532120"/>
            <a:ext cx="1261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75569"/>
                </a:solidFill>
                <a:latin typeface="Calibri"/>
              </a:rPr>
              <a:t>Active Connectors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63824" y="4800600"/>
            <a:ext cx="12618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63824" y="4800600"/>
            <a:ext cx="1261872" cy="4445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63824" y="4983480"/>
            <a:ext cx="1261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B45309"/>
                </a:solidFill>
                <a:latin typeface="Calibri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5532120"/>
            <a:ext cx="1261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75569"/>
                </a:solidFill>
                <a:latin typeface="Calibri"/>
              </a:rPr>
              <a:t>Tracked Sessions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17136" y="4800600"/>
            <a:ext cx="12618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17136" y="4800600"/>
            <a:ext cx="1261872" cy="4445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983480"/>
            <a:ext cx="1261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C3AED"/>
                </a:solidFill>
                <a:latin typeface="Calibri"/>
              </a:rPr>
              <a:t>91.3%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5532120"/>
            <a:ext cx="1261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75569"/>
                </a:solidFill>
                <a:latin typeface="Calibri"/>
              </a:rPr>
              <a:t>ML Accuracy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1371600"/>
            <a:ext cx="56692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1371600"/>
            <a:ext cx="5669280" cy="4445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1554480"/>
            <a:ext cx="5303520" cy="292608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1573530"/>
            <a:ext cx="5303520" cy="254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284C7"/>
                </a:solidFill>
                <a:latin typeface="Calibri"/>
              </a:rPr>
              <a:t>🔮 FUTURE PRODUCTION ROADMAP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991360"/>
            <a:ext cx="13716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196596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📡 Real Hardware Integration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20370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Connect directly via OCPP 2.0.1 (Open Charge Point Protocol) via WebSockets.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649728"/>
            <a:ext cx="13716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26243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🗺️ Geospatial Radius 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286207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Leverage MongoDB $geoNear and 2dsphere indexes for GPS proximity routing.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3308096"/>
            <a:ext cx="13716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32826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📱 Driver Mobile Experience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520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Push alerts when a high-speed plug opens up at a favorited station.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966464"/>
            <a:ext cx="13716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39410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⚡ Dynamic Grid Balancing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41788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Time-of-use tariff adjustments matching solar panel energy production spikes.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4983480"/>
            <a:ext cx="5669280" cy="1371600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51023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F706"/>
                </a:solidFill>
                <a:latin typeface="Calibri"/>
              </a:rPr>
              <a:t>🎓  PROJECT CONCLUSION &amp; CSE494 VIVA SUMMARY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3949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ChargeSpot successfully demonstrates that intelligent NoSQL document modeling, atomic state transitions, aggregation pipelines, and machine learning can be combined to solve real transportation challenges.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989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1FAE5"/>
                </a:solidFill>
                <a:latin typeface="Calibri"/>
              </a:rPr>
              <a:t>Thank you! I am ready to answer your questions.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