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professors and evaluators. My name is Rithvik Teja, and today I am excited to present ChargeSpot — an EV Charging Availability and Usage Analytics System that I built for CSE494.</a:t>
            </a:r>
          </a:p>
          <a:p/>
          <a:p>
            <a:r>
              <a:t>As electric vehicles become mainstream across India, drivers face a very real problem: pulling up to a charging station with low battery only to find broken connectors or 45-minute queues. ChargeSpot solves this by combining an intelligent MongoDB document design with real-time PyMongo tracking and machine learning.</a:t>
            </a:r>
          </a:p>
          <a:p/>
          <a:p>
            <a:r>
              <a:t>Let me walk you through the problem, the database architecture, and a live demonstration of our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understand why ChargeSpot matters, imagine you are driving an EV at 8 PM after a long workday. Your battery indicator turns red at 4%. You navigate to a nearby station shown on Google Maps. When you arrive, both fast chargers are occupied, and the third is broken. This is the 'Ghost Charger' problem.</a:t>
            </a:r>
          </a:p>
          <a:p/>
          <a:p>
            <a:r>
              <a:t>Traditional relational databases make tracking nested real-time equipment status slow and prone to locks. ChargeSpot was built specifically to eliminate this anxiety through atomic document updates and machine learning.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makes ChargeSpot unique: it satisfies real driver needs while systematically fulfilling every single requirement of our CSE494 course syllabus.</a:t>
            </a:r>
          </a:p>
          <a:p/>
          <a:p>
            <a:r>
              <a:t>On the practical side, users can search stations, monitor active plugs, simulate live charging sessions, and predict wait times. On the academic side, it implements schema validation, atomic PyMongo updates, five multi-stage aggregation pipelines, and machine learning. Everything you see is verifiable in code.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you see our 4-tier architecture. At the top, Streamlit delivers an interactive web interface with Plotly charts. The Python service layer acts as the controller, managing business rules like locking a connector when a session starts. Our scikit-learn model runs side-by-side to provide instant busy-hour predictions. And at the foundation is MongoDB 7.0, handling all persistence and aggregations with sub-5 millisecond response times.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common viva question is: 'Why not embed everything in MongoDB?' Here is the exact architectural reason:</a:t>
            </a:r>
          </a:p>
          <a:p/>
          <a:p>
            <a:r>
              <a:t>Connectors are embedded because every station has only two to six connectors — this is a classic 1-to-Few pattern. Fetching a station gives us all plug statuses in one single atomic disk read.</a:t>
            </a:r>
          </a:p>
          <a:p/>
          <a:p>
            <a:r>
              <a:t>However, charging sessions represent an unbounded 1-to-Many relationship. A busy station can have thousands of sessions. If we embedded them inside the station document, we would soon hit MongoDB's 16MB document size limit. Therefore, we reference station_id and join them cleanly during analytics using $lookup.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you can see actual screenshots of our running application. On the left is the Home Dashboard. Notice the high-level KPI cards and the live status donut chart. These aren't static mockups — they query MongoDB directly when the page loads.</a:t>
            </a:r>
          </a:p>
          <a:p/>
          <a:p>
            <a:r>
              <a:t>On the right is the Find a Station module. Drivers can filter by city, minimum charging speed, or connector standard. Each card displays clear, color-coded badges showing available, occupied, or out-of-service ports.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Examiners frequently test aggregation pipelines in viva. In ChargeSpot, we wrote five pipelines. The most advanced is Pipeline 2. Instead of pulling all records into Python and looping over them, we let MongoDB execute a multi-stage pipeline: filtering completed sessions with $match, grouping total energy, and performing a $lookup join with the stations collection to fetch station names.</a:t>
            </a:r>
          </a:p>
          <a:p/>
          <a:p>
            <a:r>
              <a:t>This demonstrates that all data processing remains inside the database engine, adhering to optimal NoSQL performance standards.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our course, the faculty requested a machine learning component. I chose a Decision Tree classifier specifically because it is interpretable — it avoids the 'black-box' opacity of neural networks. During a viva, I can show the exact split conditions, such as 'is it between 5 PM and 8 PM on a weekday?'</a:t>
            </a:r>
          </a:p>
          <a:p/>
          <a:p>
            <a:r>
              <a:t>I trained it on 600 synthetic charging profiles using 5 features. It achieved 91.3% test accuracy. In our live app, drivers can input their departure time and station type, and the model instantly warns them whether they should expect an open charger or high queue congestion.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Reliability is crucial for this project. We wrote automated test suites covering all four CRUD operations, schema rejection, and lifecycle synchronization. Test 7 specifically verifies referential integrity: if you try to delete a charging station while a car is actively plugged into it, the system rejects the operation.</a:t>
            </a:r>
          </a:p>
          <a:p/>
          <a:p>
            <a:r>
              <a:t>On the performance side, we ran PyMongo's explain() method. The query planner confirmed an IXSCAN using our compound B-Tree index, executing in just 0.32 milliseconds. This proves O(log N) efficiency over full collection COLLSCAN.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ChargeSpot demonstrates a complete, end-to-end implementation of an intelligent NoSQL database system. We achieved hybrid document modeling, collection-level validation, compound index performance, five aggregation pipelines, and an explainable machine learning module.</a:t>
            </a:r>
          </a:p>
          <a:p/>
          <a:p>
            <a:r>
              <a:t>In the future, this system could be connected to real OCPP chargers and utilize MongoDB 2dsphere indexes for live GPS navigation. Thank you so much for your time and attention. I look forward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4876678" cy="381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876678" y="109728"/>
            <a:ext cx="3657508" cy="381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534186" y="109728"/>
            <a:ext cx="3657508" cy="381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411480"/>
            <a:ext cx="4389120" cy="292608"/>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430530"/>
            <a:ext cx="4389120" cy="254508"/>
          </a:xfrm>
          <a:prstGeom prst="rect">
            <a:avLst/>
          </a:prstGeom>
          <a:noFill/>
        </p:spPr>
        <p:txBody>
          <a:bodyPr wrap="square">
            <a:spAutoFit/>
          </a:bodyPr>
          <a:lstStyle/>
          <a:p>
            <a:pPr algn="ctr"/>
            <a:r>
              <a:rPr sz="1000" b="1" i="0">
                <a:solidFill>
                  <a:srgbClr val="064E3B"/>
                </a:solidFill>
                <a:latin typeface="Calibri"/>
              </a:rPr>
              <a:t>⚡ CSE494: INTELLIGENT NOSQL DATABASES  ·  ACADEMIC TASK 2</a:t>
            </a:r>
          </a:p>
        </p:txBody>
      </p:sp>
      <p:sp>
        <p:nvSpPr>
          <p:cNvPr id="9" name="TextBox 8"/>
          <p:cNvSpPr txBox="1"/>
          <p:nvPr/>
        </p:nvSpPr>
        <p:spPr>
          <a:xfrm>
            <a:off x="502920" y="777240"/>
            <a:ext cx="5303520" cy="1005840"/>
          </a:xfrm>
          <a:prstGeom prst="rect">
            <a:avLst/>
          </a:prstGeom>
          <a:noFill/>
        </p:spPr>
        <p:txBody>
          <a:bodyPr wrap="square">
            <a:spAutoFit/>
          </a:bodyPr>
          <a:lstStyle/>
          <a:p>
            <a:pPr algn="l"/>
            <a:r>
              <a:rPr sz="5200" b="1" i="0">
                <a:solidFill>
                  <a:srgbClr val="064E3B"/>
                </a:solidFill>
                <a:latin typeface="Calibri"/>
              </a:rPr>
              <a:t>ChargeSpot</a:t>
            </a:r>
          </a:p>
        </p:txBody>
      </p:sp>
      <p:sp>
        <p:nvSpPr>
          <p:cNvPr id="10" name="TextBox 9"/>
          <p:cNvSpPr txBox="1"/>
          <p:nvPr/>
        </p:nvSpPr>
        <p:spPr>
          <a:xfrm>
            <a:off x="548640" y="1783080"/>
            <a:ext cx="5303520" cy="502920"/>
          </a:xfrm>
          <a:prstGeom prst="rect">
            <a:avLst/>
          </a:prstGeom>
          <a:noFill/>
        </p:spPr>
        <p:txBody>
          <a:bodyPr wrap="square">
            <a:spAutoFit/>
          </a:bodyPr>
          <a:lstStyle/>
          <a:p>
            <a:pPr algn="l"/>
            <a:r>
              <a:rPr sz="1800" b="1" i="0">
                <a:solidFill>
                  <a:srgbClr val="0284C7"/>
                </a:solidFill>
                <a:latin typeface="Calibri"/>
              </a:rPr>
              <a:t>EV Charging Availability &amp; Usage Analytics System</a:t>
            </a:r>
          </a:p>
        </p:txBody>
      </p:sp>
      <p:sp>
        <p:nvSpPr>
          <p:cNvPr id="11" name="TextBox 10"/>
          <p:cNvSpPr txBox="1"/>
          <p:nvPr/>
        </p:nvSpPr>
        <p:spPr>
          <a:xfrm>
            <a:off x="548640" y="2377440"/>
            <a:ext cx="5303520" cy="822960"/>
          </a:xfrm>
          <a:prstGeom prst="rect">
            <a:avLst/>
          </a:prstGeom>
          <a:noFill/>
        </p:spPr>
        <p:txBody>
          <a:bodyPr wrap="square">
            <a:spAutoFit/>
          </a:bodyPr>
          <a:lstStyle/>
          <a:p>
            <a:pPr algn="l"/>
            <a:r>
              <a:rPr sz="1300" b="0" i="0">
                <a:solidFill>
                  <a:srgbClr val="475569"/>
                </a:solidFill>
                <a:latin typeface="Calibri"/>
              </a:rPr>
              <a:t>A humanized, production-style web application solving EV driver range anxiety through smart MongoDB document design, live connector tracking, and predictive demand analytics.</a:t>
            </a:r>
          </a:p>
        </p:txBody>
      </p:sp>
      <p:sp>
        <p:nvSpPr>
          <p:cNvPr id="12" name="Rectangle 11"/>
          <p:cNvSpPr/>
          <p:nvPr/>
        </p:nvSpPr>
        <p:spPr>
          <a:xfrm>
            <a:off x="548640" y="3337560"/>
            <a:ext cx="5303520" cy="21031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337560"/>
            <a:ext cx="5303520" cy="44450"/>
          </a:xfrm>
          <a:prstGeom prst="rect">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520440"/>
            <a:ext cx="4937760" cy="274320"/>
          </a:xfrm>
          <a:prstGeom prst="rect">
            <a:avLst/>
          </a:prstGeom>
          <a:noFill/>
        </p:spPr>
        <p:txBody>
          <a:bodyPr wrap="square">
            <a:spAutoFit/>
          </a:bodyPr>
          <a:lstStyle/>
          <a:p>
            <a:pPr algn="l"/>
            <a:r>
              <a:rPr sz="1100" b="1" i="0">
                <a:solidFill>
                  <a:srgbClr val="064E3B"/>
                </a:solidFill>
                <a:latin typeface="Calibri"/>
              </a:rPr>
              <a:t>👨‍💻  PRESENTER DETAILS &amp; SUBMISSION</a:t>
            </a:r>
          </a:p>
        </p:txBody>
      </p:sp>
      <p:sp>
        <p:nvSpPr>
          <p:cNvPr id="15" name="TextBox 14"/>
          <p:cNvSpPr txBox="1"/>
          <p:nvPr/>
        </p:nvSpPr>
        <p:spPr>
          <a:xfrm>
            <a:off x="731520" y="3840480"/>
            <a:ext cx="1554480" cy="256032"/>
          </a:xfrm>
          <a:prstGeom prst="rect">
            <a:avLst/>
          </a:prstGeom>
          <a:noFill/>
        </p:spPr>
        <p:txBody>
          <a:bodyPr wrap="square">
            <a:spAutoFit/>
          </a:bodyPr>
          <a:lstStyle/>
          <a:p>
            <a:pPr algn="l"/>
            <a:r>
              <a:rPr sz="1100" b="1" i="0">
                <a:solidFill>
                  <a:srgbClr val="0F172A"/>
                </a:solidFill>
                <a:latin typeface="Calibri"/>
              </a:rPr>
              <a:t>Student Name:</a:t>
            </a:r>
          </a:p>
        </p:txBody>
      </p:sp>
      <p:sp>
        <p:nvSpPr>
          <p:cNvPr id="16" name="TextBox 15"/>
          <p:cNvSpPr txBox="1"/>
          <p:nvPr/>
        </p:nvSpPr>
        <p:spPr>
          <a:xfrm>
            <a:off x="2286000" y="3840480"/>
            <a:ext cx="3383280" cy="256032"/>
          </a:xfrm>
          <a:prstGeom prst="rect">
            <a:avLst/>
          </a:prstGeom>
          <a:noFill/>
        </p:spPr>
        <p:txBody>
          <a:bodyPr wrap="square">
            <a:spAutoFit/>
          </a:bodyPr>
          <a:lstStyle/>
          <a:p>
            <a:pPr algn="l"/>
            <a:r>
              <a:rPr sz="1100" b="1" i="0">
                <a:solidFill>
                  <a:srgbClr val="475569"/>
                </a:solidFill>
                <a:latin typeface="Calibri"/>
              </a:rPr>
              <a:t>Rithvik Teja</a:t>
            </a:r>
          </a:p>
        </p:txBody>
      </p:sp>
      <p:sp>
        <p:nvSpPr>
          <p:cNvPr id="17" name="TextBox 16"/>
          <p:cNvSpPr txBox="1"/>
          <p:nvPr/>
        </p:nvSpPr>
        <p:spPr>
          <a:xfrm>
            <a:off x="731520" y="4133088"/>
            <a:ext cx="1554480" cy="256032"/>
          </a:xfrm>
          <a:prstGeom prst="rect">
            <a:avLst/>
          </a:prstGeom>
          <a:noFill/>
        </p:spPr>
        <p:txBody>
          <a:bodyPr wrap="square">
            <a:spAutoFit/>
          </a:bodyPr>
          <a:lstStyle/>
          <a:p>
            <a:pPr algn="l"/>
            <a:r>
              <a:rPr sz="1100" b="1" i="0">
                <a:solidFill>
                  <a:srgbClr val="0F172A"/>
                </a:solidFill>
                <a:latin typeface="Calibri"/>
              </a:rPr>
              <a:t>Course &amp; Code:</a:t>
            </a:r>
          </a:p>
        </p:txBody>
      </p:sp>
      <p:sp>
        <p:nvSpPr>
          <p:cNvPr id="18" name="TextBox 17"/>
          <p:cNvSpPr txBox="1"/>
          <p:nvPr/>
        </p:nvSpPr>
        <p:spPr>
          <a:xfrm>
            <a:off x="2286000" y="4133088"/>
            <a:ext cx="3383280" cy="256032"/>
          </a:xfrm>
          <a:prstGeom prst="rect">
            <a:avLst/>
          </a:prstGeom>
          <a:noFill/>
        </p:spPr>
        <p:txBody>
          <a:bodyPr wrap="square">
            <a:spAutoFit/>
          </a:bodyPr>
          <a:lstStyle/>
          <a:p>
            <a:pPr algn="l"/>
            <a:r>
              <a:rPr sz="1100" b="0" i="0">
                <a:solidFill>
                  <a:srgbClr val="475569"/>
                </a:solidFill>
                <a:latin typeface="Calibri"/>
              </a:rPr>
              <a:t>Intelligent NoSQL Databases (CSE494)</a:t>
            </a:r>
          </a:p>
        </p:txBody>
      </p:sp>
      <p:sp>
        <p:nvSpPr>
          <p:cNvPr id="19" name="TextBox 18"/>
          <p:cNvSpPr txBox="1"/>
          <p:nvPr/>
        </p:nvSpPr>
        <p:spPr>
          <a:xfrm>
            <a:off x="731520" y="4425696"/>
            <a:ext cx="1554480" cy="256032"/>
          </a:xfrm>
          <a:prstGeom prst="rect">
            <a:avLst/>
          </a:prstGeom>
          <a:noFill/>
        </p:spPr>
        <p:txBody>
          <a:bodyPr wrap="square">
            <a:spAutoFit/>
          </a:bodyPr>
          <a:lstStyle/>
          <a:p>
            <a:pPr algn="l"/>
            <a:r>
              <a:rPr sz="1100" b="1" i="0">
                <a:solidFill>
                  <a:srgbClr val="0F172A"/>
                </a:solidFill>
                <a:latin typeface="Calibri"/>
              </a:rPr>
              <a:t>Institution:</a:t>
            </a:r>
          </a:p>
        </p:txBody>
      </p:sp>
      <p:sp>
        <p:nvSpPr>
          <p:cNvPr id="20" name="TextBox 19"/>
          <p:cNvSpPr txBox="1"/>
          <p:nvPr/>
        </p:nvSpPr>
        <p:spPr>
          <a:xfrm>
            <a:off x="2286000" y="4425696"/>
            <a:ext cx="3383280" cy="256032"/>
          </a:xfrm>
          <a:prstGeom prst="rect">
            <a:avLst/>
          </a:prstGeom>
          <a:noFill/>
        </p:spPr>
        <p:txBody>
          <a:bodyPr wrap="square">
            <a:spAutoFit/>
          </a:bodyPr>
          <a:lstStyle/>
          <a:p>
            <a:pPr algn="l"/>
            <a:r>
              <a:rPr sz="1100" b="0" i="0">
                <a:solidFill>
                  <a:srgbClr val="475569"/>
                </a:solidFill>
                <a:latin typeface="Calibri"/>
              </a:rPr>
              <a:t>Lovely Professional University (LPU)</a:t>
            </a:r>
          </a:p>
        </p:txBody>
      </p:sp>
      <p:sp>
        <p:nvSpPr>
          <p:cNvPr id="21" name="TextBox 20"/>
          <p:cNvSpPr txBox="1"/>
          <p:nvPr/>
        </p:nvSpPr>
        <p:spPr>
          <a:xfrm>
            <a:off x="731520" y="4718304"/>
            <a:ext cx="1554480" cy="256032"/>
          </a:xfrm>
          <a:prstGeom prst="rect">
            <a:avLst/>
          </a:prstGeom>
          <a:noFill/>
        </p:spPr>
        <p:txBody>
          <a:bodyPr wrap="square">
            <a:spAutoFit/>
          </a:bodyPr>
          <a:lstStyle/>
          <a:p>
            <a:pPr algn="l"/>
            <a:r>
              <a:rPr sz="1100" b="1" i="0">
                <a:solidFill>
                  <a:srgbClr val="0F172A"/>
                </a:solidFill>
                <a:latin typeface="Calibri"/>
              </a:rPr>
              <a:t>Live Code Repo:</a:t>
            </a:r>
          </a:p>
        </p:txBody>
      </p:sp>
      <p:sp>
        <p:nvSpPr>
          <p:cNvPr id="22" name="TextBox 21"/>
          <p:cNvSpPr txBox="1"/>
          <p:nvPr/>
        </p:nvSpPr>
        <p:spPr>
          <a:xfrm>
            <a:off x="2286000" y="4718304"/>
            <a:ext cx="3383280" cy="256032"/>
          </a:xfrm>
          <a:prstGeom prst="rect">
            <a:avLst/>
          </a:prstGeom>
          <a:noFill/>
        </p:spPr>
        <p:txBody>
          <a:bodyPr wrap="square">
            <a:spAutoFit/>
          </a:bodyPr>
          <a:lstStyle/>
          <a:p>
            <a:pPr algn="l"/>
            <a:r>
              <a:rPr sz="1100" b="0" i="0">
                <a:solidFill>
                  <a:srgbClr val="0284C7"/>
                </a:solidFill>
                <a:latin typeface="Calibri"/>
              </a:rPr>
              <a:t>github.com/Rithvikteja123/chargespot</a:t>
            </a:r>
          </a:p>
        </p:txBody>
      </p:sp>
      <p:sp>
        <p:nvSpPr>
          <p:cNvPr id="23" name="TextBox 22"/>
          <p:cNvSpPr txBox="1"/>
          <p:nvPr/>
        </p:nvSpPr>
        <p:spPr>
          <a:xfrm>
            <a:off x="731520" y="5010912"/>
            <a:ext cx="1554480" cy="256032"/>
          </a:xfrm>
          <a:prstGeom prst="rect">
            <a:avLst/>
          </a:prstGeom>
          <a:noFill/>
        </p:spPr>
        <p:txBody>
          <a:bodyPr wrap="square">
            <a:spAutoFit/>
          </a:bodyPr>
          <a:lstStyle/>
          <a:p>
            <a:pPr algn="l"/>
            <a:r>
              <a:rPr sz="1100" b="1" i="0">
                <a:solidFill>
                  <a:srgbClr val="0F172A"/>
                </a:solidFill>
                <a:latin typeface="Calibri"/>
              </a:rPr>
              <a:t>System Status:</a:t>
            </a:r>
          </a:p>
        </p:txBody>
      </p:sp>
      <p:sp>
        <p:nvSpPr>
          <p:cNvPr id="24" name="TextBox 23"/>
          <p:cNvSpPr txBox="1"/>
          <p:nvPr/>
        </p:nvSpPr>
        <p:spPr>
          <a:xfrm>
            <a:off x="2286000" y="5010912"/>
            <a:ext cx="3383280" cy="256032"/>
          </a:xfrm>
          <a:prstGeom prst="rect">
            <a:avLst/>
          </a:prstGeom>
          <a:noFill/>
        </p:spPr>
        <p:txBody>
          <a:bodyPr wrap="square">
            <a:spAutoFit/>
          </a:bodyPr>
          <a:lstStyle/>
          <a:p>
            <a:pPr algn="l"/>
            <a:r>
              <a:rPr sz="1100" b="0" i="0">
                <a:solidFill>
                  <a:srgbClr val="064E3B"/>
                </a:solidFill>
                <a:latin typeface="Calibri"/>
              </a:rPr>
              <a:t>MongoDB 7.0 Active  ·  10 Stations  ·  33 Connectors</a:t>
            </a:r>
          </a:p>
        </p:txBody>
      </p:sp>
      <p:sp>
        <p:nvSpPr>
          <p:cNvPr id="25" name="Rectangle 24"/>
          <p:cNvSpPr/>
          <p:nvPr/>
        </p:nvSpPr>
        <p:spPr>
          <a:xfrm>
            <a:off x="548640" y="5715000"/>
            <a:ext cx="1024128" cy="384048"/>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734050"/>
            <a:ext cx="1024128" cy="345948"/>
          </a:xfrm>
          <a:prstGeom prst="rect">
            <a:avLst/>
          </a:prstGeom>
          <a:noFill/>
        </p:spPr>
        <p:txBody>
          <a:bodyPr wrap="square">
            <a:spAutoFit/>
          </a:bodyPr>
          <a:lstStyle/>
          <a:p>
            <a:pPr algn="ctr"/>
            <a:r>
              <a:rPr sz="900" b="1" i="0">
                <a:solidFill>
                  <a:srgbClr val="064E3B"/>
                </a:solidFill>
                <a:latin typeface="Calibri"/>
              </a:rPr>
              <a:t>🍃 MongoDB 7.0</a:t>
            </a:r>
          </a:p>
        </p:txBody>
      </p:sp>
      <p:sp>
        <p:nvSpPr>
          <p:cNvPr id="27" name="Rectangle 26"/>
          <p:cNvSpPr/>
          <p:nvPr/>
        </p:nvSpPr>
        <p:spPr>
          <a:xfrm>
            <a:off x="1627631" y="5715000"/>
            <a:ext cx="1024128" cy="384048"/>
          </a:xfrm>
          <a:prstGeom prst="rect">
            <a:avLst/>
          </a:prstGeom>
          <a:solidFill>
            <a:srgbClr val="E0F2FE"/>
          </a:solidFill>
          <a:ln w="12700">
            <a:solidFill>
              <a:srgbClr val="E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27631" y="5734050"/>
            <a:ext cx="1024128" cy="345948"/>
          </a:xfrm>
          <a:prstGeom prst="rect">
            <a:avLst/>
          </a:prstGeom>
          <a:noFill/>
        </p:spPr>
        <p:txBody>
          <a:bodyPr wrap="square">
            <a:spAutoFit/>
          </a:bodyPr>
          <a:lstStyle/>
          <a:p>
            <a:pPr algn="ctr"/>
            <a:r>
              <a:rPr sz="900" b="1" i="0">
                <a:solidFill>
                  <a:srgbClr val="0284C7"/>
                </a:solidFill>
                <a:latin typeface="Calibri"/>
              </a:rPr>
              <a:t>🐍 Python 3.11</a:t>
            </a:r>
          </a:p>
        </p:txBody>
      </p:sp>
      <p:sp>
        <p:nvSpPr>
          <p:cNvPr id="29" name="Rectangle 28"/>
          <p:cNvSpPr/>
          <p:nvPr/>
        </p:nvSpPr>
        <p:spPr>
          <a:xfrm>
            <a:off x="2706624" y="5715000"/>
            <a:ext cx="1024128" cy="384048"/>
          </a:xfrm>
          <a:prstGeom prst="rect">
            <a:avLst/>
          </a:prstGeom>
          <a:solidFill>
            <a:srgbClr val="FEF3C7"/>
          </a:solidFill>
          <a:ln w="12700">
            <a:solidFill>
              <a:srgbClr val="FEF3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06624" y="5734050"/>
            <a:ext cx="1024128" cy="345948"/>
          </a:xfrm>
          <a:prstGeom prst="rect">
            <a:avLst/>
          </a:prstGeom>
          <a:noFill/>
        </p:spPr>
        <p:txBody>
          <a:bodyPr wrap="square">
            <a:spAutoFit/>
          </a:bodyPr>
          <a:lstStyle/>
          <a:p>
            <a:pPr algn="ctr"/>
            <a:r>
              <a:rPr sz="900" b="1" i="0">
                <a:solidFill>
                  <a:srgbClr val="D97706"/>
                </a:solidFill>
                <a:latin typeface="Calibri"/>
              </a:rPr>
              <a:t>⚡ Streamlit UI</a:t>
            </a:r>
          </a:p>
        </p:txBody>
      </p:sp>
      <p:sp>
        <p:nvSpPr>
          <p:cNvPr id="31" name="Rectangle 30"/>
          <p:cNvSpPr/>
          <p:nvPr/>
        </p:nvSpPr>
        <p:spPr>
          <a:xfrm>
            <a:off x="3785615" y="5715000"/>
            <a:ext cx="1024128" cy="384048"/>
          </a:xfrm>
          <a:prstGeom prst="rect">
            <a:avLst/>
          </a:prstGeom>
          <a:solidFill>
            <a:srgbClr val="EEF2FF"/>
          </a:solidFill>
          <a:ln w="12700">
            <a:solidFill>
              <a:srgbClr val="EEF2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85615" y="5734050"/>
            <a:ext cx="1024128" cy="345948"/>
          </a:xfrm>
          <a:prstGeom prst="rect">
            <a:avLst/>
          </a:prstGeom>
          <a:noFill/>
        </p:spPr>
        <p:txBody>
          <a:bodyPr wrap="square">
            <a:spAutoFit/>
          </a:bodyPr>
          <a:lstStyle/>
          <a:p>
            <a:pPr algn="ctr"/>
            <a:r>
              <a:rPr sz="900" b="1" i="0">
                <a:solidFill>
                  <a:srgbClr val="7C3AED"/>
                </a:solidFill>
                <a:latin typeface="Calibri"/>
              </a:rPr>
              <a:t>🧠 Scikit-Learn</a:t>
            </a:r>
          </a:p>
        </p:txBody>
      </p:sp>
      <p:sp>
        <p:nvSpPr>
          <p:cNvPr id="33" name="Rectangle 32"/>
          <p:cNvSpPr/>
          <p:nvPr/>
        </p:nvSpPr>
        <p:spPr>
          <a:xfrm>
            <a:off x="4864607" y="5715000"/>
            <a:ext cx="1024128" cy="384048"/>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864607" y="5734050"/>
            <a:ext cx="1024128" cy="345948"/>
          </a:xfrm>
          <a:prstGeom prst="rect">
            <a:avLst/>
          </a:prstGeom>
          <a:noFill/>
        </p:spPr>
        <p:txBody>
          <a:bodyPr wrap="square">
            <a:spAutoFit/>
          </a:bodyPr>
          <a:lstStyle/>
          <a:p>
            <a:pPr algn="ctr"/>
            <a:r>
              <a:rPr sz="900" b="1" i="0">
                <a:solidFill>
                  <a:srgbClr val="064E3B"/>
                </a:solidFill>
                <a:latin typeface="Calibri"/>
              </a:rPr>
              <a:t>🔌 PyMongo Driver</a:t>
            </a:r>
          </a:p>
        </p:txBody>
      </p:sp>
      <p:sp>
        <p:nvSpPr>
          <p:cNvPr id="35" name="Rectangle 34"/>
          <p:cNvSpPr/>
          <p:nvPr/>
        </p:nvSpPr>
        <p:spPr>
          <a:xfrm>
            <a:off x="6113780" y="490220"/>
            <a:ext cx="5511800" cy="5328920"/>
          </a:xfrm>
          <a:prstGeom prst="rect">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hero_ev_charge.jpg"/>
          <p:cNvPicPr>
            <a:picLocks noChangeAspect="1"/>
          </p:cNvPicPr>
          <p:nvPr/>
        </p:nvPicPr>
        <p:blipFill>
          <a:blip r:embed="rId2"/>
          <a:stretch>
            <a:fillRect/>
          </a:stretch>
        </p:blipFill>
        <p:spPr>
          <a:xfrm>
            <a:off x="6126480" y="502920"/>
            <a:ext cx="5486400" cy="5303520"/>
          </a:xfrm>
          <a:prstGeom prst="rect">
            <a:avLst/>
          </a:prstGeom>
        </p:spPr>
      </p:pic>
      <p:sp>
        <p:nvSpPr>
          <p:cNvPr id="37" name="Rectangle 36"/>
          <p:cNvSpPr/>
          <p:nvPr/>
        </p:nvSpPr>
        <p:spPr>
          <a:xfrm>
            <a:off x="6400800" y="4937760"/>
            <a:ext cx="4937760" cy="685800"/>
          </a:xfrm>
          <a:prstGeom prst="rect">
            <a:avLst/>
          </a:prstGeom>
          <a:solidFill>
            <a:srgbClr val="064E3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92240" y="5029200"/>
            <a:ext cx="4754880" cy="274320"/>
          </a:xfrm>
          <a:prstGeom prst="rect">
            <a:avLst/>
          </a:prstGeom>
          <a:noFill/>
        </p:spPr>
        <p:txBody>
          <a:bodyPr wrap="square">
            <a:spAutoFit/>
          </a:bodyPr>
          <a:lstStyle/>
          <a:p>
            <a:pPr algn="ctr"/>
            <a:r>
              <a:rPr sz="1100" b="1" i="0">
                <a:solidFill>
                  <a:srgbClr val="FFFFFF"/>
                </a:solidFill>
                <a:latin typeface="Calibri"/>
              </a:rPr>
              <a:t>⚡ Real-Time Network Health: 20 Available · 6 Occupied · 7 Serviced</a:t>
            </a:r>
          </a:p>
        </p:txBody>
      </p:sp>
      <p:sp>
        <p:nvSpPr>
          <p:cNvPr id="39" name="TextBox 38"/>
          <p:cNvSpPr txBox="1"/>
          <p:nvPr/>
        </p:nvSpPr>
        <p:spPr>
          <a:xfrm>
            <a:off x="6492240" y="5303520"/>
            <a:ext cx="4754880" cy="228600"/>
          </a:xfrm>
          <a:prstGeom prst="rect">
            <a:avLst/>
          </a:prstGeom>
          <a:noFill/>
        </p:spPr>
        <p:txBody>
          <a:bodyPr wrap="square">
            <a:spAutoFit/>
          </a:bodyPr>
          <a:lstStyle/>
          <a:p>
            <a:pPr algn="ctr"/>
            <a:r>
              <a:rPr sz="950" b="0" i="1">
                <a:solidFill>
                  <a:srgbClr val="D1FAE5"/>
                </a:solidFill>
                <a:latin typeface="Calibri"/>
              </a:rPr>
              <a:t>Sub-5ms Query Response via Indexed Compound B-Trees</a:t>
            </a:r>
          </a:p>
        </p:txBody>
      </p:sp>
      <p:sp>
        <p:nvSpPr>
          <p:cNvPr id="40" name="TextBox 39"/>
          <p:cNvSpPr txBox="1"/>
          <p:nvPr/>
        </p:nvSpPr>
        <p:spPr>
          <a:xfrm>
            <a:off x="11094415" y="6492240"/>
            <a:ext cx="822960" cy="274320"/>
          </a:xfrm>
          <a:prstGeom prst="rect">
            <a:avLst/>
          </a:prstGeom>
          <a:noFill/>
        </p:spPr>
        <p:txBody>
          <a:bodyPr wrap="square">
            <a:spAutoFit/>
          </a:bodyPr>
          <a:lstStyle/>
          <a:p>
            <a:pPr algn="r"/>
            <a:r>
              <a:rPr sz="1000" b="0" i="0">
                <a:solidFill>
                  <a:srgbClr val="475569"/>
                </a:solidFill>
                <a:latin typeface="Calibri"/>
              </a:rPr>
              <a:t>01 /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70432"/>
            <a:ext cx="8534186" cy="38100"/>
          </a:xfrm>
          <a:prstGeom prst="rect">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34186" y="1170432"/>
            <a:ext cx="3657508" cy="38100"/>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7160"/>
            <a:ext cx="2926080" cy="256032"/>
          </a:xfrm>
          <a:prstGeom prst="rect">
            <a:avLst/>
          </a:prstGeom>
          <a:solidFill>
            <a:srgbClr val="FEE2E2"/>
          </a:solidFill>
          <a:ln w="12700">
            <a:solidFill>
              <a:srgbClr val="FE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56210"/>
            <a:ext cx="2926080" cy="217932"/>
          </a:xfrm>
          <a:prstGeom prst="rect">
            <a:avLst/>
          </a:prstGeom>
          <a:noFill/>
        </p:spPr>
        <p:txBody>
          <a:bodyPr wrap="square">
            <a:spAutoFit/>
          </a:bodyPr>
          <a:lstStyle/>
          <a:p>
            <a:pPr algn="ctr"/>
            <a:r>
              <a:rPr sz="900" b="1" i="0">
                <a:solidFill>
                  <a:srgbClr val="DC2626"/>
                </a:solidFill>
                <a:latin typeface="Calibri"/>
              </a:rPr>
              <a:t>⚠️ THE REAL-WORLD CHALLENGE</a:t>
            </a:r>
          </a:p>
        </p:txBody>
      </p:sp>
      <p:sp>
        <p:nvSpPr>
          <p:cNvPr id="8" name="TextBox 7"/>
          <p:cNvSpPr txBox="1"/>
          <p:nvPr/>
        </p:nvSpPr>
        <p:spPr>
          <a:xfrm>
            <a:off x="457200" y="420624"/>
            <a:ext cx="9144000" cy="411480"/>
          </a:xfrm>
          <a:prstGeom prst="rect">
            <a:avLst/>
          </a:prstGeom>
          <a:noFill/>
        </p:spPr>
        <p:txBody>
          <a:bodyPr wrap="square">
            <a:spAutoFit/>
          </a:bodyPr>
          <a:lstStyle/>
          <a:p>
            <a:pPr algn="l"/>
            <a:r>
              <a:rPr sz="2200" b="1" i="0">
                <a:solidFill>
                  <a:srgbClr val="0F172A"/>
                </a:solidFill>
                <a:latin typeface="Calibri"/>
              </a:rPr>
              <a:t>The Driver's Dilemma: Why EV Charging Still Feels Like a Gamble</a:t>
            </a:r>
          </a:p>
        </p:txBody>
      </p:sp>
      <p:sp>
        <p:nvSpPr>
          <p:cNvPr id="9" name="TextBox 8"/>
          <p:cNvSpPr txBox="1"/>
          <p:nvPr/>
        </p:nvSpPr>
        <p:spPr>
          <a:xfrm>
            <a:off x="457200" y="804672"/>
            <a:ext cx="10058400" cy="320040"/>
          </a:xfrm>
          <a:prstGeom prst="rect">
            <a:avLst/>
          </a:prstGeom>
          <a:noFill/>
        </p:spPr>
        <p:txBody>
          <a:bodyPr wrap="square">
            <a:spAutoFit/>
          </a:bodyPr>
          <a:lstStyle/>
          <a:p>
            <a:pPr algn="l"/>
            <a:r>
              <a:rPr sz="1200" b="0" i="1">
                <a:solidFill>
                  <a:srgbClr val="475569"/>
                </a:solidFill>
                <a:latin typeface="Calibri"/>
              </a:rPr>
              <a:t>Over 10 million EV drivers worldwide battle unpredictability, ghost stations, and data blindspots</a:t>
            </a:r>
          </a:p>
        </p:txBody>
      </p:sp>
      <p:sp>
        <p:nvSpPr>
          <p:cNvPr id="10" name="Rectangle 9"/>
          <p:cNvSpPr/>
          <p:nvPr/>
        </p:nvSpPr>
        <p:spPr>
          <a:xfrm>
            <a:off x="457200" y="1371600"/>
            <a:ext cx="6035040" cy="13716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371600"/>
            <a:ext cx="6035040" cy="44450"/>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1554480"/>
            <a:ext cx="594360" cy="594360"/>
          </a:xfrm>
          <a:prstGeom prst="rect">
            <a:avLst/>
          </a:prstGeom>
          <a:solidFill>
            <a:srgbClr val="FEE2E2"/>
          </a:solidFill>
          <a:ln w="12700">
            <a:solidFill>
              <a:srgbClr val="FE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1572768"/>
            <a:ext cx="594360" cy="548640"/>
          </a:xfrm>
          <a:prstGeom prst="rect">
            <a:avLst/>
          </a:prstGeom>
          <a:noFill/>
        </p:spPr>
        <p:txBody>
          <a:bodyPr wrap="square">
            <a:spAutoFit/>
          </a:bodyPr>
          <a:lstStyle/>
          <a:p>
            <a:pPr algn="ctr"/>
            <a:r>
              <a:rPr sz="2200" b="0" i="0">
                <a:solidFill>
                  <a:srgbClr val="0F172A"/>
                </a:solidFill>
                <a:latin typeface="Calibri"/>
              </a:rPr>
              <a:t>🔌</a:t>
            </a:r>
          </a:p>
        </p:txBody>
      </p:sp>
      <p:sp>
        <p:nvSpPr>
          <p:cNvPr id="14" name="TextBox 13"/>
          <p:cNvSpPr txBox="1"/>
          <p:nvPr/>
        </p:nvSpPr>
        <p:spPr>
          <a:xfrm>
            <a:off x="1371600" y="1536192"/>
            <a:ext cx="4937760" cy="320040"/>
          </a:xfrm>
          <a:prstGeom prst="rect">
            <a:avLst/>
          </a:prstGeom>
          <a:noFill/>
        </p:spPr>
        <p:txBody>
          <a:bodyPr wrap="square">
            <a:spAutoFit/>
          </a:bodyPr>
          <a:lstStyle/>
          <a:p>
            <a:pPr algn="l"/>
            <a:r>
              <a:rPr sz="1300" b="1" i="0">
                <a:solidFill>
                  <a:srgbClr val="DC2626"/>
                </a:solidFill>
                <a:latin typeface="Calibri"/>
              </a:rPr>
              <a:t>The 'Ghost Charger' Surprise (Range Anxiety)</a:t>
            </a:r>
          </a:p>
        </p:txBody>
      </p:sp>
      <p:sp>
        <p:nvSpPr>
          <p:cNvPr id="15" name="TextBox 14"/>
          <p:cNvSpPr txBox="1"/>
          <p:nvPr/>
        </p:nvSpPr>
        <p:spPr>
          <a:xfrm>
            <a:off x="1371600" y="1874520"/>
            <a:ext cx="4937760" cy="777240"/>
          </a:xfrm>
          <a:prstGeom prst="rect">
            <a:avLst/>
          </a:prstGeom>
          <a:noFill/>
        </p:spPr>
        <p:txBody>
          <a:bodyPr wrap="square">
            <a:spAutoFit/>
          </a:bodyPr>
          <a:lstStyle/>
          <a:p>
            <a:pPr algn="l"/>
            <a:r>
              <a:rPr sz="1100" b="0" i="0">
                <a:solidFill>
                  <a:srgbClr val="475569"/>
                </a:solidFill>
                <a:latin typeface="Calibri"/>
              </a:rPr>
              <a:t>Drivers arrive with 4% battery in peak traffic only to discover that 3 out of 4 charging guns are damaged or shut down. Legacy apps only show static map pins without verifying live connector health.</a:t>
            </a:r>
          </a:p>
        </p:txBody>
      </p:sp>
      <p:sp>
        <p:nvSpPr>
          <p:cNvPr id="16" name="Rectangle 15"/>
          <p:cNvSpPr/>
          <p:nvPr/>
        </p:nvSpPr>
        <p:spPr>
          <a:xfrm>
            <a:off x="457200" y="2880360"/>
            <a:ext cx="6035040" cy="13716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880360"/>
            <a:ext cx="6035040" cy="44450"/>
          </a:xfrm>
          <a:prstGeom prst="rect">
            <a:avLst/>
          </a:prstGeom>
          <a:solidFill>
            <a:srgbClr val="D97706"/>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3063240"/>
            <a:ext cx="594360" cy="594360"/>
          </a:xfrm>
          <a:prstGeom prst="rect">
            <a:avLst/>
          </a:prstGeom>
          <a:solidFill>
            <a:srgbClr val="FEF3C7"/>
          </a:solidFill>
          <a:ln w="12700">
            <a:solidFill>
              <a:srgbClr val="FEF3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081528"/>
            <a:ext cx="594360" cy="548640"/>
          </a:xfrm>
          <a:prstGeom prst="rect">
            <a:avLst/>
          </a:prstGeom>
          <a:noFill/>
        </p:spPr>
        <p:txBody>
          <a:bodyPr wrap="square">
            <a:spAutoFit/>
          </a:bodyPr>
          <a:lstStyle/>
          <a:p>
            <a:pPr algn="ctr"/>
            <a:r>
              <a:rPr sz="2200" b="0" i="0">
                <a:solidFill>
                  <a:srgbClr val="0F172A"/>
                </a:solidFill>
                <a:latin typeface="Calibri"/>
              </a:rPr>
              <a:t>⏱️</a:t>
            </a:r>
          </a:p>
        </p:txBody>
      </p:sp>
      <p:sp>
        <p:nvSpPr>
          <p:cNvPr id="20" name="TextBox 19"/>
          <p:cNvSpPr txBox="1"/>
          <p:nvPr/>
        </p:nvSpPr>
        <p:spPr>
          <a:xfrm>
            <a:off x="1371600" y="3044952"/>
            <a:ext cx="4937760" cy="320040"/>
          </a:xfrm>
          <a:prstGeom prst="rect">
            <a:avLst/>
          </a:prstGeom>
          <a:noFill/>
        </p:spPr>
        <p:txBody>
          <a:bodyPr wrap="square">
            <a:spAutoFit/>
          </a:bodyPr>
          <a:lstStyle/>
          <a:p>
            <a:pPr algn="l"/>
            <a:r>
              <a:rPr sz="1300" b="1" i="0">
                <a:solidFill>
                  <a:srgbClr val="D97706"/>
                </a:solidFill>
                <a:latin typeface="Calibri"/>
              </a:rPr>
              <a:t>Blind Bottlenecks &amp; 45-Minute Queue Traps</a:t>
            </a:r>
          </a:p>
        </p:txBody>
      </p:sp>
      <p:sp>
        <p:nvSpPr>
          <p:cNvPr id="21" name="TextBox 20"/>
          <p:cNvSpPr txBox="1"/>
          <p:nvPr/>
        </p:nvSpPr>
        <p:spPr>
          <a:xfrm>
            <a:off x="1371600" y="3383280"/>
            <a:ext cx="4937760" cy="777240"/>
          </a:xfrm>
          <a:prstGeom prst="rect">
            <a:avLst/>
          </a:prstGeom>
          <a:noFill/>
        </p:spPr>
        <p:txBody>
          <a:bodyPr wrap="square">
            <a:spAutoFit/>
          </a:bodyPr>
          <a:lstStyle/>
          <a:p>
            <a:pPr algn="l"/>
            <a:r>
              <a:rPr sz="1100" b="0" i="0">
                <a:solidFill>
                  <a:srgbClr val="475569"/>
                </a:solidFill>
                <a:latin typeface="Calibri"/>
              </a:rPr>
              <a:t>Because charging an EV takes 25 to 60 minutes, arriving during an unexpected rush creates massive delays. Drivers lack forward-looking queue foresight before leaving home or office.</a:t>
            </a:r>
          </a:p>
        </p:txBody>
      </p:sp>
      <p:sp>
        <p:nvSpPr>
          <p:cNvPr id="22" name="Rectangle 21"/>
          <p:cNvSpPr/>
          <p:nvPr/>
        </p:nvSpPr>
        <p:spPr>
          <a:xfrm>
            <a:off x="457200" y="4389120"/>
            <a:ext cx="6035040" cy="13716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389120"/>
            <a:ext cx="6035040" cy="44450"/>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572000"/>
            <a:ext cx="594360" cy="594360"/>
          </a:xfrm>
          <a:prstGeom prst="rect">
            <a:avLst/>
          </a:prstGeom>
          <a:solidFill>
            <a:srgbClr val="E0F2FE"/>
          </a:solidFill>
          <a:ln w="12700">
            <a:solidFill>
              <a:srgbClr val="E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4590288"/>
            <a:ext cx="594360" cy="548640"/>
          </a:xfrm>
          <a:prstGeom prst="rect">
            <a:avLst/>
          </a:prstGeom>
          <a:noFill/>
        </p:spPr>
        <p:txBody>
          <a:bodyPr wrap="square">
            <a:spAutoFit/>
          </a:bodyPr>
          <a:lstStyle/>
          <a:p>
            <a:pPr algn="ctr"/>
            <a:r>
              <a:rPr sz="2200" b="0" i="0">
                <a:solidFill>
                  <a:srgbClr val="0F172A"/>
                </a:solidFill>
                <a:latin typeface="Calibri"/>
              </a:rPr>
              <a:t>📉</a:t>
            </a:r>
          </a:p>
        </p:txBody>
      </p:sp>
      <p:sp>
        <p:nvSpPr>
          <p:cNvPr id="26" name="TextBox 25"/>
          <p:cNvSpPr txBox="1"/>
          <p:nvPr/>
        </p:nvSpPr>
        <p:spPr>
          <a:xfrm>
            <a:off x="1371600" y="4553712"/>
            <a:ext cx="4937760" cy="320040"/>
          </a:xfrm>
          <a:prstGeom prst="rect">
            <a:avLst/>
          </a:prstGeom>
          <a:noFill/>
        </p:spPr>
        <p:txBody>
          <a:bodyPr wrap="square">
            <a:spAutoFit/>
          </a:bodyPr>
          <a:lstStyle/>
          <a:p>
            <a:pPr algn="l"/>
            <a:r>
              <a:rPr sz="1300" b="1" i="0">
                <a:solidFill>
                  <a:srgbClr val="0284C7"/>
                </a:solidFill>
                <a:latin typeface="Calibri"/>
              </a:rPr>
              <a:t>Operational Blackout for Network Providers</a:t>
            </a:r>
          </a:p>
        </p:txBody>
      </p:sp>
      <p:sp>
        <p:nvSpPr>
          <p:cNvPr id="27" name="TextBox 26"/>
          <p:cNvSpPr txBox="1"/>
          <p:nvPr/>
        </p:nvSpPr>
        <p:spPr>
          <a:xfrm>
            <a:off x="1371600" y="4892040"/>
            <a:ext cx="4937760" cy="777240"/>
          </a:xfrm>
          <a:prstGeom prst="rect">
            <a:avLst/>
          </a:prstGeom>
          <a:noFill/>
        </p:spPr>
        <p:txBody>
          <a:bodyPr wrap="square">
            <a:spAutoFit/>
          </a:bodyPr>
          <a:lstStyle/>
          <a:p>
            <a:pPr algn="l"/>
            <a:r>
              <a:rPr sz="1100" b="0" i="0">
                <a:solidFill>
                  <a:srgbClr val="475569"/>
                </a:solidFill>
                <a:latin typeface="Calibri"/>
              </a:rPr>
              <a:t>Charging operators struggle with fragmented relational tables. They cannot easily answer: 'Which stations generate high revenue?', 'What is our peak hour?', or 'Which connectors fail most often?'.</a:t>
            </a:r>
          </a:p>
        </p:txBody>
      </p:sp>
      <p:sp>
        <p:nvSpPr>
          <p:cNvPr id="28" name="Rectangle 27"/>
          <p:cNvSpPr/>
          <p:nvPr/>
        </p:nvSpPr>
        <p:spPr>
          <a:xfrm>
            <a:off x="6753860" y="1358900"/>
            <a:ext cx="4963160" cy="3500120"/>
          </a:xfrm>
          <a:prstGeom prst="rect">
            <a:avLst/>
          </a:prstGeom>
          <a:solidFill>
            <a:srgbClr val="FFFFFF"/>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ev_driver_anxiety.jpg"/>
          <p:cNvPicPr>
            <a:picLocks noChangeAspect="1"/>
          </p:cNvPicPr>
          <p:nvPr/>
        </p:nvPicPr>
        <p:blipFill>
          <a:blip r:embed="rId2"/>
          <a:stretch>
            <a:fillRect/>
          </a:stretch>
        </p:blipFill>
        <p:spPr>
          <a:xfrm>
            <a:off x="6766560" y="1371600"/>
            <a:ext cx="4937760" cy="3474720"/>
          </a:xfrm>
          <a:prstGeom prst="rect">
            <a:avLst/>
          </a:prstGeom>
        </p:spPr>
      </p:pic>
      <p:sp>
        <p:nvSpPr>
          <p:cNvPr id="30" name="Rectangle 29"/>
          <p:cNvSpPr/>
          <p:nvPr/>
        </p:nvSpPr>
        <p:spPr>
          <a:xfrm>
            <a:off x="6766560" y="5029200"/>
            <a:ext cx="4937760" cy="12801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66560" y="5029200"/>
            <a:ext cx="4937760" cy="44450"/>
          </a:xfrm>
          <a:prstGeom prst="rect">
            <a:avLst/>
          </a:prstGeom>
          <a:solidFill>
            <a:srgbClr val="D97706"/>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49440" y="5166360"/>
            <a:ext cx="4572000" cy="320040"/>
          </a:xfrm>
          <a:prstGeom prst="rect">
            <a:avLst/>
          </a:prstGeom>
          <a:noFill/>
        </p:spPr>
        <p:txBody>
          <a:bodyPr wrap="square">
            <a:spAutoFit/>
          </a:bodyPr>
          <a:lstStyle/>
          <a:p>
            <a:pPr algn="l"/>
            <a:r>
              <a:rPr sz="1200" b="1" i="0">
                <a:solidFill>
                  <a:srgbClr val="D97706"/>
                </a:solidFill>
                <a:latin typeface="Calibri"/>
              </a:rPr>
              <a:t>🚨 73% of EV Drivers Report Charging Anxiety as #1 Concern</a:t>
            </a:r>
          </a:p>
        </p:txBody>
      </p:sp>
      <p:sp>
        <p:nvSpPr>
          <p:cNvPr id="33" name="TextBox 32"/>
          <p:cNvSpPr txBox="1"/>
          <p:nvPr/>
        </p:nvSpPr>
        <p:spPr>
          <a:xfrm>
            <a:off x="6949440" y="5486400"/>
            <a:ext cx="4572000" cy="685800"/>
          </a:xfrm>
          <a:prstGeom prst="rect">
            <a:avLst/>
          </a:prstGeom>
          <a:noFill/>
        </p:spPr>
        <p:txBody>
          <a:bodyPr wrap="square">
            <a:spAutoFit/>
          </a:bodyPr>
          <a:lstStyle/>
          <a:p>
            <a:pPr algn="l"/>
            <a:r>
              <a:rPr sz="1050" b="0" i="0">
                <a:solidFill>
                  <a:srgbClr val="475569"/>
                </a:solidFill>
                <a:latin typeface="Calibri"/>
              </a:rPr>
              <a:t>Surveys confirm that lack of verified connector availability and unpredictable station congestion prevent drivers from taking highway journeys. ChargeSpot addresses this with direct NoSQL live telemetry.</a:t>
            </a:r>
          </a:p>
        </p:txBody>
      </p:sp>
      <p:sp>
        <p:nvSpPr>
          <p:cNvPr id="34" name="TextBox 33"/>
          <p:cNvSpPr txBox="1"/>
          <p:nvPr/>
        </p:nvSpPr>
        <p:spPr>
          <a:xfrm>
            <a:off x="11094415" y="6492240"/>
            <a:ext cx="822960" cy="274320"/>
          </a:xfrm>
          <a:prstGeom prst="rect">
            <a:avLst/>
          </a:prstGeom>
          <a:noFill/>
        </p:spPr>
        <p:txBody>
          <a:bodyPr wrap="square">
            <a:spAutoFit/>
          </a:bodyPr>
          <a:lstStyle/>
          <a:p>
            <a:pPr algn="r"/>
            <a:r>
              <a:rPr sz="1000" b="0" i="0">
                <a:solidFill>
                  <a:srgbClr val="475569"/>
                </a:solidFill>
                <a:latin typeface="Calibri"/>
              </a:rPr>
              <a:t>02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70432"/>
            <a:ext cx="8534186" cy="38100"/>
          </a:xfrm>
          <a:prstGeom prst="rect">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34186" y="1170432"/>
            <a:ext cx="3657508" cy="38100"/>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7160"/>
            <a:ext cx="2926080" cy="256032"/>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56210"/>
            <a:ext cx="2926080" cy="217932"/>
          </a:xfrm>
          <a:prstGeom prst="rect">
            <a:avLst/>
          </a:prstGeom>
          <a:noFill/>
        </p:spPr>
        <p:txBody>
          <a:bodyPr wrap="square">
            <a:spAutoFit/>
          </a:bodyPr>
          <a:lstStyle/>
          <a:p>
            <a:pPr algn="ctr"/>
            <a:r>
              <a:rPr sz="900" b="1" i="0">
                <a:solidFill>
                  <a:srgbClr val="064E3B"/>
                </a:solidFill>
                <a:latin typeface="Calibri"/>
              </a:rPr>
              <a:t>💡 OUR COMPREHENSIVE SOLUTION</a:t>
            </a:r>
          </a:p>
        </p:txBody>
      </p:sp>
      <p:sp>
        <p:nvSpPr>
          <p:cNvPr id="8" name="TextBox 7"/>
          <p:cNvSpPr txBox="1"/>
          <p:nvPr/>
        </p:nvSpPr>
        <p:spPr>
          <a:xfrm>
            <a:off x="457200" y="420624"/>
            <a:ext cx="9144000" cy="411480"/>
          </a:xfrm>
          <a:prstGeom prst="rect">
            <a:avLst/>
          </a:prstGeom>
          <a:noFill/>
        </p:spPr>
        <p:txBody>
          <a:bodyPr wrap="square">
            <a:spAutoFit/>
          </a:bodyPr>
          <a:lstStyle/>
          <a:p>
            <a:pPr algn="l"/>
            <a:r>
              <a:rPr sz="2200" b="1" i="0">
                <a:solidFill>
                  <a:srgbClr val="0F172A"/>
                </a:solidFill>
                <a:latin typeface="Calibri"/>
              </a:rPr>
              <a:t>The ChargeSpot Solution: What Happens When Data Meets the Driver</a:t>
            </a:r>
          </a:p>
        </p:txBody>
      </p:sp>
      <p:sp>
        <p:nvSpPr>
          <p:cNvPr id="9" name="TextBox 8"/>
          <p:cNvSpPr txBox="1"/>
          <p:nvPr/>
        </p:nvSpPr>
        <p:spPr>
          <a:xfrm>
            <a:off x="457200" y="804672"/>
            <a:ext cx="10058400" cy="320040"/>
          </a:xfrm>
          <a:prstGeom prst="rect">
            <a:avLst/>
          </a:prstGeom>
          <a:noFill/>
        </p:spPr>
        <p:txBody>
          <a:bodyPr wrap="square">
            <a:spAutoFit/>
          </a:bodyPr>
          <a:lstStyle/>
          <a:p>
            <a:pPr algn="l"/>
            <a:r>
              <a:rPr sz="1200" b="0" i="1">
                <a:solidFill>
                  <a:srgbClr val="475569"/>
                </a:solidFill>
                <a:latin typeface="Calibri"/>
              </a:rPr>
              <a:t>Three core pillars: Live Discovery, Active Session Lifecycle, and Predictive Machine Learning</a:t>
            </a:r>
          </a:p>
        </p:txBody>
      </p:sp>
      <p:sp>
        <p:nvSpPr>
          <p:cNvPr id="10" name="Rectangle 9"/>
          <p:cNvSpPr/>
          <p:nvPr/>
        </p:nvSpPr>
        <p:spPr>
          <a:xfrm>
            <a:off x="457200" y="1371600"/>
            <a:ext cx="3611880" cy="31089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371600"/>
            <a:ext cx="3611880" cy="44450"/>
          </a:xfrm>
          <a:prstGeom prst="rect">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1554480"/>
            <a:ext cx="3246120" cy="347472"/>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1573530"/>
            <a:ext cx="3246120" cy="309372"/>
          </a:xfrm>
          <a:prstGeom prst="rect">
            <a:avLst/>
          </a:prstGeom>
          <a:noFill/>
        </p:spPr>
        <p:txBody>
          <a:bodyPr wrap="square">
            <a:spAutoFit/>
          </a:bodyPr>
          <a:lstStyle/>
          <a:p>
            <a:pPr algn="ctr"/>
            <a:r>
              <a:rPr sz="1100" b="1" i="0">
                <a:solidFill>
                  <a:srgbClr val="064E3B"/>
                </a:solidFill>
                <a:latin typeface="Calibri"/>
              </a:rPr>
              <a:t>🔍  1. DISCOVER &amp; NAVIGATE</a:t>
            </a:r>
          </a:p>
        </p:txBody>
      </p:sp>
      <p:sp>
        <p:nvSpPr>
          <p:cNvPr id="14" name="Rectangle 13"/>
          <p:cNvSpPr/>
          <p:nvPr/>
        </p:nvSpPr>
        <p:spPr>
          <a:xfrm>
            <a:off x="685800" y="2141220"/>
            <a:ext cx="109728" cy="109728"/>
          </a:xfrm>
          <a:prstGeom prst="rect">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103120"/>
            <a:ext cx="3017520" cy="685800"/>
          </a:xfrm>
          <a:prstGeom prst="rect">
            <a:avLst/>
          </a:prstGeom>
          <a:noFill/>
        </p:spPr>
        <p:txBody>
          <a:bodyPr wrap="square">
            <a:spAutoFit/>
          </a:bodyPr>
          <a:lstStyle/>
          <a:p>
            <a:pPr algn="l"/>
            <a:r>
              <a:rPr sz="1100" b="0" i="0">
                <a:solidFill>
                  <a:srgbClr val="0F172A"/>
                </a:solidFill>
                <a:latin typeface="Calibri"/>
              </a:rPr>
              <a:t>Real-time connector status (Available, Occupied, Out of Service)</a:t>
            </a:r>
          </a:p>
        </p:txBody>
      </p:sp>
      <p:sp>
        <p:nvSpPr>
          <p:cNvPr id="16" name="Rectangle 15"/>
          <p:cNvSpPr/>
          <p:nvPr/>
        </p:nvSpPr>
        <p:spPr>
          <a:xfrm>
            <a:off x="685800" y="2872739"/>
            <a:ext cx="109728" cy="109728"/>
          </a:xfrm>
          <a:prstGeom prst="rect">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2834639"/>
            <a:ext cx="3017520" cy="685800"/>
          </a:xfrm>
          <a:prstGeom prst="rect">
            <a:avLst/>
          </a:prstGeom>
          <a:noFill/>
        </p:spPr>
        <p:txBody>
          <a:bodyPr wrap="square">
            <a:spAutoFit/>
          </a:bodyPr>
          <a:lstStyle/>
          <a:p>
            <a:pPr algn="l"/>
            <a:r>
              <a:rPr sz="1100" b="0" i="0">
                <a:solidFill>
                  <a:srgbClr val="0F172A"/>
                </a:solidFill>
                <a:latin typeface="Calibri"/>
              </a:rPr>
              <a:t>Multi-attribute search across 10 cities and speed tiers (22kW to 150kW)</a:t>
            </a:r>
          </a:p>
        </p:txBody>
      </p:sp>
      <p:sp>
        <p:nvSpPr>
          <p:cNvPr id="18" name="Rectangle 17"/>
          <p:cNvSpPr/>
          <p:nvPr/>
        </p:nvSpPr>
        <p:spPr>
          <a:xfrm>
            <a:off x="685800" y="3604260"/>
            <a:ext cx="109728" cy="109728"/>
          </a:xfrm>
          <a:prstGeom prst="rect">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566160"/>
            <a:ext cx="3017520" cy="685800"/>
          </a:xfrm>
          <a:prstGeom prst="rect">
            <a:avLst/>
          </a:prstGeom>
          <a:noFill/>
        </p:spPr>
        <p:txBody>
          <a:bodyPr wrap="square">
            <a:spAutoFit/>
          </a:bodyPr>
          <a:lstStyle/>
          <a:p>
            <a:pPr algn="l"/>
            <a:r>
              <a:rPr sz="1100" b="0" i="0">
                <a:solidFill>
                  <a:srgbClr val="0F172A"/>
                </a:solidFill>
                <a:latin typeface="Calibri"/>
              </a:rPr>
              <a:t>Transparent pricing per kWh and live operator contact channels</a:t>
            </a:r>
          </a:p>
        </p:txBody>
      </p:sp>
      <p:sp>
        <p:nvSpPr>
          <p:cNvPr id="20" name="Rectangle 19"/>
          <p:cNvSpPr/>
          <p:nvPr/>
        </p:nvSpPr>
        <p:spPr>
          <a:xfrm>
            <a:off x="4251960" y="1371600"/>
            <a:ext cx="3611880" cy="31089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51960" y="1371600"/>
            <a:ext cx="3611880" cy="44450"/>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34840" y="1554480"/>
            <a:ext cx="3246120" cy="347472"/>
          </a:xfrm>
          <a:prstGeom prst="rect">
            <a:avLst/>
          </a:prstGeom>
          <a:solidFill>
            <a:srgbClr val="E0F2FE"/>
          </a:solidFill>
          <a:ln w="12700">
            <a:solidFill>
              <a:srgbClr val="E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34840" y="1573530"/>
            <a:ext cx="3246120" cy="309372"/>
          </a:xfrm>
          <a:prstGeom prst="rect">
            <a:avLst/>
          </a:prstGeom>
          <a:noFill/>
        </p:spPr>
        <p:txBody>
          <a:bodyPr wrap="square">
            <a:spAutoFit/>
          </a:bodyPr>
          <a:lstStyle/>
          <a:p>
            <a:pPr algn="ctr"/>
            <a:r>
              <a:rPr sz="1100" b="1" i="0">
                <a:solidFill>
                  <a:srgbClr val="0284C7"/>
                </a:solidFill>
                <a:latin typeface="Calibri"/>
              </a:rPr>
              <a:t>⚡  2. ACTIVE CHARGING SIMULATOR</a:t>
            </a:r>
          </a:p>
        </p:txBody>
      </p:sp>
      <p:sp>
        <p:nvSpPr>
          <p:cNvPr id="24" name="Rectangle 23"/>
          <p:cNvSpPr/>
          <p:nvPr/>
        </p:nvSpPr>
        <p:spPr>
          <a:xfrm>
            <a:off x="4480560" y="2141220"/>
            <a:ext cx="109728" cy="109728"/>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63440" y="2103120"/>
            <a:ext cx="3017520" cy="685800"/>
          </a:xfrm>
          <a:prstGeom prst="rect">
            <a:avLst/>
          </a:prstGeom>
          <a:noFill/>
        </p:spPr>
        <p:txBody>
          <a:bodyPr wrap="square">
            <a:spAutoFit/>
          </a:bodyPr>
          <a:lstStyle/>
          <a:p>
            <a:pPr algn="l"/>
            <a:r>
              <a:rPr sz="1100" b="0" i="0">
                <a:solidFill>
                  <a:srgbClr val="0F172A"/>
                </a:solidFill>
                <a:latin typeface="Calibri"/>
              </a:rPr>
              <a:t>Start, track, and complete realistic EV charging sessions</a:t>
            </a:r>
          </a:p>
        </p:txBody>
      </p:sp>
      <p:sp>
        <p:nvSpPr>
          <p:cNvPr id="26" name="Rectangle 25"/>
          <p:cNvSpPr/>
          <p:nvPr/>
        </p:nvSpPr>
        <p:spPr>
          <a:xfrm>
            <a:off x="4480560" y="2872739"/>
            <a:ext cx="109728" cy="109728"/>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63440" y="2834639"/>
            <a:ext cx="3017520" cy="685800"/>
          </a:xfrm>
          <a:prstGeom prst="rect">
            <a:avLst/>
          </a:prstGeom>
          <a:noFill/>
        </p:spPr>
        <p:txBody>
          <a:bodyPr wrap="square">
            <a:spAutoFit/>
          </a:bodyPr>
          <a:lstStyle/>
          <a:p>
            <a:pPr algn="l"/>
            <a:r>
              <a:rPr sz="1100" b="0" i="0">
                <a:solidFill>
                  <a:srgbClr val="0F172A"/>
                </a:solidFill>
                <a:latin typeface="Calibri"/>
              </a:rPr>
              <a:t>Atomic 2-way sync: Starting a session locks the connector instantly</a:t>
            </a:r>
          </a:p>
        </p:txBody>
      </p:sp>
      <p:sp>
        <p:nvSpPr>
          <p:cNvPr id="28" name="Rectangle 27"/>
          <p:cNvSpPr/>
          <p:nvPr/>
        </p:nvSpPr>
        <p:spPr>
          <a:xfrm>
            <a:off x="4480560" y="3604260"/>
            <a:ext cx="109728" cy="109728"/>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63440" y="3566160"/>
            <a:ext cx="3017520" cy="685800"/>
          </a:xfrm>
          <a:prstGeom prst="rect">
            <a:avLst/>
          </a:prstGeom>
          <a:noFill/>
        </p:spPr>
        <p:txBody>
          <a:bodyPr wrap="square">
            <a:spAutoFit/>
          </a:bodyPr>
          <a:lstStyle/>
          <a:p>
            <a:pPr algn="l"/>
            <a:r>
              <a:rPr sz="1100" b="0" i="0">
                <a:solidFill>
                  <a:srgbClr val="0F172A"/>
                </a:solidFill>
                <a:latin typeface="Calibri"/>
              </a:rPr>
              <a:t>Referential integrity: Stations with active sessions cannot be accidentally deleted</a:t>
            </a:r>
          </a:p>
        </p:txBody>
      </p:sp>
      <p:sp>
        <p:nvSpPr>
          <p:cNvPr id="30" name="Rectangle 29"/>
          <p:cNvSpPr/>
          <p:nvPr/>
        </p:nvSpPr>
        <p:spPr>
          <a:xfrm>
            <a:off x="8046720" y="1371600"/>
            <a:ext cx="3611880" cy="31089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46720" y="1371600"/>
            <a:ext cx="3611880" cy="44450"/>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229600" y="1554480"/>
            <a:ext cx="3246120" cy="347472"/>
          </a:xfrm>
          <a:prstGeom prst="rect">
            <a:avLst/>
          </a:prstGeom>
          <a:solidFill>
            <a:srgbClr val="EEF2FF"/>
          </a:solidFill>
          <a:ln w="12700">
            <a:solidFill>
              <a:srgbClr val="EEF2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0" y="1573530"/>
            <a:ext cx="3246120" cy="309372"/>
          </a:xfrm>
          <a:prstGeom prst="rect">
            <a:avLst/>
          </a:prstGeom>
          <a:noFill/>
        </p:spPr>
        <p:txBody>
          <a:bodyPr wrap="square">
            <a:spAutoFit/>
          </a:bodyPr>
          <a:lstStyle/>
          <a:p>
            <a:pPr algn="ctr"/>
            <a:r>
              <a:rPr sz="1100" b="1" i="0">
                <a:solidFill>
                  <a:srgbClr val="7C3AED"/>
                </a:solidFill>
                <a:latin typeface="Calibri"/>
              </a:rPr>
              <a:t>🧠  3. PREDICTIVE CONGESTION AI</a:t>
            </a:r>
          </a:p>
        </p:txBody>
      </p:sp>
      <p:sp>
        <p:nvSpPr>
          <p:cNvPr id="34" name="Rectangle 33"/>
          <p:cNvSpPr/>
          <p:nvPr/>
        </p:nvSpPr>
        <p:spPr>
          <a:xfrm>
            <a:off x="8275320" y="2141220"/>
            <a:ext cx="109728" cy="109728"/>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58200" y="2103120"/>
            <a:ext cx="3017520" cy="685800"/>
          </a:xfrm>
          <a:prstGeom prst="rect">
            <a:avLst/>
          </a:prstGeom>
          <a:noFill/>
        </p:spPr>
        <p:txBody>
          <a:bodyPr wrap="square">
            <a:spAutoFit/>
          </a:bodyPr>
          <a:lstStyle/>
          <a:p>
            <a:pPr algn="l"/>
            <a:r>
              <a:rPr sz="1100" b="0" i="0">
                <a:solidFill>
                  <a:srgbClr val="0F172A"/>
                </a:solidFill>
                <a:latin typeface="Calibri"/>
              </a:rPr>
              <a:t>Decision Tree classifier predicts peak congestion before arrival</a:t>
            </a:r>
          </a:p>
        </p:txBody>
      </p:sp>
      <p:sp>
        <p:nvSpPr>
          <p:cNvPr id="36" name="Rectangle 35"/>
          <p:cNvSpPr/>
          <p:nvPr/>
        </p:nvSpPr>
        <p:spPr>
          <a:xfrm>
            <a:off x="8275320" y="2872739"/>
            <a:ext cx="109728" cy="109728"/>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58200" y="2834639"/>
            <a:ext cx="3017520" cy="685800"/>
          </a:xfrm>
          <a:prstGeom prst="rect">
            <a:avLst/>
          </a:prstGeom>
          <a:noFill/>
        </p:spPr>
        <p:txBody>
          <a:bodyPr wrap="square">
            <a:spAutoFit/>
          </a:bodyPr>
          <a:lstStyle/>
          <a:p>
            <a:pPr algn="l"/>
            <a:r>
              <a:rPr sz="1100" b="0" i="0">
                <a:solidFill>
                  <a:srgbClr val="0F172A"/>
                </a:solidFill>
                <a:latin typeface="Calibri"/>
              </a:rPr>
              <a:t>Trained on hour, day-of-week, charging speed, and peak traffic patterns</a:t>
            </a:r>
          </a:p>
        </p:txBody>
      </p:sp>
      <p:sp>
        <p:nvSpPr>
          <p:cNvPr id="38" name="Rectangle 37"/>
          <p:cNvSpPr/>
          <p:nvPr/>
        </p:nvSpPr>
        <p:spPr>
          <a:xfrm>
            <a:off x="8275320" y="3604260"/>
            <a:ext cx="109728" cy="109728"/>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458200" y="3566160"/>
            <a:ext cx="3017520" cy="685800"/>
          </a:xfrm>
          <a:prstGeom prst="rect">
            <a:avLst/>
          </a:prstGeom>
          <a:noFill/>
        </p:spPr>
        <p:txBody>
          <a:bodyPr wrap="square">
            <a:spAutoFit/>
          </a:bodyPr>
          <a:lstStyle/>
          <a:p>
            <a:pPr algn="l"/>
            <a:r>
              <a:rPr sz="1100" b="0" i="0">
                <a:solidFill>
                  <a:srgbClr val="0F172A"/>
                </a:solidFill>
                <a:latin typeface="Calibri"/>
              </a:rPr>
              <a:t>Actionable advice: Warns drivers to reroute if 85%+ probability of queues</a:t>
            </a:r>
          </a:p>
        </p:txBody>
      </p:sp>
      <p:sp>
        <p:nvSpPr>
          <p:cNvPr id="40" name="Rectangle 39"/>
          <p:cNvSpPr/>
          <p:nvPr/>
        </p:nvSpPr>
        <p:spPr>
          <a:xfrm>
            <a:off x="457200" y="4663440"/>
            <a:ext cx="11274552" cy="16916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4663440"/>
            <a:ext cx="11274552" cy="44450"/>
          </a:xfrm>
          <a:prstGeom prst="rect">
            <a:avLst/>
          </a:prstGeom>
          <a:solidFill>
            <a:srgbClr val="D97706"/>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 y="4800600"/>
            <a:ext cx="10789920" cy="274320"/>
          </a:xfrm>
          <a:prstGeom prst="rect">
            <a:avLst/>
          </a:prstGeom>
          <a:noFill/>
        </p:spPr>
        <p:txBody>
          <a:bodyPr wrap="square">
            <a:spAutoFit/>
          </a:bodyPr>
          <a:lstStyle/>
          <a:p>
            <a:pPr algn="l"/>
            <a:r>
              <a:rPr sz="1100" b="1" i="0">
                <a:solidFill>
                  <a:srgbClr val="D97706"/>
                </a:solidFill>
                <a:latin typeface="Calibri"/>
              </a:rPr>
              <a:t>🎯  DIRECT MAPPING TO CSE494 INTELLIGENT NOSQL COURSE CRITERIA</a:t>
            </a:r>
          </a:p>
        </p:txBody>
      </p:sp>
      <p:sp>
        <p:nvSpPr>
          <p:cNvPr id="43" name="TextBox 42"/>
          <p:cNvSpPr txBox="1"/>
          <p:nvPr/>
        </p:nvSpPr>
        <p:spPr>
          <a:xfrm>
            <a:off x="640080" y="5166360"/>
            <a:ext cx="1371600" cy="228600"/>
          </a:xfrm>
          <a:prstGeom prst="rect">
            <a:avLst/>
          </a:prstGeom>
          <a:noFill/>
        </p:spPr>
        <p:txBody>
          <a:bodyPr wrap="square">
            <a:spAutoFit/>
          </a:bodyPr>
          <a:lstStyle/>
          <a:p>
            <a:pPr algn="l"/>
            <a:r>
              <a:rPr sz="1050" b="1" i="0">
                <a:solidFill>
                  <a:srgbClr val="064E3B"/>
                </a:solidFill>
                <a:latin typeface="Calibri"/>
              </a:rPr>
              <a:t>✓ Document Modeling:</a:t>
            </a:r>
          </a:p>
        </p:txBody>
      </p:sp>
      <p:sp>
        <p:nvSpPr>
          <p:cNvPr id="44" name="TextBox 43"/>
          <p:cNvSpPr txBox="1"/>
          <p:nvPr/>
        </p:nvSpPr>
        <p:spPr>
          <a:xfrm>
            <a:off x="1920240" y="5166360"/>
            <a:ext cx="2194560" cy="438912"/>
          </a:xfrm>
          <a:prstGeom prst="rect">
            <a:avLst/>
          </a:prstGeom>
          <a:noFill/>
        </p:spPr>
        <p:txBody>
          <a:bodyPr wrap="square">
            <a:spAutoFit/>
          </a:bodyPr>
          <a:lstStyle/>
          <a:p>
            <a:pPr algn="l"/>
            <a:r>
              <a:rPr sz="1000" b="0" i="0">
                <a:solidFill>
                  <a:srgbClr val="475569"/>
                </a:solidFill>
                <a:latin typeface="Calibri"/>
              </a:rPr>
              <a:t>Hybrid embedded connectors + referenced sessions</a:t>
            </a:r>
          </a:p>
        </p:txBody>
      </p:sp>
      <p:sp>
        <p:nvSpPr>
          <p:cNvPr id="45" name="TextBox 44"/>
          <p:cNvSpPr txBox="1"/>
          <p:nvPr/>
        </p:nvSpPr>
        <p:spPr>
          <a:xfrm>
            <a:off x="4297680" y="5166360"/>
            <a:ext cx="1371600" cy="228600"/>
          </a:xfrm>
          <a:prstGeom prst="rect">
            <a:avLst/>
          </a:prstGeom>
          <a:noFill/>
        </p:spPr>
        <p:txBody>
          <a:bodyPr wrap="square">
            <a:spAutoFit/>
          </a:bodyPr>
          <a:lstStyle/>
          <a:p>
            <a:pPr algn="l"/>
            <a:r>
              <a:rPr sz="1050" b="1" i="0">
                <a:solidFill>
                  <a:srgbClr val="0284C7"/>
                </a:solidFill>
                <a:latin typeface="Calibri"/>
              </a:rPr>
              <a:t>✓ Schema Validation:</a:t>
            </a:r>
          </a:p>
        </p:txBody>
      </p:sp>
      <p:sp>
        <p:nvSpPr>
          <p:cNvPr id="46" name="TextBox 45"/>
          <p:cNvSpPr txBox="1"/>
          <p:nvPr/>
        </p:nvSpPr>
        <p:spPr>
          <a:xfrm>
            <a:off x="5577840" y="5166360"/>
            <a:ext cx="2194560" cy="438912"/>
          </a:xfrm>
          <a:prstGeom prst="rect">
            <a:avLst/>
          </a:prstGeom>
          <a:noFill/>
        </p:spPr>
        <p:txBody>
          <a:bodyPr wrap="square">
            <a:spAutoFit/>
          </a:bodyPr>
          <a:lstStyle/>
          <a:p>
            <a:pPr algn="l"/>
            <a:r>
              <a:rPr sz="1000" b="0" i="0">
                <a:solidFill>
                  <a:srgbClr val="475569"/>
                </a:solidFill>
                <a:latin typeface="Calibri"/>
              </a:rPr>
              <a:t>$jsonSchema enforces positive speeds &amp; enum values</a:t>
            </a:r>
          </a:p>
        </p:txBody>
      </p:sp>
      <p:sp>
        <p:nvSpPr>
          <p:cNvPr id="47" name="TextBox 46"/>
          <p:cNvSpPr txBox="1"/>
          <p:nvPr/>
        </p:nvSpPr>
        <p:spPr>
          <a:xfrm>
            <a:off x="7955279" y="5166360"/>
            <a:ext cx="1371600" cy="228600"/>
          </a:xfrm>
          <a:prstGeom prst="rect">
            <a:avLst/>
          </a:prstGeom>
          <a:noFill/>
        </p:spPr>
        <p:txBody>
          <a:bodyPr wrap="square">
            <a:spAutoFit/>
          </a:bodyPr>
          <a:lstStyle/>
          <a:p>
            <a:pPr algn="l"/>
            <a:r>
              <a:rPr sz="1050" b="1" i="0">
                <a:solidFill>
                  <a:srgbClr val="064E3B"/>
                </a:solidFill>
                <a:latin typeface="Calibri"/>
              </a:rPr>
              <a:t>✓ Full PyMongo CRUD:</a:t>
            </a:r>
          </a:p>
        </p:txBody>
      </p:sp>
      <p:sp>
        <p:nvSpPr>
          <p:cNvPr id="48" name="TextBox 47"/>
          <p:cNvSpPr txBox="1"/>
          <p:nvPr/>
        </p:nvSpPr>
        <p:spPr>
          <a:xfrm>
            <a:off x="9235439" y="5166360"/>
            <a:ext cx="2194560" cy="438912"/>
          </a:xfrm>
          <a:prstGeom prst="rect">
            <a:avLst/>
          </a:prstGeom>
          <a:noFill/>
        </p:spPr>
        <p:txBody>
          <a:bodyPr wrap="square">
            <a:spAutoFit/>
          </a:bodyPr>
          <a:lstStyle/>
          <a:p>
            <a:pPr algn="l"/>
            <a:r>
              <a:rPr sz="1000" b="0" i="0">
                <a:solidFill>
                  <a:srgbClr val="475569"/>
                </a:solidFill>
                <a:latin typeface="Calibri"/>
              </a:rPr>
              <a:t>Create, Read (regex), Update (atomic $set), Delete (guarded)</a:t>
            </a:r>
          </a:p>
        </p:txBody>
      </p:sp>
      <p:sp>
        <p:nvSpPr>
          <p:cNvPr id="49" name="TextBox 48"/>
          <p:cNvSpPr txBox="1"/>
          <p:nvPr/>
        </p:nvSpPr>
        <p:spPr>
          <a:xfrm>
            <a:off x="640080" y="5696712"/>
            <a:ext cx="1371600" cy="228600"/>
          </a:xfrm>
          <a:prstGeom prst="rect">
            <a:avLst/>
          </a:prstGeom>
          <a:noFill/>
        </p:spPr>
        <p:txBody>
          <a:bodyPr wrap="square">
            <a:spAutoFit/>
          </a:bodyPr>
          <a:lstStyle/>
          <a:p>
            <a:pPr algn="l"/>
            <a:r>
              <a:rPr sz="1050" b="1" i="0">
                <a:solidFill>
                  <a:srgbClr val="7C3AED"/>
                </a:solidFill>
                <a:latin typeface="Calibri"/>
              </a:rPr>
              <a:t>✓ 5 Aggregations:</a:t>
            </a:r>
          </a:p>
        </p:txBody>
      </p:sp>
      <p:sp>
        <p:nvSpPr>
          <p:cNvPr id="50" name="TextBox 49"/>
          <p:cNvSpPr txBox="1"/>
          <p:nvPr/>
        </p:nvSpPr>
        <p:spPr>
          <a:xfrm>
            <a:off x="1920240" y="5696712"/>
            <a:ext cx="2194560" cy="438912"/>
          </a:xfrm>
          <a:prstGeom prst="rect">
            <a:avLst/>
          </a:prstGeom>
          <a:noFill/>
        </p:spPr>
        <p:txBody>
          <a:bodyPr wrap="square">
            <a:spAutoFit/>
          </a:bodyPr>
          <a:lstStyle/>
          <a:p>
            <a:pPr algn="l"/>
            <a:r>
              <a:rPr sz="1000" b="0" i="0">
                <a:solidFill>
                  <a:srgbClr val="475569"/>
                </a:solidFill>
                <a:latin typeface="Calibri"/>
              </a:rPr>
              <a:t>$match, $unwind, $group, $lookup, $sort multi-stage pipelines</a:t>
            </a:r>
          </a:p>
        </p:txBody>
      </p:sp>
      <p:sp>
        <p:nvSpPr>
          <p:cNvPr id="51" name="TextBox 50"/>
          <p:cNvSpPr txBox="1"/>
          <p:nvPr/>
        </p:nvSpPr>
        <p:spPr>
          <a:xfrm>
            <a:off x="4297680" y="5696712"/>
            <a:ext cx="1371600" cy="228600"/>
          </a:xfrm>
          <a:prstGeom prst="rect">
            <a:avLst/>
          </a:prstGeom>
          <a:noFill/>
        </p:spPr>
        <p:txBody>
          <a:bodyPr wrap="square">
            <a:spAutoFit/>
          </a:bodyPr>
          <a:lstStyle/>
          <a:p>
            <a:pPr algn="l"/>
            <a:r>
              <a:rPr sz="1050" b="1" i="0">
                <a:solidFill>
                  <a:srgbClr val="0284C7"/>
                </a:solidFill>
                <a:latin typeface="Calibri"/>
              </a:rPr>
              <a:t>✓ Query Performance:</a:t>
            </a:r>
          </a:p>
        </p:txBody>
      </p:sp>
      <p:sp>
        <p:nvSpPr>
          <p:cNvPr id="52" name="TextBox 51"/>
          <p:cNvSpPr txBox="1"/>
          <p:nvPr/>
        </p:nvSpPr>
        <p:spPr>
          <a:xfrm>
            <a:off x="5577840" y="5696712"/>
            <a:ext cx="2194560" cy="438912"/>
          </a:xfrm>
          <a:prstGeom prst="rect">
            <a:avLst/>
          </a:prstGeom>
          <a:noFill/>
        </p:spPr>
        <p:txBody>
          <a:bodyPr wrap="square">
            <a:spAutoFit/>
          </a:bodyPr>
          <a:lstStyle/>
          <a:p>
            <a:pPr algn="l"/>
            <a:r>
              <a:rPr sz="1000" b="0" i="0">
                <a:solidFill>
                  <a:srgbClr val="475569"/>
                </a:solidFill>
                <a:latin typeface="Calibri"/>
              </a:rPr>
              <a:t>Compound B-Tree index with explain() IXSCAN verification</a:t>
            </a:r>
          </a:p>
        </p:txBody>
      </p:sp>
      <p:sp>
        <p:nvSpPr>
          <p:cNvPr id="53" name="TextBox 52"/>
          <p:cNvSpPr txBox="1"/>
          <p:nvPr/>
        </p:nvSpPr>
        <p:spPr>
          <a:xfrm>
            <a:off x="7955279" y="5696712"/>
            <a:ext cx="1371600" cy="228600"/>
          </a:xfrm>
          <a:prstGeom prst="rect">
            <a:avLst/>
          </a:prstGeom>
          <a:noFill/>
        </p:spPr>
        <p:txBody>
          <a:bodyPr wrap="square">
            <a:spAutoFit/>
          </a:bodyPr>
          <a:lstStyle/>
          <a:p>
            <a:pPr algn="l"/>
            <a:r>
              <a:rPr sz="1050" b="1" i="0">
                <a:solidFill>
                  <a:srgbClr val="7C3AED"/>
                </a:solidFill>
                <a:latin typeface="Calibri"/>
              </a:rPr>
              <a:t>✓ Applied AI Layer:</a:t>
            </a:r>
          </a:p>
        </p:txBody>
      </p:sp>
      <p:sp>
        <p:nvSpPr>
          <p:cNvPr id="54" name="TextBox 53"/>
          <p:cNvSpPr txBox="1"/>
          <p:nvPr/>
        </p:nvSpPr>
        <p:spPr>
          <a:xfrm>
            <a:off x="9235439" y="5696712"/>
            <a:ext cx="2194560" cy="438912"/>
          </a:xfrm>
          <a:prstGeom prst="rect">
            <a:avLst/>
          </a:prstGeom>
          <a:noFill/>
        </p:spPr>
        <p:txBody>
          <a:bodyPr wrap="square">
            <a:spAutoFit/>
          </a:bodyPr>
          <a:lstStyle/>
          <a:p>
            <a:pPr algn="l"/>
            <a:r>
              <a:rPr sz="1000" b="0" i="0">
                <a:solidFill>
                  <a:srgbClr val="475569"/>
                </a:solidFill>
                <a:latin typeface="Calibri"/>
              </a:rPr>
              <a:t>Explainable scikit-learn Decision Tree model (91.3% test accuracy)</a:t>
            </a:r>
          </a:p>
        </p:txBody>
      </p:sp>
      <p:sp>
        <p:nvSpPr>
          <p:cNvPr id="55" name="TextBox 54"/>
          <p:cNvSpPr txBox="1"/>
          <p:nvPr/>
        </p:nvSpPr>
        <p:spPr>
          <a:xfrm>
            <a:off x="11094415" y="6492240"/>
            <a:ext cx="822960" cy="274320"/>
          </a:xfrm>
          <a:prstGeom prst="rect">
            <a:avLst/>
          </a:prstGeom>
          <a:noFill/>
        </p:spPr>
        <p:txBody>
          <a:bodyPr wrap="square">
            <a:spAutoFit/>
          </a:bodyPr>
          <a:lstStyle/>
          <a:p>
            <a:pPr algn="r"/>
            <a:r>
              <a:rPr sz="1000" b="0" i="0">
                <a:solidFill>
                  <a:srgbClr val="475569"/>
                </a:solidFill>
                <a:latin typeface="Calibri"/>
              </a:rPr>
              <a:t>03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70432"/>
            <a:ext cx="8534186" cy="38100"/>
          </a:xfrm>
          <a:prstGeom prst="rect">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34186" y="1170432"/>
            <a:ext cx="3657508" cy="38100"/>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7160"/>
            <a:ext cx="2926080" cy="256032"/>
          </a:xfrm>
          <a:prstGeom prst="rect">
            <a:avLst/>
          </a:prstGeom>
          <a:solidFill>
            <a:srgbClr val="E0F2FE"/>
          </a:solidFill>
          <a:ln w="12700">
            <a:solidFill>
              <a:srgbClr val="E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56210"/>
            <a:ext cx="2926080" cy="217932"/>
          </a:xfrm>
          <a:prstGeom prst="rect">
            <a:avLst/>
          </a:prstGeom>
          <a:noFill/>
        </p:spPr>
        <p:txBody>
          <a:bodyPr wrap="square">
            <a:spAutoFit/>
          </a:bodyPr>
          <a:lstStyle/>
          <a:p>
            <a:pPr algn="ctr"/>
            <a:r>
              <a:rPr sz="900" b="1" i="0">
                <a:solidFill>
                  <a:srgbClr val="0284C7"/>
                </a:solidFill>
                <a:latin typeface="Calibri"/>
              </a:rPr>
              <a:t>🏗️ ARCHITECTURE &amp; TECH STACK</a:t>
            </a:r>
          </a:p>
        </p:txBody>
      </p:sp>
      <p:sp>
        <p:nvSpPr>
          <p:cNvPr id="8" name="TextBox 7"/>
          <p:cNvSpPr txBox="1"/>
          <p:nvPr/>
        </p:nvSpPr>
        <p:spPr>
          <a:xfrm>
            <a:off x="457200" y="420624"/>
            <a:ext cx="9144000" cy="411480"/>
          </a:xfrm>
          <a:prstGeom prst="rect">
            <a:avLst/>
          </a:prstGeom>
          <a:noFill/>
        </p:spPr>
        <p:txBody>
          <a:bodyPr wrap="square">
            <a:spAutoFit/>
          </a:bodyPr>
          <a:lstStyle/>
          <a:p>
            <a:pPr algn="l"/>
            <a:r>
              <a:rPr sz="2200" b="1" i="0">
                <a:solidFill>
                  <a:srgbClr val="0F172A"/>
                </a:solidFill>
                <a:latin typeface="Calibri"/>
              </a:rPr>
              <a:t>Under the Hood: 4-Tier Scalable Architecture &amp; Technology Stack</a:t>
            </a:r>
          </a:p>
        </p:txBody>
      </p:sp>
      <p:sp>
        <p:nvSpPr>
          <p:cNvPr id="9" name="TextBox 8"/>
          <p:cNvSpPr txBox="1"/>
          <p:nvPr/>
        </p:nvSpPr>
        <p:spPr>
          <a:xfrm>
            <a:off x="457200" y="804672"/>
            <a:ext cx="10058400" cy="320040"/>
          </a:xfrm>
          <a:prstGeom prst="rect">
            <a:avLst/>
          </a:prstGeom>
          <a:noFill/>
        </p:spPr>
        <p:txBody>
          <a:bodyPr wrap="square">
            <a:spAutoFit/>
          </a:bodyPr>
          <a:lstStyle/>
          <a:p>
            <a:pPr algn="l"/>
            <a:r>
              <a:rPr sz="1200" b="0" i="1">
                <a:solidFill>
                  <a:srgbClr val="475569"/>
                </a:solidFill>
                <a:latin typeface="Calibri"/>
              </a:rPr>
              <a:t>Modular design separating UI components, business controllers, machine learning, and NoSQL storage</a:t>
            </a:r>
          </a:p>
        </p:txBody>
      </p:sp>
      <p:sp>
        <p:nvSpPr>
          <p:cNvPr id="10" name="Rectangle 9"/>
          <p:cNvSpPr/>
          <p:nvPr/>
        </p:nvSpPr>
        <p:spPr>
          <a:xfrm>
            <a:off x="457200" y="1371600"/>
            <a:ext cx="2697480" cy="39319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371600"/>
            <a:ext cx="2697480" cy="44450"/>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1554480"/>
            <a:ext cx="2423160" cy="274320"/>
          </a:xfrm>
          <a:prstGeom prst="rect">
            <a:avLst/>
          </a:prstGeom>
          <a:solidFill>
            <a:srgbClr val="E0F2FE"/>
          </a:solidFill>
          <a:ln w="12700">
            <a:solidFill>
              <a:srgbClr val="E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573530"/>
            <a:ext cx="2423160" cy="236220"/>
          </a:xfrm>
          <a:prstGeom prst="rect">
            <a:avLst/>
          </a:prstGeom>
          <a:noFill/>
        </p:spPr>
        <p:txBody>
          <a:bodyPr wrap="square">
            <a:spAutoFit/>
          </a:bodyPr>
          <a:lstStyle/>
          <a:p>
            <a:pPr algn="ctr"/>
            <a:r>
              <a:rPr sz="950" b="1" i="0">
                <a:solidFill>
                  <a:srgbClr val="0284C7"/>
                </a:solidFill>
                <a:latin typeface="Calibri"/>
              </a:rPr>
              <a:t>1. Presentation Tier</a:t>
            </a:r>
          </a:p>
        </p:txBody>
      </p:sp>
      <p:sp>
        <p:nvSpPr>
          <p:cNvPr id="14" name="TextBox 13"/>
          <p:cNvSpPr txBox="1"/>
          <p:nvPr/>
        </p:nvSpPr>
        <p:spPr>
          <a:xfrm>
            <a:off x="594360" y="1920240"/>
            <a:ext cx="2423160" cy="457200"/>
          </a:xfrm>
          <a:prstGeom prst="rect">
            <a:avLst/>
          </a:prstGeom>
          <a:noFill/>
        </p:spPr>
        <p:txBody>
          <a:bodyPr wrap="square">
            <a:spAutoFit/>
          </a:bodyPr>
          <a:lstStyle/>
          <a:p>
            <a:pPr algn="l"/>
            <a:r>
              <a:rPr sz="1200" b="1" i="0">
                <a:solidFill>
                  <a:srgbClr val="0F172A"/>
                </a:solidFill>
                <a:latin typeface="Calibri"/>
              </a:rPr>
              <a:t>🎨 Streamlit 1.43 + Plotly</a:t>
            </a:r>
          </a:p>
        </p:txBody>
      </p:sp>
      <p:sp>
        <p:nvSpPr>
          <p:cNvPr id="15" name="TextBox 14"/>
          <p:cNvSpPr txBox="1"/>
          <p:nvPr/>
        </p:nvSpPr>
        <p:spPr>
          <a:xfrm>
            <a:off x="594360" y="2423160"/>
            <a:ext cx="2423160" cy="2743200"/>
          </a:xfrm>
          <a:prstGeom prst="rect">
            <a:avLst/>
          </a:prstGeom>
          <a:noFill/>
        </p:spPr>
        <p:txBody>
          <a:bodyPr wrap="square">
            <a:spAutoFit/>
          </a:bodyPr>
          <a:lstStyle/>
          <a:p>
            <a:pPr algn="l"/>
            <a:r>
              <a:rPr sz="1050" b="0" i="0">
                <a:solidFill>
                  <a:srgbClr val="475569"/>
                </a:solidFill>
                <a:latin typeface="Calibri"/>
              </a:rPr>
              <a:t>• Multi-page reactive web UI with custom CSS styling
• Real-time interactive charts (Donut, Bar, Heatmap)
• Instant responsive feedback with zero JavaScript bloat</a:t>
            </a:r>
          </a:p>
        </p:txBody>
      </p:sp>
      <p:sp>
        <p:nvSpPr>
          <p:cNvPr id="16" name="Rectangle 15"/>
          <p:cNvSpPr/>
          <p:nvPr/>
        </p:nvSpPr>
        <p:spPr>
          <a:xfrm>
            <a:off x="3291840" y="1371600"/>
            <a:ext cx="2697480" cy="39319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91840" y="1371600"/>
            <a:ext cx="2697480" cy="44450"/>
          </a:xfrm>
          <a:prstGeom prst="rect">
            <a:avLst/>
          </a:prstGeom>
          <a:solidFill>
            <a:srgbClr val="064E3B"/>
          </a:solidFill>
          <a:ln w="12700">
            <a:solidFill>
              <a:srgbClr val="064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29000" y="1554480"/>
            <a:ext cx="2423160" cy="274320"/>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29000" y="1573530"/>
            <a:ext cx="2423160" cy="236220"/>
          </a:xfrm>
          <a:prstGeom prst="rect">
            <a:avLst/>
          </a:prstGeom>
          <a:noFill/>
        </p:spPr>
        <p:txBody>
          <a:bodyPr wrap="square">
            <a:spAutoFit/>
          </a:bodyPr>
          <a:lstStyle/>
          <a:p>
            <a:pPr algn="ctr"/>
            <a:r>
              <a:rPr sz="950" b="1" i="0">
                <a:solidFill>
                  <a:srgbClr val="064E3B"/>
                </a:solidFill>
                <a:latin typeface="Calibri"/>
              </a:rPr>
              <a:t>2. Service &amp; Business Logic</a:t>
            </a:r>
          </a:p>
        </p:txBody>
      </p:sp>
      <p:sp>
        <p:nvSpPr>
          <p:cNvPr id="20" name="TextBox 19"/>
          <p:cNvSpPr txBox="1"/>
          <p:nvPr/>
        </p:nvSpPr>
        <p:spPr>
          <a:xfrm>
            <a:off x="3429000" y="1920240"/>
            <a:ext cx="2423160" cy="457200"/>
          </a:xfrm>
          <a:prstGeom prst="rect">
            <a:avLst/>
          </a:prstGeom>
          <a:noFill/>
        </p:spPr>
        <p:txBody>
          <a:bodyPr wrap="square">
            <a:spAutoFit/>
          </a:bodyPr>
          <a:lstStyle/>
          <a:p>
            <a:pPr algn="l"/>
            <a:r>
              <a:rPr sz="1200" b="1" i="0">
                <a:solidFill>
                  <a:srgbClr val="0F172A"/>
                </a:solidFill>
                <a:latin typeface="Calibri"/>
              </a:rPr>
              <a:t>⚙️ Python 3.11 + PyMongo</a:t>
            </a:r>
          </a:p>
        </p:txBody>
      </p:sp>
      <p:sp>
        <p:nvSpPr>
          <p:cNvPr id="21" name="TextBox 20"/>
          <p:cNvSpPr txBox="1"/>
          <p:nvPr/>
        </p:nvSpPr>
        <p:spPr>
          <a:xfrm>
            <a:off x="3429000" y="2423160"/>
            <a:ext cx="2423160" cy="2743200"/>
          </a:xfrm>
          <a:prstGeom prst="rect">
            <a:avLst/>
          </a:prstGeom>
          <a:noFill/>
        </p:spPr>
        <p:txBody>
          <a:bodyPr wrap="square">
            <a:spAutoFit/>
          </a:bodyPr>
          <a:lstStyle/>
          <a:p>
            <a:pPr algn="l"/>
            <a:r>
              <a:rPr sz="1050" b="0" i="0">
                <a:solidFill>
                  <a:srgbClr val="475569"/>
                </a:solidFill>
                <a:latin typeface="Calibri"/>
              </a:rPr>
              <a:t>• StationManager &amp; SessionManager service layers
• Atomic connector status transition state machine
• Referential integrity protection before deletion</a:t>
            </a:r>
          </a:p>
        </p:txBody>
      </p:sp>
      <p:sp>
        <p:nvSpPr>
          <p:cNvPr id="22" name="Rectangle 21"/>
          <p:cNvSpPr/>
          <p:nvPr/>
        </p:nvSpPr>
        <p:spPr>
          <a:xfrm>
            <a:off x="6126480" y="1371600"/>
            <a:ext cx="2697480" cy="39319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0" y="1371600"/>
            <a:ext cx="2697480" cy="44450"/>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63640" y="1554480"/>
            <a:ext cx="2423160" cy="274320"/>
          </a:xfrm>
          <a:prstGeom prst="rect">
            <a:avLst/>
          </a:prstGeom>
          <a:solidFill>
            <a:srgbClr val="EEF2FF"/>
          </a:solidFill>
          <a:ln w="12700">
            <a:solidFill>
              <a:srgbClr val="EEF2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63640" y="1573530"/>
            <a:ext cx="2423160" cy="236220"/>
          </a:xfrm>
          <a:prstGeom prst="rect">
            <a:avLst/>
          </a:prstGeom>
          <a:noFill/>
        </p:spPr>
        <p:txBody>
          <a:bodyPr wrap="square">
            <a:spAutoFit/>
          </a:bodyPr>
          <a:lstStyle/>
          <a:p>
            <a:pPr algn="ctr"/>
            <a:r>
              <a:rPr sz="950" b="1" i="0">
                <a:solidFill>
                  <a:srgbClr val="7C3AED"/>
                </a:solidFill>
                <a:latin typeface="Calibri"/>
              </a:rPr>
              <a:t>3. Predictive ML Engine</a:t>
            </a:r>
          </a:p>
        </p:txBody>
      </p:sp>
      <p:sp>
        <p:nvSpPr>
          <p:cNvPr id="26" name="TextBox 25"/>
          <p:cNvSpPr txBox="1"/>
          <p:nvPr/>
        </p:nvSpPr>
        <p:spPr>
          <a:xfrm>
            <a:off x="6263640" y="1920240"/>
            <a:ext cx="2423160" cy="457200"/>
          </a:xfrm>
          <a:prstGeom prst="rect">
            <a:avLst/>
          </a:prstGeom>
          <a:noFill/>
        </p:spPr>
        <p:txBody>
          <a:bodyPr wrap="square">
            <a:spAutoFit/>
          </a:bodyPr>
          <a:lstStyle/>
          <a:p>
            <a:pPr algn="l"/>
            <a:r>
              <a:rPr sz="1200" b="1" i="0">
                <a:solidFill>
                  <a:srgbClr val="0F172A"/>
                </a:solidFill>
                <a:latin typeface="Calibri"/>
              </a:rPr>
              <a:t>🧠 scikit-learn DecisionTree</a:t>
            </a:r>
          </a:p>
        </p:txBody>
      </p:sp>
      <p:sp>
        <p:nvSpPr>
          <p:cNvPr id="27" name="TextBox 26"/>
          <p:cNvSpPr txBox="1"/>
          <p:nvPr/>
        </p:nvSpPr>
        <p:spPr>
          <a:xfrm>
            <a:off x="6263640" y="2423160"/>
            <a:ext cx="2423160" cy="2743200"/>
          </a:xfrm>
          <a:prstGeom prst="rect">
            <a:avLst/>
          </a:prstGeom>
          <a:noFill/>
        </p:spPr>
        <p:txBody>
          <a:bodyPr wrap="square">
            <a:spAutoFit/>
          </a:bodyPr>
          <a:lstStyle/>
          <a:p>
            <a:pPr algn="l"/>
            <a:r>
              <a:rPr sz="1050" b="0" i="0">
                <a:solidFill>
                  <a:srgbClr val="475569"/>
                </a:solidFill>
                <a:latin typeface="Calibri"/>
              </a:rPr>
              <a:t>• 5-Feature congestion classifier (Hour, Day, Speed, Peak)
• Evaluated at 91.3% accuracy on synthetic training logs
• Purely reads data; never creates database write locks</a:t>
            </a:r>
          </a:p>
        </p:txBody>
      </p:sp>
      <p:sp>
        <p:nvSpPr>
          <p:cNvPr id="28" name="Rectangle 27"/>
          <p:cNvSpPr/>
          <p:nvPr/>
        </p:nvSpPr>
        <p:spPr>
          <a:xfrm>
            <a:off x="8961120" y="1371600"/>
            <a:ext cx="2697480" cy="39319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961120" y="1371600"/>
            <a:ext cx="2697480" cy="44450"/>
          </a:xfrm>
          <a:prstGeom prst="rect">
            <a:avLst/>
          </a:prstGeom>
          <a:solidFill>
            <a:srgbClr val="D97706"/>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098280" y="1554480"/>
            <a:ext cx="2423160" cy="274320"/>
          </a:xfrm>
          <a:prstGeom prst="rect">
            <a:avLst/>
          </a:prstGeom>
          <a:solidFill>
            <a:srgbClr val="FEF3C7"/>
          </a:solidFill>
          <a:ln w="12700">
            <a:solidFill>
              <a:srgbClr val="FEF3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098280" y="1573530"/>
            <a:ext cx="2423160" cy="236220"/>
          </a:xfrm>
          <a:prstGeom prst="rect">
            <a:avLst/>
          </a:prstGeom>
          <a:noFill/>
        </p:spPr>
        <p:txBody>
          <a:bodyPr wrap="square">
            <a:spAutoFit/>
          </a:bodyPr>
          <a:lstStyle/>
          <a:p>
            <a:pPr algn="ctr"/>
            <a:r>
              <a:rPr sz="950" b="1" i="0">
                <a:solidFill>
                  <a:srgbClr val="D97706"/>
                </a:solidFill>
                <a:latin typeface="Calibri"/>
              </a:rPr>
              <a:t>4. Intelligent NoSQL Store</a:t>
            </a:r>
          </a:p>
        </p:txBody>
      </p:sp>
      <p:sp>
        <p:nvSpPr>
          <p:cNvPr id="32" name="TextBox 31"/>
          <p:cNvSpPr txBox="1"/>
          <p:nvPr/>
        </p:nvSpPr>
        <p:spPr>
          <a:xfrm>
            <a:off x="9098280" y="1920240"/>
            <a:ext cx="2423160" cy="457200"/>
          </a:xfrm>
          <a:prstGeom prst="rect">
            <a:avLst/>
          </a:prstGeom>
          <a:noFill/>
        </p:spPr>
        <p:txBody>
          <a:bodyPr wrap="square">
            <a:spAutoFit/>
          </a:bodyPr>
          <a:lstStyle/>
          <a:p>
            <a:pPr algn="l"/>
            <a:r>
              <a:rPr sz="1200" b="1" i="0">
                <a:solidFill>
                  <a:srgbClr val="0F172A"/>
                </a:solidFill>
                <a:latin typeface="Calibri"/>
              </a:rPr>
              <a:t>🍃 MongoDB 7.0 Community</a:t>
            </a:r>
          </a:p>
        </p:txBody>
      </p:sp>
      <p:sp>
        <p:nvSpPr>
          <p:cNvPr id="33" name="TextBox 32"/>
          <p:cNvSpPr txBox="1"/>
          <p:nvPr/>
        </p:nvSpPr>
        <p:spPr>
          <a:xfrm>
            <a:off x="9098280" y="2423160"/>
            <a:ext cx="2423160" cy="2743200"/>
          </a:xfrm>
          <a:prstGeom prst="rect">
            <a:avLst/>
          </a:prstGeom>
          <a:noFill/>
        </p:spPr>
        <p:txBody>
          <a:bodyPr wrap="square">
            <a:spAutoFit/>
          </a:bodyPr>
          <a:lstStyle/>
          <a:p>
            <a:pPr algn="l"/>
            <a:r>
              <a:rPr sz="1050" b="0" i="0">
                <a:solidFill>
                  <a:srgbClr val="475569"/>
                </a:solidFill>
                <a:latin typeface="Calibri"/>
              </a:rPr>
              <a:t>• Hybrid document model (stations + charging_sessions)
• Collection-level $jsonSchema validation enforcement
• Indexed compound queries executing in under 5 milliseconds</a:t>
            </a:r>
          </a:p>
        </p:txBody>
      </p:sp>
      <p:sp>
        <p:nvSpPr>
          <p:cNvPr id="34" name="Rectangle 33"/>
          <p:cNvSpPr/>
          <p:nvPr/>
        </p:nvSpPr>
        <p:spPr>
          <a:xfrm>
            <a:off x="457200" y="5486400"/>
            <a:ext cx="11274552" cy="868680"/>
          </a:xfrm>
          <a:prstGeom prst="rect">
            <a:avLst/>
          </a:prstGeom>
          <a:solidFill>
            <a:srgbClr val="064E3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5577840"/>
            <a:ext cx="10789920" cy="228600"/>
          </a:xfrm>
          <a:prstGeom prst="rect">
            <a:avLst/>
          </a:prstGeom>
          <a:noFill/>
        </p:spPr>
        <p:txBody>
          <a:bodyPr wrap="square">
            <a:spAutoFit/>
          </a:bodyPr>
          <a:lstStyle/>
          <a:p>
            <a:pPr algn="l"/>
            <a:r>
              <a:rPr sz="1000" b="1" i="0">
                <a:solidFill>
                  <a:srgbClr val="D97706"/>
                </a:solidFill>
                <a:latin typeface="Calibri"/>
              </a:rPr>
              <a:t>⚡ END-TO-END DATAFLOW PIPELINE:</a:t>
            </a:r>
          </a:p>
        </p:txBody>
      </p:sp>
      <p:sp>
        <p:nvSpPr>
          <p:cNvPr id="36" name="TextBox 35"/>
          <p:cNvSpPr txBox="1"/>
          <p:nvPr/>
        </p:nvSpPr>
        <p:spPr>
          <a:xfrm>
            <a:off x="731520" y="5806440"/>
            <a:ext cx="10789920" cy="457200"/>
          </a:xfrm>
          <a:prstGeom prst="rect">
            <a:avLst/>
          </a:prstGeom>
          <a:noFill/>
        </p:spPr>
        <p:txBody>
          <a:bodyPr wrap="square">
            <a:spAutoFit/>
          </a:bodyPr>
          <a:lstStyle/>
          <a:p>
            <a:pPr algn="l"/>
            <a:r>
              <a:rPr sz="1050" b="1" i="0">
                <a:solidFill>
                  <a:srgbClr val="FFFFFF"/>
                </a:solidFill>
                <a:latin typeface="Calibri"/>
              </a:rPr>
              <a:t>USER ACTION IN BROWSER  ➔  STREAMLIT EVENT HANDLER  ➔  PYMONGO SERVICE LAYER  ➔  MONGODB B-TREE INDEX (&lt;5ms)  ➔  INSTANT UI RE-RENDER</a:t>
            </a:r>
          </a:p>
        </p:txBody>
      </p:sp>
      <p:sp>
        <p:nvSpPr>
          <p:cNvPr id="37" name="TextBox 36"/>
          <p:cNvSpPr txBox="1"/>
          <p:nvPr/>
        </p:nvSpPr>
        <p:spPr>
          <a:xfrm>
            <a:off x="11094415" y="6492240"/>
            <a:ext cx="822960" cy="274320"/>
          </a:xfrm>
          <a:prstGeom prst="rect">
            <a:avLst/>
          </a:prstGeom>
          <a:noFill/>
        </p:spPr>
        <p:txBody>
          <a:bodyPr wrap="square">
            <a:spAutoFit/>
          </a:bodyPr>
          <a:lstStyle/>
          <a:p>
            <a:pPr algn="r"/>
            <a:r>
              <a:rPr sz="1000" b="0" i="0">
                <a:solidFill>
                  <a:srgbClr val="475569"/>
                </a:solidFill>
                <a:latin typeface="Calibri"/>
              </a:rPr>
              <a:t>04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70432"/>
            <a:ext cx="8534186" cy="38100"/>
          </a:xfrm>
          <a:prstGeom prst="rect">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34186" y="1170432"/>
            <a:ext cx="3657508" cy="38100"/>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7160"/>
            <a:ext cx="2926080" cy="256032"/>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56210"/>
            <a:ext cx="2926080" cy="217932"/>
          </a:xfrm>
          <a:prstGeom prst="rect">
            <a:avLst/>
          </a:prstGeom>
          <a:noFill/>
        </p:spPr>
        <p:txBody>
          <a:bodyPr wrap="square">
            <a:spAutoFit/>
          </a:bodyPr>
          <a:lstStyle/>
          <a:p>
            <a:pPr algn="ctr"/>
            <a:r>
              <a:rPr sz="900" b="1" i="0">
                <a:solidFill>
                  <a:srgbClr val="064E3B"/>
                </a:solidFill>
                <a:latin typeface="Calibri"/>
              </a:rPr>
              <a:t>🍃 MONGODB DOCUMENT BLUEPRINT</a:t>
            </a:r>
          </a:p>
        </p:txBody>
      </p:sp>
      <p:sp>
        <p:nvSpPr>
          <p:cNvPr id="8" name="TextBox 7"/>
          <p:cNvSpPr txBox="1"/>
          <p:nvPr/>
        </p:nvSpPr>
        <p:spPr>
          <a:xfrm>
            <a:off x="457200" y="420624"/>
            <a:ext cx="9144000" cy="411480"/>
          </a:xfrm>
          <a:prstGeom prst="rect">
            <a:avLst/>
          </a:prstGeom>
          <a:noFill/>
        </p:spPr>
        <p:txBody>
          <a:bodyPr wrap="square">
            <a:spAutoFit/>
          </a:bodyPr>
          <a:lstStyle/>
          <a:p>
            <a:pPr algn="l"/>
            <a:r>
              <a:rPr sz="2200" b="1" i="0">
                <a:solidFill>
                  <a:srgbClr val="0F172A"/>
                </a:solidFill>
                <a:latin typeface="Calibri"/>
              </a:rPr>
              <a:t>Data by Design: Why We Embedded Connectors but Referenced Sessions</a:t>
            </a:r>
          </a:p>
        </p:txBody>
      </p:sp>
      <p:sp>
        <p:nvSpPr>
          <p:cNvPr id="9" name="TextBox 8"/>
          <p:cNvSpPr txBox="1"/>
          <p:nvPr/>
        </p:nvSpPr>
        <p:spPr>
          <a:xfrm>
            <a:off x="457200" y="804672"/>
            <a:ext cx="10058400" cy="320040"/>
          </a:xfrm>
          <a:prstGeom prst="rect">
            <a:avLst/>
          </a:prstGeom>
          <a:noFill/>
        </p:spPr>
        <p:txBody>
          <a:bodyPr wrap="square">
            <a:spAutoFit/>
          </a:bodyPr>
          <a:lstStyle/>
          <a:p>
            <a:pPr algn="l"/>
            <a:r>
              <a:rPr sz="1200" b="0" i="1">
                <a:solidFill>
                  <a:srgbClr val="475569"/>
                </a:solidFill>
                <a:latin typeface="Calibri"/>
              </a:rPr>
              <a:t>Understanding the core NoSQL engineering trade-off: 1-to-Few vs 1-to-Unbounded Growth</a:t>
            </a:r>
          </a:p>
        </p:txBody>
      </p:sp>
      <p:sp>
        <p:nvSpPr>
          <p:cNvPr id="10" name="Rectangle 9"/>
          <p:cNvSpPr/>
          <p:nvPr/>
        </p:nvSpPr>
        <p:spPr>
          <a:xfrm>
            <a:off x="457200" y="1371600"/>
            <a:ext cx="5486400" cy="39319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371600"/>
            <a:ext cx="5486400" cy="44450"/>
          </a:xfrm>
          <a:prstGeom prst="rect">
            <a:avLst/>
          </a:prstGeom>
          <a:solidFill>
            <a:srgbClr val="064E3B"/>
          </a:solidFill>
          <a:ln w="12700">
            <a:solidFill>
              <a:srgbClr val="064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1554480"/>
            <a:ext cx="5120640" cy="292608"/>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1573530"/>
            <a:ext cx="5120640" cy="254508"/>
          </a:xfrm>
          <a:prstGeom prst="rect">
            <a:avLst/>
          </a:prstGeom>
          <a:noFill/>
        </p:spPr>
        <p:txBody>
          <a:bodyPr wrap="square">
            <a:spAutoFit/>
          </a:bodyPr>
          <a:lstStyle/>
          <a:p>
            <a:pPr algn="ctr"/>
            <a:r>
              <a:rPr sz="1000" b="1" i="0">
                <a:solidFill>
                  <a:srgbClr val="064E3B"/>
                </a:solidFill>
                <a:latin typeface="Calibri"/>
              </a:rPr>
              <a:t>📦  stations COLLECTION — EMBEDDED PATTERN</a:t>
            </a:r>
          </a:p>
        </p:txBody>
      </p:sp>
      <p:sp>
        <p:nvSpPr>
          <p:cNvPr id="14" name="Rectangle 13"/>
          <p:cNvSpPr/>
          <p:nvPr/>
        </p:nvSpPr>
        <p:spPr>
          <a:xfrm>
            <a:off x="640080" y="1965960"/>
            <a:ext cx="5120640" cy="2011680"/>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011680"/>
            <a:ext cx="4846320" cy="1920240"/>
          </a:xfrm>
          <a:prstGeom prst="rect">
            <a:avLst/>
          </a:prstGeom>
          <a:noFill/>
        </p:spPr>
        <p:txBody>
          <a:bodyPr wrap="square">
            <a:spAutoFit/>
          </a:bodyPr>
          <a:lstStyle/>
          <a:p>
            <a:pPr algn="l"/>
            <a:r>
              <a:rPr sz="950" b="0" i="0">
                <a:solidFill>
                  <a:srgbClr val="38BDF8"/>
                </a:solidFill>
                <a:latin typeface="Courier New"/>
              </a:rPr>
              <a:t>{
  "station_id": "CS001",
  "name": "Campus North Hub",
  "city": "Phagwara", "charging_speed_kw": 60,
  "status": "operational",
  "connectors": [
    { "connector_id": "C1", "type": "CCS2",
      "power_kw": 60, "status": "available" },
    { "connector_id": "C2", "type": "Type2",
      "power_kw": 22, "status": "occupied" }
  ]
}</a:t>
            </a:r>
          </a:p>
        </p:txBody>
      </p:sp>
      <p:sp>
        <p:nvSpPr>
          <p:cNvPr id="16" name="TextBox 15"/>
          <p:cNvSpPr txBox="1"/>
          <p:nvPr/>
        </p:nvSpPr>
        <p:spPr>
          <a:xfrm>
            <a:off x="640080" y="4069080"/>
            <a:ext cx="5120640" cy="1097280"/>
          </a:xfrm>
          <a:prstGeom prst="rect">
            <a:avLst/>
          </a:prstGeom>
          <a:noFill/>
        </p:spPr>
        <p:txBody>
          <a:bodyPr wrap="square">
            <a:spAutoFit/>
          </a:bodyPr>
          <a:lstStyle/>
          <a:p>
            <a:pPr algn="l"/>
            <a:r>
              <a:rPr sz="1050" b="0" i="0">
                <a:solidFill>
                  <a:srgbClr val="475569"/>
                </a:solidFill>
                <a:latin typeface="Calibri"/>
              </a:rPr>
              <a:t>💡 WHY EMBED? Connectors have a 1-to-Few relationship (2 to 6 per station). Embedding delivers atomic, zero-join reads: a single query fetches the station and all plug availability together.</a:t>
            </a:r>
          </a:p>
        </p:txBody>
      </p:sp>
      <p:sp>
        <p:nvSpPr>
          <p:cNvPr id="17" name="Rectangle 16"/>
          <p:cNvSpPr/>
          <p:nvPr/>
        </p:nvSpPr>
        <p:spPr>
          <a:xfrm>
            <a:off x="6217920" y="1371600"/>
            <a:ext cx="5486400" cy="39319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20" y="1371600"/>
            <a:ext cx="5486400" cy="44450"/>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0" y="1554480"/>
            <a:ext cx="5120640" cy="292608"/>
          </a:xfrm>
          <a:prstGeom prst="rect">
            <a:avLst/>
          </a:prstGeom>
          <a:solidFill>
            <a:srgbClr val="E0F2FE"/>
          </a:solidFill>
          <a:ln w="12700">
            <a:solidFill>
              <a:srgbClr val="E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1573530"/>
            <a:ext cx="5120640" cy="254508"/>
          </a:xfrm>
          <a:prstGeom prst="rect">
            <a:avLst/>
          </a:prstGeom>
          <a:noFill/>
        </p:spPr>
        <p:txBody>
          <a:bodyPr wrap="square">
            <a:spAutoFit/>
          </a:bodyPr>
          <a:lstStyle/>
          <a:p>
            <a:pPr algn="ctr"/>
            <a:r>
              <a:rPr sz="1000" b="1" i="0">
                <a:solidFill>
                  <a:srgbClr val="0284C7"/>
                </a:solidFill>
                <a:latin typeface="Calibri"/>
              </a:rPr>
              <a:t>🗂️  charging_sessions COLLECTION — REFERENCED PATTERN</a:t>
            </a:r>
          </a:p>
        </p:txBody>
      </p:sp>
      <p:sp>
        <p:nvSpPr>
          <p:cNvPr id="21" name="Rectangle 20"/>
          <p:cNvSpPr/>
          <p:nvPr/>
        </p:nvSpPr>
        <p:spPr>
          <a:xfrm>
            <a:off x="6400800" y="1965960"/>
            <a:ext cx="5120640" cy="2011680"/>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960" y="2011680"/>
            <a:ext cx="4846320" cy="1920240"/>
          </a:xfrm>
          <a:prstGeom prst="rect">
            <a:avLst/>
          </a:prstGeom>
          <a:noFill/>
        </p:spPr>
        <p:txBody>
          <a:bodyPr wrap="square">
            <a:spAutoFit/>
          </a:bodyPr>
          <a:lstStyle/>
          <a:p>
            <a:pPr algn="l"/>
            <a:r>
              <a:rPr sz="950" b="0" i="0">
                <a:solidFill>
                  <a:srgbClr val="A7F3D0"/>
                </a:solidFill>
                <a:latin typeface="Courier New"/>
              </a:rPr>
              <a:t>{
  "session_id": "SESS-1001",
  "station_id": "CS001",   &lt;-- Foreign Key Reference
  "connector_id": "C2",
  "vehicle_id": "EV-NEXON-01",
  "started_at": ISODate("2026-10-29T10:15:00Z"),
  "ended_at": null,
  "energy_kwh": 14.2, "status": "in_progress"
}</a:t>
            </a:r>
          </a:p>
        </p:txBody>
      </p:sp>
      <p:sp>
        <p:nvSpPr>
          <p:cNvPr id="23" name="TextBox 22"/>
          <p:cNvSpPr txBox="1"/>
          <p:nvPr/>
        </p:nvSpPr>
        <p:spPr>
          <a:xfrm>
            <a:off x="6400800" y="4069080"/>
            <a:ext cx="5120640" cy="1097280"/>
          </a:xfrm>
          <a:prstGeom prst="rect">
            <a:avLst/>
          </a:prstGeom>
          <a:noFill/>
        </p:spPr>
        <p:txBody>
          <a:bodyPr wrap="square">
            <a:spAutoFit/>
          </a:bodyPr>
          <a:lstStyle/>
          <a:p>
            <a:pPr algn="l"/>
            <a:r>
              <a:rPr sz="1050" b="0" i="0">
                <a:solidFill>
                  <a:srgbClr val="475569"/>
                </a:solidFill>
                <a:latin typeface="Calibri"/>
              </a:rPr>
              <a:t>💡 WHY REFERENCE? Charging sessions grow continuously over time (1-to-Unbounded). If we embedded sessions inside stations, documents would rapidly exceed MongoDB's 16 MB limit. Reference preserves fast writes and clean indexing.</a:t>
            </a:r>
          </a:p>
        </p:txBody>
      </p:sp>
      <p:sp>
        <p:nvSpPr>
          <p:cNvPr id="24" name="Rectangle 23"/>
          <p:cNvSpPr/>
          <p:nvPr/>
        </p:nvSpPr>
        <p:spPr>
          <a:xfrm>
            <a:off x="457200" y="5440680"/>
            <a:ext cx="11247120" cy="9144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5440680"/>
            <a:ext cx="11247120" cy="44450"/>
          </a:xfrm>
          <a:prstGeom prst="rect">
            <a:avLst/>
          </a:prstGeom>
          <a:solidFill>
            <a:srgbClr val="D97706"/>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532120"/>
            <a:ext cx="10789920" cy="228600"/>
          </a:xfrm>
          <a:prstGeom prst="rect">
            <a:avLst/>
          </a:prstGeom>
          <a:noFill/>
        </p:spPr>
        <p:txBody>
          <a:bodyPr wrap="square">
            <a:spAutoFit/>
          </a:bodyPr>
          <a:lstStyle/>
          <a:p>
            <a:pPr algn="l"/>
            <a:r>
              <a:rPr sz="1000" b="1" i="0">
                <a:solidFill>
                  <a:srgbClr val="D97706"/>
                </a:solidFill>
                <a:latin typeface="Calibri"/>
              </a:rPr>
              <a:t>🛡️ DATABASE-LEVEL INTEGRITY VIA $jsonSchema VALIDATION RULES:</a:t>
            </a:r>
          </a:p>
        </p:txBody>
      </p:sp>
      <p:sp>
        <p:nvSpPr>
          <p:cNvPr id="27" name="TextBox 26"/>
          <p:cNvSpPr txBox="1"/>
          <p:nvPr/>
        </p:nvSpPr>
        <p:spPr>
          <a:xfrm>
            <a:off x="640080" y="5760720"/>
            <a:ext cx="10789920" cy="502920"/>
          </a:xfrm>
          <a:prstGeom prst="rect">
            <a:avLst/>
          </a:prstGeom>
          <a:noFill/>
        </p:spPr>
        <p:txBody>
          <a:bodyPr wrap="square">
            <a:spAutoFit/>
          </a:bodyPr>
          <a:lstStyle/>
          <a:p>
            <a:pPr algn="l"/>
            <a:r>
              <a:rPr sz="1050" b="0" i="0">
                <a:solidFill>
                  <a:srgbClr val="475569"/>
                </a:solidFill>
                <a:latin typeface="Calibri"/>
              </a:rPr>
              <a:t>• station_id and session_id required unique strings  • charging_speed_kw must be positive integer (&gt; 0)
• status strictly restricted to enums ['operational', 'maintenance']  • connector status strictly ['available', 'occupied', 'out_of_service']</a:t>
            </a:r>
          </a:p>
        </p:txBody>
      </p:sp>
      <p:sp>
        <p:nvSpPr>
          <p:cNvPr id="28" name="TextBox 27"/>
          <p:cNvSpPr txBox="1"/>
          <p:nvPr/>
        </p:nvSpPr>
        <p:spPr>
          <a:xfrm>
            <a:off x="11094415" y="6492240"/>
            <a:ext cx="822960" cy="274320"/>
          </a:xfrm>
          <a:prstGeom prst="rect">
            <a:avLst/>
          </a:prstGeom>
          <a:noFill/>
        </p:spPr>
        <p:txBody>
          <a:bodyPr wrap="square">
            <a:spAutoFit/>
          </a:bodyPr>
          <a:lstStyle/>
          <a:p>
            <a:pPr algn="r"/>
            <a:r>
              <a:rPr sz="1000" b="0" i="0">
                <a:solidFill>
                  <a:srgbClr val="475569"/>
                </a:solidFill>
                <a:latin typeface="Calibri"/>
              </a:rPr>
              <a:t>05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70432"/>
            <a:ext cx="8534186" cy="38100"/>
          </a:xfrm>
          <a:prstGeom prst="rect">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34186" y="1170432"/>
            <a:ext cx="3657508" cy="38100"/>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7160"/>
            <a:ext cx="2926080" cy="256032"/>
          </a:xfrm>
          <a:prstGeom prst="rect">
            <a:avLst/>
          </a:prstGeom>
          <a:solidFill>
            <a:srgbClr val="E0F2FE"/>
          </a:solidFill>
          <a:ln w="12700">
            <a:solidFill>
              <a:srgbClr val="E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56210"/>
            <a:ext cx="2926080" cy="217932"/>
          </a:xfrm>
          <a:prstGeom prst="rect">
            <a:avLst/>
          </a:prstGeom>
          <a:noFill/>
        </p:spPr>
        <p:txBody>
          <a:bodyPr wrap="square">
            <a:spAutoFit/>
          </a:bodyPr>
          <a:lstStyle/>
          <a:p>
            <a:pPr algn="ctr"/>
            <a:r>
              <a:rPr sz="900" b="1" i="0">
                <a:solidFill>
                  <a:srgbClr val="0284C7"/>
                </a:solidFill>
                <a:latin typeface="Calibri"/>
              </a:rPr>
              <a:t>🖥️ APPLICATION DEMONSTRATION</a:t>
            </a:r>
          </a:p>
        </p:txBody>
      </p:sp>
      <p:sp>
        <p:nvSpPr>
          <p:cNvPr id="8" name="TextBox 7"/>
          <p:cNvSpPr txBox="1"/>
          <p:nvPr/>
        </p:nvSpPr>
        <p:spPr>
          <a:xfrm>
            <a:off x="457200" y="420624"/>
            <a:ext cx="9144000" cy="411480"/>
          </a:xfrm>
          <a:prstGeom prst="rect">
            <a:avLst/>
          </a:prstGeom>
          <a:noFill/>
        </p:spPr>
        <p:txBody>
          <a:bodyPr wrap="square">
            <a:spAutoFit/>
          </a:bodyPr>
          <a:lstStyle/>
          <a:p>
            <a:pPr algn="l"/>
            <a:r>
              <a:rPr sz="2200" b="1" i="0">
                <a:solidFill>
                  <a:srgbClr val="0F172A"/>
                </a:solidFill>
                <a:latin typeface="Calibri"/>
              </a:rPr>
              <a:t>The Live Experience: Friction-Free Discovery &amp; Management</a:t>
            </a:r>
          </a:p>
        </p:txBody>
      </p:sp>
      <p:sp>
        <p:nvSpPr>
          <p:cNvPr id="9" name="TextBox 8"/>
          <p:cNvSpPr txBox="1"/>
          <p:nvPr/>
        </p:nvSpPr>
        <p:spPr>
          <a:xfrm>
            <a:off x="457200" y="804672"/>
            <a:ext cx="10058400" cy="320040"/>
          </a:xfrm>
          <a:prstGeom prst="rect">
            <a:avLst/>
          </a:prstGeom>
          <a:noFill/>
        </p:spPr>
        <p:txBody>
          <a:bodyPr wrap="square">
            <a:spAutoFit/>
          </a:bodyPr>
          <a:lstStyle/>
          <a:p>
            <a:pPr algn="l"/>
            <a:r>
              <a:rPr sz="1200" b="0" i="1">
                <a:solidFill>
                  <a:srgbClr val="475569"/>
                </a:solidFill>
                <a:latin typeface="Calibri"/>
              </a:rPr>
              <a:t>Demonstrating verified user interfaces for both EV drivers and network administrators</a:t>
            </a:r>
          </a:p>
        </p:txBody>
      </p:sp>
      <p:sp>
        <p:nvSpPr>
          <p:cNvPr id="10" name="Rectangle 9"/>
          <p:cNvSpPr/>
          <p:nvPr/>
        </p:nvSpPr>
        <p:spPr>
          <a:xfrm>
            <a:off x="444500" y="1358900"/>
            <a:ext cx="5511800" cy="3957320"/>
          </a:xfrm>
          <a:prstGeom prst="rect">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1_home_dashboard.png"/>
          <p:cNvPicPr>
            <a:picLocks noChangeAspect="1"/>
          </p:cNvPicPr>
          <p:nvPr/>
        </p:nvPicPr>
        <p:blipFill>
          <a:blip r:embed="rId2"/>
          <a:stretch>
            <a:fillRect/>
          </a:stretch>
        </p:blipFill>
        <p:spPr>
          <a:xfrm>
            <a:off x="457200" y="1371600"/>
            <a:ext cx="5486400" cy="3931920"/>
          </a:xfrm>
          <a:prstGeom prst="rect">
            <a:avLst/>
          </a:prstGeom>
        </p:spPr>
      </p:pic>
      <p:sp>
        <p:nvSpPr>
          <p:cNvPr id="12" name="Rectangle 11"/>
          <p:cNvSpPr/>
          <p:nvPr/>
        </p:nvSpPr>
        <p:spPr>
          <a:xfrm>
            <a:off x="457200" y="5394960"/>
            <a:ext cx="5486400" cy="9601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5394960"/>
            <a:ext cx="5486400" cy="44450"/>
          </a:xfrm>
          <a:prstGeom prst="rect">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5486400"/>
            <a:ext cx="5120640" cy="274320"/>
          </a:xfrm>
          <a:prstGeom prst="rect">
            <a:avLst/>
          </a:prstGeom>
          <a:noFill/>
        </p:spPr>
        <p:txBody>
          <a:bodyPr wrap="square">
            <a:spAutoFit/>
          </a:bodyPr>
          <a:lstStyle/>
          <a:p>
            <a:pPr algn="l"/>
            <a:r>
              <a:rPr sz="1100" b="1" i="0">
                <a:solidFill>
                  <a:srgbClr val="064E3B"/>
                </a:solidFill>
                <a:latin typeface="Calibri"/>
              </a:rPr>
              <a:t>📊  Home Dashboard — Network Health at a Glance</a:t>
            </a:r>
          </a:p>
        </p:txBody>
      </p:sp>
      <p:sp>
        <p:nvSpPr>
          <p:cNvPr id="15" name="TextBox 14"/>
          <p:cNvSpPr txBox="1"/>
          <p:nvPr/>
        </p:nvSpPr>
        <p:spPr>
          <a:xfrm>
            <a:off x="640080" y="5760720"/>
            <a:ext cx="5120640" cy="548640"/>
          </a:xfrm>
          <a:prstGeom prst="rect">
            <a:avLst/>
          </a:prstGeom>
          <a:noFill/>
        </p:spPr>
        <p:txBody>
          <a:bodyPr wrap="square">
            <a:spAutoFit/>
          </a:bodyPr>
          <a:lstStyle/>
          <a:p>
            <a:pPr algn="l"/>
            <a:r>
              <a:rPr sz="1000" b="0" i="0">
                <a:solidFill>
                  <a:srgbClr val="475569"/>
                </a:solidFill>
                <a:latin typeface="Calibri"/>
              </a:rPr>
              <a:t>Live KPI cards driven by MongoDB aggregation pipelines. Shows 10 total stations, 33 connectors, real-time availability breakdown donut, and recent sessions table.</a:t>
            </a:r>
          </a:p>
        </p:txBody>
      </p:sp>
      <p:sp>
        <p:nvSpPr>
          <p:cNvPr id="16" name="Rectangle 15"/>
          <p:cNvSpPr/>
          <p:nvPr/>
        </p:nvSpPr>
        <p:spPr>
          <a:xfrm>
            <a:off x="6205220" y="1358900"/>
            <a:ext cx="5511800" cy="3957320"/>
          </a:xfrm>
          <a:prstGeom prst="rect">
            <a:avLst/>
          </a:prstGeom>
          <a:solidFill>
            <a:srgbClr val="FFFF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02_find_station.png"/>
          <p:cNvPicPr>
            <a:picLocks noChangeAspect="1"/>
          </p:cNvPicPr>
          <p:nvPr/>
        </p:nvPicPr>
        <p:blipFill>
          <a:blip r:embed="rId3"/>
          <a:stretch>
            <a:fillRect/>
          </a:stretch>
        </p:blipFill>
        <p:spPr>
          <a:xfrm>
            <a:off x="6217920" y="1371600"/>
            <a:ext cx="5486400" cy="3931920"/>
          </a:xfrm>
          <a:prstGeom prst="rect">
            <a:avLst/>
          </a:prstGeom>
        </p:spPr>
      </p:pic>
      <p:sp>
        <p:nvSpPr>
          <p:cNvPr id="18" name="Rectangle 17"/>
          <p:cNvSpPr/>
          <p:nvPr/>
        </p:nvSpPr>
        <p:spPr>
          <a:xfrm>
            <a:off x="6217920" y="5394960"/>
            <a:ext cx="5486400" cy="9601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17920" y="5394960"/>
            <a:ext cx="5486400" cy="44450"/>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5486400"/>
            <a:ext cx="5120640" cy="274320"/>
          </a:xfrm>
          <a:prstGeom prst="rect">
            <a:avLst/>
          </a:prstGeom>
          <a:noFill/>
        </p:spPr>
        <p:txBody>
          <a:bodyPr wrap="square">
            <a:spAutoFit/>
          </a:bodyPr>
          <a:lstStyle/>
          <a:p>
            <a:pPr algn="l"/>
            <a:r>
              <a:rPr sz="1100" b="1" i="0">
                <a:solidFill>
                  <a:srgbClr val="0284C7"/>
                </a:solidFill>
                <a:latin typeface="Calibri"/>
              </a:rPr>
              <a:t>🔍  Find a Station — Dynamic Multi-Filter Discovery</a:t>
            </a:r>
          </a:p>
        </p:txBody>
      </p:sp>
      <p:sp>
        <p:nvSpPr>
          <p:cNvPr id="21" name="TextBox 20"/>
          <p:cNvSpPr txBox="1"/>
          <p:nvPr/>
        </p:nvSpPr>
        <p:spPr>
          <a:xfrm>
            <a:off x="6400800" y="5760720"/>
            <a:ext cx="5120640" cy="548640"/>
          </a:xfrm>
          <a:prstGeom prst="rect">
            <a:avLst/>
          </a:prstGeom>
          <a:noFill/>
        </p:spPr>
        <p:txBody>
          <a:bodyPr wrap="square">
            <a:spAutoFit/>
          </a:bodyPr>
          <a:lstStyle/>
          <a:p>
            <a:pPr algn="l"/>
            <a:r>
              <a:rPr sz="1000" b="0" i="0">
                <a:solidFill>
                  <a:srgbClr val="475569"/>
                </a:solidFill>
                <a:latin typeface="Calibri"/>
              </a:rPr>
              <a:t>Regex-powered instant search by name or city. Filters by connector type (CCS2, Type-2, CHAdeMO) and minimum charging speed with color-coded live slot badges.</a:t>
            </a:r>
          </a:p>
        </p:txBody>
      </p:sp>
      <p:sp>
        <p:nvSpPr>
          <p:cNvPr id="22" name="TextBox 21"/>
          <p:cNvSpPr txBox="1"/>
          <p:nvPr/>
        </p:nvSpPr>
        <p:spPr>
          <a:xfrm>
            <a:off x="11094415" y="6492240"/>
            <a:ext cx="822960" cy="274320"/>
          </a:xfrm>
          <a:prstGeom prst="rect">
            <a:avLst/>
          </a:prstGeom>
          <a:noFill/>
        </p:spPr>
        <p:txBody>
          <a:bodyPr wrap="square">
            <a:spAutoFit/>
          </a:bodyPr>
          <a:lstStyle/>
          <a:p>
            <a:pPr algn="r"/>
            <a:r>
              <a:rPr sz="1000" b="0" i="0">
                <a:solidFill>
                  <a:srgbClr val="475569"/>
                </a:solidFill>
                <a:latin typeface="Calibri"/>
              </a:rPr>
              <a:t>06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70432"/>
            <a:ext cx="8534186" cy="38100"/>
          </a:xfrm>
          <a:prstGeom prst="rect">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34186" y="1170432"/>
            <a:ext cx="3657508" cy="38100"/>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7160"/>
            <a:ext cx="2926080" cy="256032"/>
          </a:xfrm>
          <a:prstGeom prst="rect">
            <a:avLst/>
          </a:prstGeom>
          <a:solidFill>
            <a:srgbClr val="FEF3C7"/>
          </a:solidFill>
          <a:ln w="12700">
            <a:solidFill>
              <a:srgbClr val="FEF3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56210"/>
            <a:ext cx="2926080" cy="217932"/>
          </a:xfrm>
          <a:prstGeom prst="rect">
            <a:avLst/>
          </a:prstGeom>
          <a:noFill/>
        </p:spPr>
        <p:txBody>
          <a:bodyPr wrap="square">
            <a:spAutoFit/>
          </a:bodyPr>
          <a:lstStyle/>
          <a:p>
            <a:pPr algn="ctr"/>
            <a:r>
              <a:rPr sz="900" b="1" i="0">
                <a:solidFill>
                  <a:srgbClr val="D97706"/>
                </a:solidFill>
                <a:latin typeface="Calibri"/>
              </a:rPr>
              <a:t>📊 DATABASE AGGREGATIONS &amp; CRUD</a:t>
            </a:r>
          </a:p>
        </p:txBody>
      </p:sp>
      <p:sp>
        <p:nvSpPr>
          <p:cNvPr id="8" name="TextBox 7"/>
          <p:cNvSpPr txBox="1"/>
          <p:nvPr/>
        </p:nvSpPr>
        <p:spPr>
          <a:xfrm>
            <a:off x="457200" y="420624"/>
            <a:ext cx="9144000" cy="411480"/>
          </a:xfrm>
          <a:prstGeom prst="rect">
            <a:avLst/>
          </a:prstGeom>
          <a:noFill/>
        </p:spPr>
        <p:txBody>
          <a:bodyPr wrap="square">
            <a:spAutoFit/>
          </a:bodyPr>
          <a:lstStyle/>
          <a:p>
            <a:pPr algn="l"/>
            <a:r>
              <a:rPr sz="2200" b="1" i="0">
                <a:solidFill>
                  <a:srgbClr val="0F172A"/>
                </a:solidFill>
                <a:latin typeface="Calibri"/>
              </a:rPr>
              <a:t>Deep Analytics: Letting MongoDB Do the Heavy Lifting</a:t>
            </a:r>
          </a:p>
        </p:txBody>
      </p:sp>
      <p:sp>
        <p:nvSpPr>
          <p:cNvPr id="9" name="TextBox 8"/>
          <p:cNvSpPr txBox="1"/>
          <p:nvPr/>
        </p:nvSpPr>
        <p:spPr>
          <a:xfrm>
            <a:off x="457200" y="804672"/>
            <a:ext cx="10058400" cy="320040"/>
          </a:xfrm>
          <a:prstGeom prst="rect">
            <a:avLst/>
          </a:prstGeom>
          <a:noFill/>
        </p:spPr>
        <p:txBody>
          <a:bodyPr wrap="square">
            <a:spAutoFit/>
          </a:bodyPr>
          <a:lstStyle/>
          <a:p>
            <a:pPr algn="l"/>
            <a:r>
              <a:rPr sz="1200" b="0" i="1">
                <a:solidFill>
                  <a:srgbClr val="475569"/>
                </a:solidFill>
                <a:latin typeface="Calibri"/>
              </a:rPr>
              <a:t>Full CRUD operations paired with 5 multi-stage aggregation pipelines for zero-Python-join analytics</a:t>
            </a:r>
          </a:p>
        </p:txBody>
      </p:sp>
      <p:sp>
        <p:nvSpPr>
          <p:cNvPr id="10" name="Rectangle 9"/>
          <p:cNvSpPr/>
          <p:nvPr/>
        </p:nvSpPr>
        <p:spPr>
          <a:xfrm>
            <a:off x="444500" y="1358900"/>
            <a:ext cx="5328920" cy="3500120"/>
          </a:xfrm>
          <a:prstGeom prst="rect">
            <a:avLst/>
          </a:prstGeom>
          <a:solidFill>
            <a:srgbClr val="FFFFFF"/>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5_insights_charts.png"/>
          <p:cNvPicPr>
            <a:picLocks noChangeAspect="1"/>
          </p:cNvPicPr>
          <p:nvPr/>
        </p:nvPicPr>
        <p:blipFill>
          <a:blip r:embed="rId2"/>
          <a:stretch>
            <a:fillRect/>
          </a:stretch>
        </p:blipFill>
        <p:spPr>
          <a:xfrm>
            <a:off x="457200" y="1371600"/>
            <a:ext cx="5303520" cy="3474720"/>
          </a:xfrm>
          <a:prstGeom prst="rect">
            <a:avLst/>
          </a:prstGeom>
        </p:spPr>
      </p:pic>
      <p:sp>
        <p:nvSpPr>
          <p:cNvPr id="12" name="Rectangle 11"/>
          <p:cNvSpPr/>
          <p:nvPr/>
        </p:nvSpPr>
        <p:spPr>
          <a:xfrm>
            <a:off x="457200" y="4983480"/>
            <a:ext cx="5303520" cy="13716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4983480"/>
            <a:ext cx="5303520" cy="44450"/>
          </a:xfrm>
          <a:prstGeom prst="rect">
            <a:avLst/>
          </a:prstGeom>
          <a:solidFill>
            <a:srgbClr val="064E3B"/>
          </a:solidFill>
          <a:ln w="12700">
            <a:solidFill>
              <a:srgbClr val="064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5120640"/>
            <a:ext cx="4937760" cy="256032"/>
          </a:xfrm>
          <a:prstGeom prst="rect">
            <a:avLst/>
          </a:prstGeom>
          <a:noFill/>
        </p:spPr>
        <p:txBody>
          <a:bodyPr wrap="square">
            <a:spAutoFit/>
          </a:bodyPr>
          <a:lstStyle/>
          <a:p>
            <a:pPr algn="l"/>
            <a:r>
              <a:rPr sz="1000" b="1" i="0">
                <a:solidFill>
                  <a:srgbClr val="064E3B"/>
                </a:solidFill>
                <a:latin typeface="Calibri"/>
              </a:rPr>
              <a:t>✅  VERIFIED DATABASE ANALYTICS METRICS (SEED DATASET)</a:t>
            </a:r>
          </a:p>
        </p:txBody>
      </p:sp>
      <p:sp>
        <p:nvSpPr>
          <p:cNvPr id="15" name="TextBox 14"/>
          <p:cNvSpPr txBox="1"/>
          <p:nvPr/>
        </p:nvSpPr>
        <p:spPr>
          <a:xfrm>
            <a:off x="640080" y="5394960"/>
            <a:ext cx="4937760" cy="868680"/>
          </a:xfrm>
          <a:prstGeom prst="rect">
            <a:avLst/>
          </a:prstGeom>
          <a:noFill/>
        </p:spPr>
        <p:txBody>
          <a:bodyPr wrap="square">
            <a:spAutoFit/>
          </a:bodyPr>
          <a:lstStyle/>
          <a:p>
            <a:pPr algn="l"/>
            <a:r>
              <a:rPr sz="950" b="0" i="0">
                <a:solidFill>
                  <a:srgbClr val="475569"/>
                </a:solidFill>
                <a:latin typeface="Calibri"/>
              </a:rPr>
              <a:t>• Network Plug Status: 20 Available (60.6%)  ·  6 Occupied  ·  7 Inactive
• Highest Output Station: CS004 (Highway Fast Hub) — 247.97 kWh delivered
• Total Network Energy Delivered: 1,145.85 kWh across 42 sessions
• Predominant Standard: CCS2 Fast Charging (18 units, Avg ₹17.08/kWh)</a:t>
            </a:r>
          </a:p>
        </p:txBody>
      </p:sp>
      <p:sp>
        <p:nvSpPr>
          <p:cNvPr id="16" name="Rectangle 15"/>
          <p:cNvSpPr/>
          <p:nvPr/>
        </p:nvSpPr>
        <p:spPr>
          <a:xfrm>
            <a:off x="6035040" y="1371600"/>
            <a:ext cx="5669280" cy="49834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035040" y="1371600"/>
            <a:ext cx="5669280" cy="44450"/>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20" y="1554480"/>
            <a:ext cx="5303520" cy="292608"/>
          </a:xfrm>
          <a:prstGeom prst="rect">
            <a:avLst/>
          </a:prstGeom>
          <a:solidFill>
            <a:srgbClr val="E0F2FE"/>
          </a:solidFill>
          <a:ln w="12700">
            <a:solidFill>
              <a:srgbClr val="E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0" y="1573530"/>
            <a:ext cx="5303520" cy="254508"/>
          </a:xfrm>
          <a:prstGeom prst="rect">
            <a:avLst/>
          </a:prstGeom>
          <a:noFill/>
        </p:spPr>
        <p:txBody>
          <a:bodyPr wrap="square">
            <a:spAutoFit/>
          </a:bodyPr>
          <a:lstStyle/>
          <a:p>
            <a:pPr algn="ctr"/>
            <a:r>
              <a:rPr sz="1000" b="1" i="0">
                <a:solidFill>
                  <a:srgbClr val="0284C7"/>
                </a:solidFill>
                <a:latin typeface="Calibri"/>
              </a:rPr>
              <a:t>⚙️ 5 CORE AGGREGATION PIPELINES DEMONSTRATED</a:t>
            </a:r>
          </a:p>
        </p:txBody>
      </p:sp>
      <p:sp>
        <p:nvSpPr>
          <p:cNvPr id="20" name="Rectangle 19"/>
          <p:cNvSpPr/>
          <p:nvPr/>
        </p:nvSpPr>
        <p:spPr>
          <a:xfrm>
            <a:off x="6217920" y="1965960"/>
            <a:ext cx="320040" cy="320040"/>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7920" y="1991360"/>
            <a:ext cx="320040" cy="274320"/>
          </a:xfrm>
          <a:prstGeom prst="rect">
            <a:avLst/>
          </a:prstGeom>
          <a:noFill/>
        </p:spPr>
        <p:txBody>
          <a:bodyPr wrap="square">
            <a:spAutoFit/>
          </a:bodyPr>
          <a:lstStyle/>
          <a:p>
            <a:pPr algn="ctr"/>
            <a:r>
              <a:rPr sz="1100" b="1" i="0">
                <a:solidFill>
                  <a:srgbClr val="064E3B"/>
                </a:solidFill>
                <a:latin typeface="Calibri"/>
              </a:rPr>
              <a:t>#1</a:t>
            </a:r>
          </a:p>
        </p:txBody>
      </p:sp>
      <p:sp>
        <p:nvSpPr>
          <p:cNvPr id="22" name="TextBox 21"/>
          <p:cNvSpPr txBox="1"/>
          <p:nvPr/>
        </p:nvSpPr>
        <p:spPr>
          <a:xfrm>
            <a:off x="6629400" y="1940560"/>
            <a:ext cx="4846320" cy="274320"/>
          </a:xfrm>
          <a:prstGeom prst="rect">
            <a:avLst/>
          </a:prstGeom>
          <a:noFill/>
        </p:spPr>
        <p:txBody>
          <a:bodyPr wrap="square">
            <a:spAutoFit/>
          </a:bodyPr>
          <a:lstStyle/>
          <a:p>
            <a:pPr algn="l"/>
            <a:r>
              <a:rPr sz="1100" b="1" i="0">
                <a:solidFill>
                  <a:srgbClr val="0F172A"/>
                </a:solidFill>
                <a:latin typeface="Calibri"/>
              </a:rPr>
              <a:t>Pipeline 1: Connector Status Breakdown</a:t>
            </a:r>
          </a:p>
        </p:txBody>
      </p:sp>
      <p:sp>
        <p:nvSpPr>
          <p:cNvPr id="23" name="TextBox 22"/>
          <p:cNvSpPr txBox="1"/>
          <p:nvPr/>
        </p:nvSpPr>
        <p:spPr>
          <a:xfrm>
            <a:off x="6629400" y="2185416"/>
            <a:ext cx="4846320" cy="228600"/>
          </a:xfrm>
          <a:prstGeom prst="rect">
            <a:avLst/>
          </a:prstGeom>
          <a:noFill/>
        </p:spPr>
        <p:txBody>
          <a:bodyPr wrap="square">
            <a:spAutoFit/>
          </a:bodyPr>
          <a:lstStyle/>
          <a:p>
            <a:pPr algn="l"/>
            <a:r>
              <a:rPr sz="950" b="1" i="0">
                <a:solidFill>
                  <a:srgbClr val="0284C7"/>
                </a:solidFill>
                <a:latin typeface="Calibri"/>
              </a:rPr>
              <a:t>Stages: $unwind connectors -&gt; $group by status -&gt; $count</a:t>
            </a:r>
          </a:p>
        </p:txBody>
      </p:sp>
      <p:sp>
        <p:nvSpPr>
          <p:cNvPr id="24" name="TextBox 23"/>
          <p:cNvSpPr txBox="1"/>
          <p:nvPr/>
        </p:nvSpPr>
        <p:spPr>
          <a:xfrm>
            <a:off x="6629400" y="2386584"/>
            <a:ext cx="4846320" cy="365760"/>
          </a:xfrm>
          <a:prstGeom prst="rect">
            <a:avLst/>
          </a:prstGeom>
          <a:noFill/>
        </p:spPr>
        <p:txBody>
          <a:bodyPr wrap="square">
            <a:spAutoFit/>
          </a:bodyPr>
          <a:lstStyle/>
          <a:p>
            <a:pPr algn="l"/>
            <a:r>
              <a:rPr sz="900" b="0" i="0">
                <a:solidFill>
                  <a:srgbClr val="475569"/>
                </a:solidFill>
                <a:latin typeface="Calibri"/>
              </a:rPr>
              <a:t>Deconstructs embedded array to count available vs occupied plugs.</a:t>
            </a:r>
          </a:p>
        </p:txBody>
      </p:sp>
      <p:sp>
        <p:nvSpPr>
          <p:cNvPr id="25" name="Rectangle 24"/>
          <p:cNvSpPr/>
          <p:nvPr/>
        </p:nvSpPr>
        <p:spPr>
          <a:xfrm>
            <a:off x="6217920" y="2834639"/>
            <a:ext cx="320040" cy="320040"/>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0" y="2860039"/>
            <a:ext cx="320040" cy="274320"/>
          </a:xfrm>
          <a:prstGeom prst="rect">
            <a:avLst/>
          </a:prstGeom>
          <a:noFill/>
        </p:spPr>
        <p:txBody>
          <a:bodyPr wrap="square">
            <a:spAutoFit/>
          </a:bodyPr>
          <a:lstStyle/>
          <a:p>
            <a:pPr algn="ctr"/>
            <a:r>
              <a:rPr sz="1100" b="1" i="0">
                <a:solidFill>
                  <a:srgbClr val="064E3B"/>
                </a:solidFill>
                <a:latin typeface="Calibri"/>
              </a:rPr>
              <a:t>#2</a:t>
            </a:r>
          </a:p>
        </p:txBody>
      </p:sp>
      <p:sp>
        <p:nvSpPr>
          <p:cNvPr id="27" name="TextBox 26"/>
          <p:cNvSpPr txBox="1"/>
          <p:nvPr/>
        </p:nvSpPr>
        <p:spPr>
          <a:xfrm>
            <a:off x="6629400" y="2809239"/>
            <a:ext cx="4846320" cy="274320"/>
          </a:xfrm>
          <a:prstGeom prst="rect">
            <a:avLst/>
          </a:prstGeom>
          <a:noFill/>
        </p:spPr>
        <p:txBody>
          <a:bodyPr wrap="square">
            <a:spAutoFit/>
          </a:bodyPr>
          <a:lstStyle/>
          <a:p>
            <a:pPr algn="l"/>
            <a:r>
              <a:rPr sz="1100" b="1" i="0">
                <a:solidFill>
                  <a:srgbClr val="0F172A"/>
                </a:solidFill>
                <a:latin typeface="Calibri"/>
              </a:rPr>
              <a:t>Pipeline 2: Energy Delivered by Station</a:t>
            </a:r>
          </a:p>
        </p:txBody>
      </p:sp>
      <p:sp>
        <p:nvSpPr>
          <p:cNvPr id="28" name="TextBox 27"/>
          <p:cNvSpPr txBox="1"/>
          <p:nvPr/>
        </p:nvSpPr>
        <p:spPr>
          <a:xfrm>
            <a:off x="6629400" y="3054095"/>
            <a:ext cx="4846320" cy="228600"/>
          </a:xfrm>
          <a:prstGeom prst="rect">
            <a:avLst/>
          </a:prstGeom>
          <a:noFill/>
        </p:spPr>
        <p:txBody>
          <a:bodyPr wrap="square">
            <a:spAutoFit/>
          </a:bodyPr>
          <a:lstStyle/>
          <a:p>
            <a:pPr algn="l"/>
            <a:r>
              <a:rPr sz="950" b="1" i="0">
                <a:solidFill>
                  <a:srgbClr val="0284C7"/>
                </a:solidFill>
                <a:latin typeface="Calibri"/>
              </a:rPr>
              <a:t>Stages: $match completed -&gt; $group by station_id -&gt; $lookup stations</a:t>
            </a:r>
          </a:p>
        </p:txBody>
      </p:sp>
      <p:sp>
        <p:nvSpPr>
          <p:cNvPr id="29" name="TextBox 28"/>
          <p:cNvSpPr txBox="1"/>
          <p:nvPr/>
        </p:nvSpPr>
        <p:spPr>
          <a:xfrm>
            <a:off x="6629400" y="3255263"/>
            <a:ext cx="4846320" cy="365760"/>
          </a:xfrm>
          <a:prstGeom prst="rect">
            <a:avLst/>
          </a:prstGeom>
          <a:noFill/>
        </p:spPr>
        <p:txBody>
          <a:bodyPr wrap="square">
            <a:spAutoFit/>
          </a:bodyPr>
          <a:lstStyle/>
          <a:p>
            <a:pPr algn="l"/>
            <a:r>
              <a:rPr sz="900" b="0" i="0">
                <a:solidFill>
                  <a:srgbClr val="475569"/>
                </a:solidFill>
                <a:latin typeface="Calibri"/>
              </a:rPr>
              <a:t>Performs relational-style join without application-side memory overhead.</a:t>
            </a:r>
          </a:p>
        </p:txBody>
      </p:sp>
      <p:sp>
        <p:nvSpPr>
          <p:cNvPr id="30" name="Rectangle 29"/>
          <p:cNvSpPr/>
          <p:nvPr/>
        </p:nvSpPr>
        <p:spPr>
          <a:xfrm>
            <a:off x="6217920" y="3703320"/>
            <a:ext cx="320040" cy="320040"/>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17920" y="3728720"/>
            <a:ext cx="320040" cy="274320"/>
          </a:xfrm>
          <a:prstGeom prst="rect">
            <a:avLst/>
          </a:prstGeom>
          <a:noFill/>
        </p:spPr>
        <p:txBody>
          <a:bodyPr wrap="square">
            <a:spAutoFit/>
          </a:bodyPr>
          <a:lstStyle/>
          <a:p>
            <a:pPr algn="ctr"/>
            <a:r>
              <a:rPr sz="1100" b="1" i="0">
                <a:solidFill>
                  <a:srgbClr val="064E3B"/>
                </a:solidFill>
                <a:latin typeface="Calibri"/>
              </a:rPr>
              <a:t>#3</a:t>
            </a:r>
          </a:p>
        </p:txBody>
      </p:sp>
      <p:sp>
        <p:nvSpPr>
          <p:cNvPr id="32" name="TextBox 31"/>
          <p:cNvSpPr txBox="1"/>
          <p:nvPr/>
        </p:nvSpPr>
        <p:spPr>
          <a:xfrm>
            <a:off x="6629400" y="3677920"/>
            <a:ext cx="4846320" cy="274320"/>
          </a:xfrm>
          <a:prstGeom prst="rect">
            <a:avLst/>
          </a:prstGeom>
          <a:noFill/>
        </p:spPr>
        <p:txBody>
          <a:bodyPr wrap="square">
            <a:spAutoFit/>
          </a:bodyPr>
          <a:lstStyle/>
          <a:p>
            <a:pPr algn="l"/>
            <a:r>
              <a:rPr sz="1100" b="1" i="0">
                <a:solidFill>
                  <a:srgbClr val="0F172A"/>
                </a:solidFill>
                <a:latin typeface="Calibri"/>
              </a:rPr>
              <a:t>Pipeline 3: Most-Frequented Stations</a:t>
            </a:r>
          </a:p>
        </p:txBody>
      </p:sp>
      <p:sp>
        <p:nvSpPr>
          <p:cNvPr id="33" name="TextBox 32"/>
          <p:cNvSpPr txBox="1"/>
          <p:nvPr/>
        </p:nvSpPr>
        <p:spPr>
          <a:xfrm>
            <a:off x="6629400" y="3922776"/>
            <a:ext cx="4846320" cy="228600"/>
          </a:xfrm>
          <a:prstGeom prst="rect">
            <a:avLst/>
          </a:prstGeom>
          <a:noFill/>
        </p:spPr>
        <p:txBody>
          <a:bodyPr wrap="square">
            <a:spAutoFit/>
          </a:bodyPr>
          <a:lstStyle/>
          <a:p>
            <a:pPr algn="l"/>
            <a:r>
              <a:rPr sz="950" b="1" i="0">
                <a:solidFill>
                  <a:srgbClr val="0284C7"/>
                </a:solidFill>
                <a:latin typeface="Calibri"/>
              </a:rPr>
              <a:t>Stages: $group by station -&gt; $sort by count -&gt; $limit 5</a:t>
            </a:r>
          </a:p>
        </p:txBody>
      </p:sp>
      <p:sp>
        <p:nvSpPr>
          <p:cNvPr id="34" name="TextBox 33"/>
          <p:cNvSpPr txBox="1"/>
          <p:nvPr/>
        </p:nvSpPr>
        <p:spPr>
          <a:xfrm>
            <a:off x="6629400" y="4123944"/>
            <a:ext cx="4846320" cy="365760"/>
          </a:xfrm>
          <a:prstGeom prst="rect">
            <a:avLst/>
          </a:prstGeom>
          <a:noFill/>
        </p:spPr>
        <p:txBody>
          <a:bodyPr wrap="square">
            <a:spAutoFit/>
          </a:bodyPr>
          <a:lstStyle/>
          <a:p>
            <a:pPr algn="l"/>
            <a:r>
              <a:rPr sz="900" b="0" i="0">
                <a:solidFill>
                  <a:srgbClr val="475569"/>
                </a:solidFill>
                <a:latin typeface="Calibri"/>
              </a:rPr>
              <a:t>Identifies infrastructure bottlenecks for capital investment.</a:t>
            </a:r>
          </a:p>
        </p:txBody>
      </p:sp>
      <p:sp>
        <p:nvSpPr>
          <p:cNvPr id="35" name="Rectangle 34"/>
          <p:cNvSpPr/>
          <p:nvPr/>
        </p:nvSpPr>
        <p:spPr>
          <a:xfrm>
            <a:off x="6217920" y="4572000"/>
            <a:ext cx="320040" cy="320040"/>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17920" y="4597400"/>
            <a:ext cx="320040" cy="274320"/>
          </a:xfrm>
          <a:prstGeom prst="rect">
            <a:avLst/>
          </a:prstGeom>
          <a:noFill/>
        </p:spPr>
        <p:txBody>
          <a:bodyPr wrap="square">
            <a:spAutoFit/>
          </a:bodyPr>
          <a:lstStyle/>
          <a:p>
            <a:pPr algn="ctr"/>
            <a:r>
              <a:rPr sz="1100" b="1" i="0">
                <a:solidFill>
                  <a:srgbClr val="064E3B"/>
                </a:solidFill>
                <a:latin typeface="Calibri"/>
              </a:rPr>
              <a:t>#4</a:t>
            </a:r>
          </a:p>
        </p:txBody>
      </p:sp>
      <p:sp>
        <p:nvSpPr>
          <p:cNvPr id="37" name="TextBox 36"/>
          <p:cNvSpPr txBox="1"/>
          <p:nvPr/>
        </p:nvSpPr>
        <p:spPr>
          <a:xfrm>
            <a:off x="6629400" y="4546600"/>
            <a:ext cx="4846320" cy="274320"/>
          </a:xfrm>
          <a:prstGeom prst="rect">
            <a:avLst/>
          </a:prstGeom>
          <a:noFill/>
        </p:spPr>
        <p:txBody>
          <a:bodyPr wrap="square">
            <a:spAutoFit/>
          </a:bodyPr>
          <a:lstStyle/>
          <a:p>
            <a:pPr algn="l"/>
            <a:r>
              <a:rPr sz="1100" b="1" i="0">
                <a:solidFill>
                  <a:srgbClr val="0F172A"/>
                </a:solidFill>
                <a:latin typeface="Calibri"/>
              </a:rPr>
              <a:t>Pipeline 4: Session State Distribution</a:t>
            </a:r>
          </a:p>
        </p:txBody>
      </p:sp>
      <p:sp>
        <p:nvSpPr>
          <p:cNvPr id="38" name="TextBox 37"/>
          <p:cNvSpPr txBox="1"/>
          <p:nvPr/>
        </p:nvSpPr>
        <p:spPr>
          <a:xfrm>
            <a:off x="6629400" y="4791456"/>
            <a:ext cx="4846320" cy="228600"/>
          </a:xfrm>
          <a:prstGeom prst="rect">
            <a:avLst/>
          </a:prstGeom>
          <a:noFill/>
        </p:spPr>
        <p:txBody>
          <a:bodyPr wrap="square">
            <a:spAutoFit/>
          </a:bodyPr>
          <a:lstStyle/>
          <a:p>
            <a:pPr algn="l"/>
            <a:r>
              <a:rPr sz="950" b="1" i="0">
                <a:solidFill>
                  <a:srgbClr val="0284C7"/>
                </a:solidFill>
                <a:latin typeface="Calibri"/>
              </a:rPr>
              <a:t>Stages: $group by status (completed, in_progress, cancelled)</a:t>
            </a:r>
          </a:p>
        </p:txBody>
      </p:sp>
      <p:sp>
        <p:nvSpPr>
          <p:cNvPr id="39" name="TextBox 38"/>
          <p:cNvSpPr txBox="1"/>
          <p:nvPr/>
        </p:nvSpPr>
        <p:spPr>
          <a:xfrm>
            <a:off x="6629400" y="4992624"/>
            <a:ext cx="4846320" cy="365760"/>
          </a:xfrm>
          <a:prstGeom prst="rect">
            <a:avLst/>
          </a:prstGeom>
          <a:noFill/>
        </p:spPr>
        <p:txBody>
          <a:bodyPr wrap="square">
            <a:spAutoFit/>
          </a:bodyPr>
          <a:lstStyle/>
          <a:p>
            <a:pPr algn="l"/>
            <a:r>
              <a:rPr sz="900" b="0" i="0">
                <a:solidFill>
                  <a:srgbClr val="475569"/>
                </a:solidFill>
                <a:latin typeface="Calibri"/>
              </a:rPr>
              <a:t>Monitors live network utilization versus aborted charging attempts.</a:t>
            </a:r>
          </a:p>
        </p:txBody>
      </p:sp>
      <p:sp>
        <p:nvSpPr>
          <p:cNvPr id="40" name="Rectangle 39"/>
          <p:cNvSpPr/>
          <p:nvPr/>
        </p:nvSpPr>
        <p:spPr>
          <a:xfrm>
            <a:off x="6217920" y="5440679"/>
            <a:ext cx="320040" cy="320040"/>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17920" y="5466079"/>
            <a:ext cx="320040" cy="274320"/>
          </a:xfrm>
          <a:prstGeom prst="rect">
            <a:avLst/>
          </a:prstGeom>
          <a:noFill/>
        </p:spPr>
        <p:txBody>
          <a:bodyPr wrap="square">
            <a:spAutoFit/>
          </a:bodyPr>
          <a:lstStyle/>
          <a:p>
            <a:pPr algn="ctr"/>
            <a:r>
              <a:rPr sz="1100" b="1" i="0">
                <a:solidFill>
                  <a:srgbClr val="064E3B"/>
                </a:solidFill>
                <a:latin typeface="Calibri"/>
              </a:rPr>
              <a:t>#5</a:t>
            </a:r>
          </a:p>
        </p:txBody>
      </p:sp>
      <p:sp>
        <p:nvSpPr>
          <p:cNvPr id="42" name="TextBox 41"/>
          <p:cNvSpPr txBox="1"/>
          <p:nvPr/>
        </p:nvSpPr>
        <p:spPr>
          <a:xfrm>
            <a:off x="6629400" y="5415279"/>
            <a:ext cx="4846320" cy="274320"/>
          </a:xfrm>
          <a:prstGeom prst="rect">
            <a:avLst/>
          </a:prstGeom>
          <a:noFill/>
        </p:spPr>
        <p:txBody>
          <a:bodyPr wrap="square">
            <a:spAutoFit/>
          </a:bodyPr>
          <a:lstStyle/>
          <a:p>
            <a:pPr algn="l"/>
            <a:r>
              <a:rPr sz="1100" b="1" i="0">
                <a:solidFill>
                  <a:srgbClr val="0F172A"/>
                </a:solidFill>
                <a:latin typeface="Calibri"/>
              </a:rPr>
              <a:t>Pipeline 5: Pricing Benchmark by Connector</a:t>
            </a:r>
          </a:p>
        </p:txBody>
      </p:sp>
      <p:sp>
        <p:nvSpPr>
          <p:cNvPr id="43" name="TextBox 42"/>
          <p:cNvSpPr txBox="1"/>
          <p:nvPr/>
        </p:nvSpPr>
        <p:spPr>
          <a:xfrm>
            <a:off x="6629400" y="5660135"/>
            <a:ext cx="4846320" cy="228600"/>
          </a:xfrm>
          <a:prstGeom prst="rect">
            <a:avLst/>
          </a:prstGeom>
          <a:noFill/>
        </p:spPr>
        <p:txBody>
          <a:bodyPr wrap="square">
            <a:spAutoFit/>
          </a:bodyPr>
          <a:lstStyle/>
          <a:p>
            <a:pPr algn="l"/>
            <a:r>
              <a:rPr sz="950" b="1" i="0">
                <a:solidFill>
                  <a:srgbClr val="0284C7"/>
                </a:solidFill>
                <a:latin typeface="Calibri"/>
              </a:rPr>
              <a:t>Stages: $unwind -&gt; $group by type -&gt; $avg price_per_kwh</a:t>
            </a:r>
          </a:p>
        </p:txBody>
      </p:sp>
      <p:sp>
        <p:nvSpPr>
          <p:cNvPr id="44" name="TextBox 43"/>
          <p:cNvSpPr txBox="1"/>
          <p:nvPr/>
        </p:nvSpPr>
        <p:spPr>
          <a:xfrm>
            <a:off x="6629400" y="5861303"/>
            <a:ext cx="4846320" cy="365760"/>
          </a:xfrm>
          <a:prstGeom prst="rect">
            <a:avLst/>
          </a:prstGeom>
          <a:noFill/>
        </p:spPr>
        <p:txBody>
          <a:bodyPr wrap="square">
            <a:spAutoFit/>
          </a:bodyPr>
          <a:lstStyle/>
          <a:p>
            <a:pPr algn="l"/>
            <a:r>
              <a:rPr sz="900" b="0" i="0">
                <a:solidFill>
                  <a:srgbClr val="475569"/>
                </a:solidFill>
                <a:latin typeface="Calibri"/>
              </a:rPr>
              <a:t>Computes industry standard rates across CCS2, Type-2, and CHAdeMO.</a:t>
            </a:r>
          </a:p>
        </p:txBody>
      </p:sp>
      <p:sp>
        <p:nvSpPr>
          <p:cNvPr id="45" name="TextBox 44"/>
          <p:cNvSpPr txBox="1"/>
          <p:nvPr/>
        </p:nvSpPr>
        <p:spPr>
          <a:xfrm>
            <a:off x="11094415" y="6492240"/>
            <a:ext cx="822960" cy="274320"/>
          </a:xfrm>
          <a:prstGeom prst="rect">
            <a:avLst/>
          </a:prstGeom>
          <a:noFill/>
        </p:spPr>
        <p:txBody>
          <a:bodyPr wrap="square">
            <a:spAutoFit/>
          </a:bodyPr>
          <a:lstStyle/>
          <a:p>
            <a:pPr algn="r"/>
            <a:r>
              <a:rPr sz="1000" b="0" i="0">
                <a:solidFill>
                  <a:srgbClr val="475569"/>
                </a:solidFill>
                <a:latin typeface="Calibri"/>
              </a:rPr>
              <a:t>07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70432"/>
            <a:ext cx="8534186" cy="38100"/>
          </a:xfrm>
          <a:prstGeom prst="rect">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34186" y="1170432"/>
            <a:ext cx="3657508" cy="38100"/>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7160"/>
            <a:ext cx="2926080" cy="256032"/>
          </a:xfrm>
          <a:prstGeom prst="rect">
            <a:avLst/>
          </a:prstGeom>
          <a:solidFill>
            <a:srgbClr val="EEF2FF"/>
          </a:solidFill>
          <a:ln w="12700">
            <a:solidFill>
              <a:srgbClr val="EEF2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56210"/>
            <a:ext cx="2926080" cy="217932"/>
          </a:xfrm>
          <a:prstGeom prst="rect">
            <a:avLst/>
          </a:prstGeom>
          <a:noFill/>
        </p:spPr>
        <p:txBody>
          <a:bodyPr wrap="square">
            <a:spAutoFit/>
          </a:bodyPr>
          <a:lstStyle/>
          <a:p>
            <a:pPr algn="ctr"/>
            <a:r>
              <a:rPr sz="900" b="1" i="0">
                <a:solidFill>
                  <a:srgbClr val="7C3AED"/>
                </a:solidFill>
                <a:latin typeface="Calibri"/>
              </a:rPr>
              <a:t>🧠 MACHINE LEARNING INTEGRATION</a:t>
            </a:r>
          </a:p>
        </p:txBody>
      </p:sp>
      <p:sp>
        <p:nvSpPr>
          <p:cNvPr id="8" name="TextBox 7"/>
          <p:cNvSpPr txBox="1"/>
          <p:nvPr/>
        </p:nvSpPr>
        <p:spPr>
          <a:xfrm>
            <a:off x="457200" y="420624"/>
            <a:ext cx="9144000" cy="411480"/>
          </a:xfrm>
          <a:prstGeom prst="rect">
            <a:avLst/>
          </a:prstGeom>
          <a:noFill/>
        </p:spPr>
        <p:txBody>
          <a:bodyPr wrap="square">
            <a:spAutoFit/>
          </a:bodyPr>
          <a:lstStyle/>
          <a:p>
            <a:pPr algn="l"/>
            <a:r>
              <a:rPr sz="2200" b="1" i="0">
                <a:solidFill>
                  <a:srgbClr val="0F172A"/>
                </a:solidFill>
                <a:latin typeface="Calibri"/>
              </a:rPr>
              <a:t>Intelligent Foresight: Predicting Congestion Before Arrival</a:t>
            </a:r>
          </a:p>
        </p:txBody>
      </p:sp>
      <p:sp>
        <p:nvSpPr>
          <p:cNvPr id="9" name="TextBox 8"/>
          <p:cNvSpPr txBox="1"/>
          <p:nvPr/>
        </p:nvSpPr>
        <p:spPr>
          <a:xfrm>
            <a:off x="457200" y="804672"/>
            <a:ext cx="10058400" cy="320040"/>
          </a:xfrm>
          <a:prstGeom prst="rect">
            <a:avLst/>
          </a:prstGeom>
          <a:noFill/>
        </p:spPr>
        <p:txBody>
          <a:bodyPr wrap="square">
            <a:spAutoFit/>
          </a:bodyPr>
          <a:lstStyle/>
          <a:p>
            <a:pPr algn="l"/>
            <a:r>
              <a:rPr sz="1200" b="0" i="1">
                <a:solidFill>
                  <a:srgbClr val="475569"/>
                </a:solidFill>
                <a:latin typeface="Calibri"/>
              </a:rPr>
              <a:t>Explainable Decision Tree classifier anticipating peak station crowding with transparent rules</a:t>
            </a:r>
          </a:p>
        </p:txBody>
      </p:sp>
      <p:sp>
        <p:nvSpPr>
          <p:cNvPr id="10" name="Rectangle 9"/>
          <p:cNvSpPr/>
          <p:nvPr/>
        </p:nvSpPr>
        <p:spPr>
          <a:xfrm>
            <a:off x="444500" y="1358900"/>
            <a:ext cx="5328920" cy="2951480"/>
          </a:xfrm>
          <a:prstGeom prst="rect">
            <a:avLst/>
          </a:prstGeom>
          <a:solidFill>
            <a:srgbClr val="FFFF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i_ev_prediction.jpg"/>
          <p:cNvPicPr>
            <a:picLocks noChangeAspect="1"/>
          </p:cNvPicPr>
          <p:nvPr/>
        </p:nvPicPr>
        <p:blipFill>
          <a:blip r:embed="rId2"/>
          <a:stretch>
            <a:fillRect/>
          </a:stretch>
        </p:blipFill>
        <p:spPr>
          <a:xfrm>
            <a:off x="457200" y="1371600"/>
            <a:ext cx="5303520" cy="2926080"/>
          </a:xfrm>
          <a:prstGeom prst="rect">
            <a:avLst/>
          </a:prstGeom>
        </p:spPr>
      </p:pic>
      <p:sp>
        <p:nvSpPr>
          <p:cNvPr id="12" name="Rectangle 11"/>
          <p:cNvSpPr/>
          <p:nvPr/>
        </p:nvSpPr>
        <p:spPr>
          <a:xfrm>
            <a:off x="457200" y="4434840"/>
            <a:ext cx="5303520" cy="19202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4434840"/>
            <a:ext cx="5303520" cy="44450"/>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572000"/>
            <a:ext cx="4937760" cy="274320"/>
          </a:xfrm>
          <a:prstGeom prst="rect">
            <a:avLst/>
          </a:prstGeom>
          <a:noFill/>
        </p:spPr>
        <p:txBody>
          <a:bodyPr wrap="square">
            <a:spAutoFit/>
          </a:bodyPr>
          <a:lstStyle/>
          <a:p>
            <a:pPr algn="l"/>
            <a:r>
              <a:rPr sz="1100" b="1" i="0">
                <a:solidFill>
                  <a:srgbClr val="7C3AED"/>
                </a:solidFill>
                <a:latin typeface="Calibri"/>
              </a:rPr>
              <a:t>🎛️  5 ENGINEERED INPUT FEATURES FOR INFERENCE</a:t>
            </a:r>
          </a:p>
        </p:txBody>
      </p:sp>
      <p:sp>
        <p:nvSpPr>
          <p:cNvPr id="15" name="TextBox 14"/>
          <p:cNvSpPr txBox="1"/>
          <p:nvPr/>
        </p:nvSpPr>
        <p:spPr>
          <a:xfrm>
            <a:off x="640080" y="4892040"/>
            <a:ext cx="2011680" cy="256032"/>
          </a:xfrm>
          <a:prstGeom prst="rect">
            <a:avLst/>
          </a:prstGeom>
          <a:noFill/>
        </p:spPr>
        <p:txBody>
          <a:bodyPr wrap="square">
            <a:spAutoFit/>
          </a:bodyPr>
          <a:lstStyle/>
          <a:p>
            <a:pPr algn="l"/>
            <a:r>
              <a:rPr sz="1000" b="1" i="0">
                <a:solidFill>
                  <a:srgbClr val="0F172A"/>
                </a:solidFill>
                <a:latin typeface="Calibri"/>
              </a:rPr>
              <a:t>⏱️ hour_of_day</a:t>
            </a:r>
          </a:p>
        </p:txBody>
      </p:sp>
      <p:sp>
        <p:nvSpPr>
          <p:cNvPr id="16" name="TextBox 15"/>
          <p:cNvSpPr txBox="1"/>
          <p:nvPr/>
        </p:nvSpPr>
        <p:spPr>
          <a:xfrm>
            <a:off x="2651760" y="4892040"/>
            <a:ext cx="2926080" cy="256032"/>
          </a:xfrm>
          <a:prstGeom prst="rect">
            <a:avLst/>
          </a:prstGeom>
          <a:noFill/>
        </p:spPr>
        <p:txBody>
          <a:bodyPr wrap="square">
            <a:spAutoFit/>
          </a:bodyPr>
          <a:lstStyle/>
          <a:p>
            <a:pPr algn="l"/>
            <a:r>
              <a:rPr sz="950" b="0" i="0">
                <a:solidFill>
                  <a:srgbClr val="475569"/>
                </a:solidFill>
                <a:latin typeface="Calibri"/>
              </a:rPr>
              <a:t>Time in 24-hr format (0–23)</a:t>
            </a:r>
          </a:p>
        </p:txBody>
      </p:sp>
      <p:sp>
        <p:nvSpPr>
          <p:cNvPr id="17" name="TextBox 16"/>
          <p:cNvSpPr txBox="1"/>
          <p:nvPr/>
        </p:nvSpPr>
        <p:spPr>
          <a:xfrm>
            <a:off x="640080" y="5166359"/>
            <a:ext cx="2011680" cy="256032"/>
          </a:xfrm>
          <a:prstGeom prst="rect">
            <a:avLst/>
          </a:prstGeom>
          <a:noFill/>
        </p:spPr>
        <p:txBody>
          <a:bodyPr wrap="square">
            <a:spAutoFit/>
          </a:bodyPr>
          <a:lstStyle/>
          <a:p>
            <a:pPr algn="l"/>
            <a:r>
              <a:rPr sz="1000" b="1" i="0">
                <a:solidFill>
                  <a:srgbClr val="0F172A"/>
                </a:solidFill>
                <a:latin typeface="Calibri"/>
              </a:rPr>
              <a:t>📅 day_of_week</a:t>
            </a:r>
          </a:p>
        </p:txBody>
      </p:sp>
      <p:sp>
        <p:nvSpPr>
          <p:cNvPr id="18" name="TextBox 17"/>
          <p:cNvSpPr txBox="1"/>
          <p:nvPr/>
        </p:nvSpPr>
        <p:spPr>
          <a:xfrm>
            <a:off x="2651760" y="5166359"/>
            <a:ext cx="2926080" cy="256032"/>
          </a:xfrm>
          <a:prstGeom prst="rect">
            <a:avLst/>
          </a:prstGeom>
          <a:noFill/>
        </p:spPr>
        <p:txBody>
          <a:bodyPr wrap="square">
            <a:spAutoFit/>
          </a:bodyPr>
          <a:lstStyle/>
          <a:p>
            <a:pPr algn="l"/>
            <a:r>
              <a:rPr sz="950" b="0" i="0">
                <a:solidFill>
                  <a:srgbClr val="475569"/>
                </a:solidFill>
                <a:latin typeface="Calibri"/>
              </a:rPr>
              <a:t>Weekday (0) vs Weekend (1)</a:t>
            </a:r>
          </a:p>
        </p:txBody>
      </p:sp>
      <p:sp>
        <p:nvSpPr>
          <p:cNvPr id="19" name="TextBox 18"/>
          <p:cNvSpPr txBox="1"/>
          <p:nvPr/>
        </p:nvSpPr>
        <p:spPr>
          <a:xfrm>
            <a:off x="640080" y="5440679"/>
            <a:ext cx="2011680" cy="256032"/>
          </a:xfrm>
          <a:prstGeom prst="rect">
            <a:avLst/>
          </a:prstGeom>
          <a:noFill/>
        </p:spPr>
        <p:txBody>
          <a:bodyPr wrap="square">
            <a:spAutoFit/>
          </a:bodyPr>
          <a:lstStyle/>
          <a:p>
            <a:pPr algn="l"/>
            <a:r>
              <a:rPr sz="1000" b="1" i="0">
                <a:solidFill>
                  <a:srgbClr val="0F172A"/>
                </a:solidFill>
                <a:latin typeface="Calibri"/>
              </a:rPr>
              <a:t>⚡ charging_speed_kw</a:t>
            </a:r>
          </a:p>
        </p:txBody>
      </p:sp>
      <p:sp>
        <p:nvSpPr>
          <p:cNvPr id="20" name="TextBox 19"/>
          <p:cNvSpPr txBox="1"/>
          <p:nvPr/>
        </p:nvSpPr>
        <p:spPr>
          <a:xfrm>
            <a:off x="2651760" y="5440679"/>
            <a:ext cx="2926080" cy="256032"/>
          </a:xfrm>
          <a:prstGeom prst="rect">
            <a:avLst/>
          </a:prstGeom>
          <a:noFill/>
        </p:spPr>
        <p:txBody>
          <a:bodyPr wrap="square">
            <a:spAutoFit/>
          </a:bodyPr>
          <a:lstStyle/>
          <a:p>
            <a:pPr algn="l"/>
            <a:r>
              <a:rPr sz="950" b="0" i="0">
                <a:solidFill>
                  <a:srgbClr val="475569"/>
                </a:solidFill>
                <a:latin typeface="Calibri"/>
              </a:rPr>
              <a:t>Charger speed capacity (kW)</a:t>
            </a:r>
          </a:p>
        </p:txBody>
      </p:sp>
      <p:sp>
        <p:nvSpPr>
          <p:cNvPr id="21" name="TextBox 20"/>
          <p:cNvSpPr txBox="1"/>
          <p:nvPr/>
        </p:nvSpPr>
        <p:spPr>
          <a:xfrm>
            <a:off x="640080" y="5715000"/>
            <a:ext cx="2011680" cy="256032"/>
          </a:xfrm>
          <a:prstGeom prst="rect">
            <a:avLst/>
          </a:prstGeom>
          <a:noFill/>
        </p:spPr>
        <p:txBody>
          <a:bodyPr wrap="square">
            <a:spAutoFit/>
          </a:bodyPr>
          <a:lstStyle/>
          <a:p>
            <a:pPr algn="l"/>
            <a:r>
              <a:rPr sz="1000" b="1" i="0">
                <a:solidFill>
                  <a:srgbClr val="0F172A"/>
                </a:solidFill>
                <a:latin typeface="Calibri"/>
              </a:rPr>
              <a:t>🔌 total_connectors</a:t>
            </a:r>
          </a:p>
        </p:txBody>
      </p:sp>
      <p:sp>
        <p:nvSpPr>
          <p:cNvPr id="22" name="TextBox 21"/>
          <p:cNvSpPr txBox="1"/>
          <p:nvPr/>
        </p:nvSpPr>
        <p:spPr>
          <a:xfrm>
            <a:off x="2651760" y="5715000"/>
            <a:ext cx="2926080" cy="256032"/>
          </a:xfrm>
          <a:prstGeom prst="rect">
            <a:avLst/>
          </a:prstGeom>
          <a:noFill/>
        </p:spPr>
        <p:txBody>
          <a:bodyPr wrap="square">
            <a:spAutoFit/>
          </a:bodyPr>
          <a:lstStyle/>
          <a:p>
            <a:pPr algn="l"/>
            <a:r>
              <a:rPr sz="950" b="0" i="0">
                <a:solidFill>
                  <a:srgbClr val="475569"/>
                </a:solidFill>
                <a:latin typeface="Calibri"/>
              </a:rPr>
              <a:t>Total hardware ports available</a:t>
            </a:r>
          </a:p>
        </p:txBody>
      </p:sp>
      <p:sp>
        <p:nvSpPr>
          <p:cNvPr id="23" name="TextBox 22"/>
          <p:cNvSpPr txBox="1"/>
          <p:nvPr/>
        </p:nvSpPr>
        <p:spPr>
          <a:xfrm>
            <a:off x="640080" y="5989320"/>
            <a:ext cx="2011680" cy="256032"/>
          </a:xfrm>
          <a:prstGeom prst="rect">
            <a:avLst/>
          </a:prstGeom>
          <a:noFill/>
        </p:spPr>
        <p:txBody>
          <a:bodyPr wrap="square">
            <a:spAutoFit/>
          </a:bodyPr>
          <a:lstStyle/>
          <a:p>
            <a:pPr algn="l"/>
            <a:r>
              <a:rPr sz="1000" b="1" i="0">
                <a:solidFill>
                  <a:srgbClr val="0F172A"/>
                </a:solidFill>
                <a:latin typeface="Calibri"/>
              </a:rPr>
              <a:t>🚦 is_peak_hours</a:t>
            </a:r>
          </a:p>
        </p:txBody>
      </p:sp>
      <p:sp>
        <p:nvSpPr>
          <p:cNvPr id="24" name="TextBox 23"/>
          <p:cNvSpPr txBox="1"/>
          <p:nvPr/>
        </p:nvSpPr>
        <p:spPr>
          <a:xfrm>
            <a:off x="2651760" y="5989320"/>
            <a:ext cx="2926080" cy="256032"/>
          </a:xfrm>
          <a:prstGeom prst="rect">
            <a:avLst/>
          </a:prstGeom>
          <a:noFill/>
        </p:spPr>
        <p:txBody>
          <a:bodyPr wrap="square">
            <a:spAutoFit/>
          </a:bodyPr>
          <a:lstStyle/>
          <a:p>
            <a:pPr algn="l"/>
            <a:r>
              <a:rPr sz="950" b="0" i="0">
                <a:solidFill>
                  <a:srgbClr val="475569"/>
                </a:solidFill>
                <a:latin typeface="Calibri"/>
              </a:rPr>
              <a:t>Binary flag (8–10 AM &amp; 5–8 PM)</a:t>
            </a:r>
          </a:p>
        </p:txBody>
      </p:sp>
      <p:sp>
        <p:nvSpPr>
          <p:cNvPr id="25" name="Rectangle 24"/>
          <p:cNvSpPr/>
          <p:nvPr/>
        </p:nvSpPr>
        <p:spPr>
          <a:xfrm>
            <a:off x="6022340" y="1358900"/>
            <a:ext cx="5694680" cy="3317240"/>
          </a:xfrm>
          <a:prstGeom prst="rect">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05b_ml_prediction.png"/>
          <p:cNvPicPr>
            <a:picLocks noChangeAspect="1"/>
          </p:cNvPicPr>
          <p:nvPr/>
        </p:nvPicPr>
        <p:blipFill>
          <a:blip r:embed="rId3"/>
          <a:stretch>
            <a:fillRect/>
          </a:stretch>
        </p:blipFill>
        <p:spPr>
          <a:xfrm>
            <a:off x="6035040" y="1371600"/>
            <a:ext cx="5669280" cy="3291840"/>
          </a:xfrm>
          <a:prstGeom prst="rect">
            <a:avLst/>
          </a:prstGeom>
        </p:spPr>
      </p:pic>
      <p:sp>
        <p:nvSpPr>
          <p:cNvPr id="27" name="Rectangle 26"/>
          <p:cNvSpPr/>
          <p:nvPr/>
        </p:nvSpPr>
        <p:spPr>
          <a:xfrm>
            <a:off x="6035040" y="4800600"/>
            <a:ext cx="5669280" cy="1554480"/>
          </a:xfrm>
          <a:prstGeom prst="rect">
            <a:avLst/>
          </a:prstGeom>
          <a:solidFill>
            <a:srgbClr val="FEF3C7"/>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0" y="4919472"/>
            <a:ext cx="5303520" cy="274320"/>
          </a:xfrm>
          <a:prstGeom prst="rect">
            <a:avLst/>
          </a:prstGeom>
          <a:noFill/>
        </p:spPr>
        <p:txBody>
          <a:bodyPr wrap="square">
            <a:spAutoFit/>
          </a:bodyPr>
          <a:lstStyle/>
          <a:p>
            <a:pPr algn="l"/>
            <a:r>
              <a:rPr sz="1100" b="1" i="0">
                <a:solidFill>
                  <a:srgbClr val="D97706"/>
                </a:solidFill>
                <a:latin typeface="Calibri"/>
              </a:rPr>
              <a:t>⚠️ ACADEMIC DISCLOSURE &amp; MODEL DESIGN RATIONALE</a:t>
            </a:r>
          </a:p>
        </p:txBody>
      </p:sp>
      <p:sp>
        <p:nvSpPr>
          <p:cNvPr id="29" name="TextBox 28"/>
          <p:cNvSpPr txBox="1"/>
          <p:nvPr/>
        </p:nvSpPr>
        <p:spPr>
          <a:xfrm>
            <a:off x="6217920" y="5212080"/>
            <a:ext cx="5303520" cy="1051560"/>
          </a:xfrm>
          <a:prstGeom prst="rect">
            <a:avLst/>
          </a:prstGeom>
          <a:noFill/>
        </p:spPr>
        <p:txBody>
          <a:bodyPr wrap="square">
            <a:spAutoFit/>
          </a:bodyPr>
          <a:lstStyle/>
          <a:p>
            <a:pPr algn="l"/>
            <a:r>
              <a:rPr sz="950" b="0" i="0">
                <a:solidFill>
                  <a:srgbClr val="78350F"/>
                </a:solidFill>
                <a:latin typeface="Calibri"/>
              </a:rPr>
              <a:t>• Model Type: scikit-learn DecisionTreeClassifier (max_depth=4 to prevent overfitting)
• Training Set: 600 synthetic profiles generated with random_state=42 (75% train / 25% test)
• Benchmark Accuracy: 91.3% test accuracy on synthetic demo distributions
• Ethical Disclosure: Evaluated purely on synthetic patterns. Real production deployments require real hardware telemetry. The model acts purely as an advisory reader and never writes to MongoDB.</a:t>
            </a:r>
          </a:p>
        </p:txBody>
      </p:sp>
      <p:sp>
        <p:nvSpPr>
          <p:cNvPr id="30" name="TextBox 29"/>
          <p:cNvSpPr txBox="1"/>
          <p:nvPr/>
        </p:nvSpPr>
        <p:spPr>
          <a:xfrm>
            <a:off x="11094415" y="6492240"/>
            <a:ext cx="822960" cy="274320"/>
          </a:xfrm>
          <a:prstGeom prst="rect">
            <a:avLst/>
          </a:prstGeom>
          <a:noFill/>
        </p:spPr>
        <p:txBody>
          <a:bodyPr wrap="square">
            <a:spAutoFit/>
          </a:bodyPr>
          <a:lstStyle/>
          <a:p>
            <a:pPr algn="r"/>
            <a:r>
              <a:rPr sz="1000" b="0" i="0">
                <a:solidFill>
                  <a:srgbClr val="475569"/>
                </a:solidFill>
                <a:latin typeface="Calibri"/>
              </a:rPr>
              <a:t>08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70432"/>
            <a:ext cx="8534186" cy="38100"/>
          </a:xfrm>
          <a:prstGeom prst="rect">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34186" y="1170432"/>
            <a:ext cx="3657508" cy="38100"/>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7160"/>
            <a:ext cx="2926080" cy="256032"/>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56210"/>
            <a:ext cx="2926080" cy="217932"/>
          </a:xfrm>
          <a:prstGeom prst="rect">
            <a:avLst/>
          </a:prstGeom>
          <a:noFill/>
        </p:spPr>
        <p:txBody>
          <a:bodyPr wrap="square">
            <a:spAutoFit/>
          </a:bodyPr>
          <a:lstStyle/>
          <a:p>
            <a:pPr algn="ctr"/>
            <a:r>
              <a:rPr sz="900" b="1" i="0">
                <a:solidFill>
                  <a:srgbClr val="064E3B"/>
                </a:solidFill>
                <a:latin typeface="Calibri"/>
              </a:rPr>
              <a:t>🛡️ QUALITY ASSURANCE &amp; VERIFICATION</a:t>
            </a:r>
          </a:p>
        </p:txBody>
      </p:sp>
      <p:sp>
        <p:nvSpPr>
          <p:cNvPr id="8" name="TextBox 7"/>
          <p:cNvSpPr txBox="1"/>
          <p:nvPr/>
        </p:nvSpPr>
        <p:spPr>
          <a:xfrm>
            <a:off x="457200" y="420624"/>
            <a:ext cx="9144000" cy="411480"/>
          </a:xfrm>
          <a:prstGeom prst="rect">
            <a:avLst/>
          </a:prstGeom>
          <a:noFill/>
        </p:spPr>
        <p:txBody>
          <a:bodyPr wrap="square">
            <a:spAutoFit/>
          </a:bodyPr>
          <a:lstStyle/>
          <a:p>
            <a:pPr algn="l"/>
            <a:r>
              <a:rPr sz="2200" b="1" i="0">
                <a:solidFill>
                  <a:srgbClr val="0F172A"/>
                </a:solidFill>
                <a:latin typeface="Calibri"/>
              </a:rPr>
              <a:t>Bulletproof Reliability: 14 Automated Tests &amp; Index Optimization</a:t>
            </a:r>
          </a:p>
        </p:txBody>
      </p:sp>
      <p:sp>
        <p:nvSpPr>
          <p:cNvPr id="9" name="TextBox 8"/>
          <p:cNvSpPr txBox="1"/>
          <p:nvPr/>
        </p:nvSpPr>
        <p:spPr>
          <a:xfrm>
            <a:off x="457200" y="804672"/>
            <a:ext cx="10058400" cy="320040"/>
          </a:xfrm>
          <a:prstGeom prst="rect">
            <a:avLst/>
          </a:prstGeom>
          <a:noFill/>
        </p:spPr>
        <p:txBody>
          <a:bodyPr wrap="square">
            <a:spAutoFit/>
          </a:bodyPr>
          <a:lstStyle/>
          <a:p>
            <a:pPr algn="l"/>
            <a:r>
              <a:rPr sz="1200" b="0" i="1">
                <a:solidFill>
                  <a:srgbClr val="475569"/>
                </a:solidFill>
                <a:latin typeface="Calibri"/>
              </a:rPr>
              <a:t>Rigorous test suites confirming schema rejection, state machines, and compound index performance</a:t>
            </a:r>
          </a:p>
        </p:txBody>
      </p:sp>
      <p:sp>
        <p:nvSpPr>
          <p:cNvPr id="10" name="Rectangle 9"/>
          <p:cNvSpPr/>
          <p:nvPr/>
        </p:nvSpPr>
        <p:spPr>
          <a:xfrm>
            <a:off x="457200" y="1371600"/>
            <a:ext cx="5486400" cy="49834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371600"/>
            <a:ext cx="5486400" cy="44450"/>
          </a:xfrm>
          <a:prstGeom prst="rect">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1554480"/>
            <a:ext cx="5120640" cy="292608"/>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1573530"/>
            <a:ext cx="5120640" cy="254508"/>
          </a:xfrm>
          <a:prstGeom prst="rect">
            <a:avLst/>
          </a:prstGeom>
          <a:noFill/>
        </p:spPr>
        <p:txBody>
          <a:bodyPr wrap="square">
            <a:spAutoFit/>
          </a:bodyPr>
          <a:lstStyle/>
          <a:p>
            <a:pPr algn="ctr"/>
            <a:r>
              <a:rPr sz="1000" b="1" i="0">
                <a:solidFill>
                  <a:srgbClr val="064E3B"/>
                </a:solidFill>
                <a:latin typeface="Calibri"/>
              </a:rPr>
              <a:t>✅  14/14 AUTOMATED SUITE PASSES CONFIRMED</a:t>
            </a:r>
          </a:p>
        </p:txBody>
      </p:sp>
      <p:sp>
        <p:nvSpPr>
          <p:cNvPr id="14" name="Rectangle 13"/>
          <p:cNvSpPr/>
          <p:nvPr/>
        </p:nvSpPr>
        <p:spPr>
          <a:xfrm>
            <a:off x="640080" y="1965960"/>
            <a:ext cx="1051560" cy="292608"/>
          </a:xfrm>
          <a:prstGeom prst="rect">
            <a:avLst/>
          </a:prstGeom>
          <a:solidFill>
            <a:srgbClr val="064E3B"/>
          </a:solidFill>
          <a:ln w="12700">
            <a:solidFill>
              <a:srgbClr val="064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1985010"/>
            <a:ext cx="1051560" cy="254508"/>
          </a:xfrm>
          <a:prstGeom prst="rect">
            <a:avLst/>
          </a:prstGeom>
          <a:noFill/>
        </p:spPr>
        <p:txBody>
          <a:bodyPr wrap="square">
            <a:spAutoFit/>
          </a:bodyPr>
          <a:lstStyle/>
          <a:p>
            <a:pPr algn="ctr"/>
            <a:r>
              <a:rPr sz="900" b="1" i="0">
                <a:solidFill>
                  <a:srgbClr val="FFFFFF"/>
                </a:solidFill>
                <a:latin typeface="Calibri"/>
              </a:rPr>
              <a:t>TC-01</a:t>
            </a:r>
          </a:p>
        </p:txBody>
      </p:sp>
      <p:sp>
        <p:nvSpPr>
          <p:cNvPr id="16" name="TextBox 15"/>
          <p:cNvSpPr txBox="1"/>
          <p:nvPr/>
        </p:nvSpPr>
        <p:spPr>
          <a:xfrm>
            <a:off x="1783080" y="1991360"/>
            <a:ext cx="3291840" cy="274320"/>
          </a:xfrm>
          <a:prstGeom prst="rect">
            <a:avLst/>
          </a:prstGeom>
          <a:noFill/>
        </p:spPr>
        <p:txBody>
          <a:bodyPr wrap="square">
            <a:spAutoFit/>
          </a:bodyPr>
          <a:lstStyle/>
          <a:p>
            <a:pPr algn="l"/>
            <a:r>
              <a:rPr sz="1000" b="0" i="0">
                <a:solidFill>
                  <a:srgbClr val="0F172A"/>
                </a:solidFill>
                <a:latin typeface="Calibri"/>
              </a:rPr>
              <a:t>$jsonSchema rejects negative speed (-50 kW)</a:t>
            </a:r>
          </a:p>
        </p:txBody>
      </p:sp>
      <p:sp>
        <p:nvSpPr>
          <p:cNvPr id="17" name="Rectangle 16"/>
          <p:cNvSpPr/>
          <p:nvPr/>
        </p:nvSpPr>
        <p:spPr>
          <a:xfrm>
            <a:off x="5120640" y="1965960"/>
            <a:ext cx="594360" cy="292608"/>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20640" y="1985010"/>
            <a:ext cx="594360" cy="254508"/>
          </a:xfrm>
          <a:prstGeom prst="rect">
            <a:avLst/>
          </a:prstGeom>
          <a:noFill/>
        </p:spPr>
        <p:txBody>
          <a:bodyPr wrap="square">
            <a:spAutoFit/>
          </a:bodyPr>
          <a:lstStyle/>
          <a:p>
            <a:pPr algn="ctr"/>
            <a:r>
              <a:rPr sz="850" b="1" i="0">
                <a:solidFill>
                  <a:srgbClr val="064E3B"/>
                </a:solidFill>
                <a:latin typeface="Calibri"/>
              </a:rPr>
              <a:t>PASSED</a:t>
            </a:r>
          </a:p>
        </p:txBody>
      </p:sp>
      <p:sp>
        <p:nvSpPr>
          <p:cNvPr id="19" name="Rectangle 18"/>
          <p:cNvSpPr/>
          <p:nvPr/>
        </p:nvSpPr>
        <p:spPr>
          <a:xfrm>
            <a:off x="640080" y="2368296"/>
            <a:ext cx="1051560" cy="292608"/>
          </a:xfrm>
          <a:prstGeom prst="rect">
            <a:avLst/>
          </a:prstGeom>
          <a:solidFill>
            <a:srgbClr val="064E3B"/>
          </a:solidFill>
          <a:ln w="12700">
            <a:solidFill>
              <a:srgbClr val="064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2387346"/>
            <a:ext cx="1051560" cy="254508"/>
          </a:xfrm>
          <a:prstGeom prst="rect">
            <a:avLst/>
          </a:prstGeom>
          <a:noFill/>
        </p:spPr>
        <p:txBody>
          <a:bodyPr wrap="square">
            <a:spAutoFit/>
          </a:bodyPr>
          <a:lstStyle/>
          <a:p>
            <a:pPr algn="ctr"/>
            <a:r>
              <a:rPr sz="900" b="1" i="0">
                <a:solidFill>
                  <a:srgbClr val="FFFFFF"/>
                </a:solidFill>
                <a:latin typeface="Calibri"/>
              </a:rPr>
              <a:t>TC-02</a:t>
            </a:r>
          </a:p>
        </p:txBody>
      </p:sp>
      <p:sp>
        <p:nvSpPr>
          <p:cNvPr id="21" name="TextBox 20"/>
          <p:cNvSpPr txBox="1"/>
          <p:nvPr/>
        </p:nvSpPr>
        <p:spPr>
          <a:xfrm>
            <a:off x="1783080" y="2393696"/>
            <a:ext cx="3291840" cy="274320"/>
          </a:xfrm>
          <a:prstGeom prst="rect">
            <a:avLst/>
          </a:prstGeom>
          <a:noFill/>
        </p:spPr>
        <p:txBody>
          <a:bodyPr wrap="square">
            <a:spAutoFit/>
          </a:bodyPr>
          <a:lstStyle/>
          <a:p>
            <a:pPr algn="l"/>
            <a:r>
              <a:rPr sz="1000" b="0" i="0">
                <a:solidFill>
                  <a:srgbClr val="0F172A"/>
                </a:solidFill>
                <a:latin typeface="Calibri"/>
              </a:rPr>
              <a:t>$jsonSchema rejects invalid status ('broken')</a:t>
            </a:r>
          </a:p>
        </p:txBody>
      </p:sp>
      <p:sp>
        <p:nvSpPr>
          <p:cNvPr id="22" name="Rectangle 21"/>
          <p:cNvSpPr/>
          <p:nvPr/>
        </p:nvSpPr>
        <p:spPr>
          <a:xfrm>
            <a:off x="5120640" y="2368296"/>
            <a:ext cx="594360" cy="292608"/>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20640" y="2387346"/>
            <a:ext cx="594360" cy="254508"/>
          </a:xfrm>
          <a:prstGeom prst="rect">
            <a:avLst/>
          </a:prstGeom>
          <a:noFill/>
        </p:spPr>
        <p:txBody>
          <a:bodyPr wrap="square">
            <a:spAutoFit/>
          </a:bodyPr>
          <a:lstStyle/>
          <a:p>
            <a:pPr algn="ctr"/>
            <a:r>
              <a:rPr sz="850" b="1" i="0">
                <a:solidFill>
                  <a:srgbClr val="064E3B"/>
                </a:solidFill>
                <a:latin typeface="Calibri"/>
              </a:rPr>
              <a:t>PASSED</a:t>
            </a:r>
          </a:p>
        </p:txBody>
      </p:sp>
      <p:sp>
        <p:nvSpPr>
          <p:cNvPr id="24" name="Rectangle 23"/>
          <p:cNvSpPr/>
          <p:nvPr/>
        </p:nvSpPr>
        <p:spPr>
          <a:xfrm>
            <a:off x="640080" y="2770632"/>
            <a:ext cx="1051560" cy="292608"/>
          </a:xfrm>
          <a:prstGeom prst="rect">
            <a:avLst/>
          </a:prstGeom>
          <a:solidFill>
            <a:srgbClr val="064E3B"/>
          </a:solidFill>
          <a:ln w="12700">
            <a:solidFill>
              <a:srgbClr val="064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2789682"/>
            <a:ext cx="1051560" cy="254508"/>
          </a:xfrm>
          <a:prstGeom prst="rect">
            <a:avLst/>
          </a:prstGeom>
          <a:noFill/>
        </p:spPr>
        <p:txBody>
          <a:bodyPr wrap="square">
            <a:spAutoFit/>
          </a:bodyPr>
          <a:lstStyle/>
          <a:p>
            <a:pPr algn="ctr"/>
            <a:r>
              <a:rPr sz="900" b="1" i="0">
                <a:solidFill>
                  <a:srgbClr val="FFFFFF"/>
                </a:solidFill>
                <a:latin typeface="Calibri"/>
              </a:rPr>
              <a:t>TC-03</a:t>
            </a:r>
          </a:p>
        </p:txBody>
      </p:sp>
      <p:sp>
        <p:nvSpPr>
          <p:cNvPr id="26" name="TextBox 25"/>
          <p:cNvSpPr txBox="1"/>
          <p:nvPr/>
        </p:nvSpPr>
        <p:spPr>
          <a:xfrm>
            <a:off x="1783080" y="2796032"/>
            <a:ext cx="3291840" cy="274320"/>
          </a:xfrm>
          <a:prstGeom prst="rect">
            <a:avLst/>
          </a:prstGeom>
          <a:noFill/>
        </p:spPr>
        <p:txBody>
          <a:bodyPr wrap="square">
            <a:spAutoFit/>
          </a:bodyPr>
          <a:lstStyle/>
          <a:p>
            <a:pPr algn="l"/>
            <a:r>
              <a:rPr sz="1000" b="0" i="0">
                <a:solidFill>
                  <a:srgbClr val="0F172A"/>
                </a:solidFill>
                <a:latin typeface="Calibri"/>
              </a:rPr>
              <a:t>Create station CS999 in MongoDB</a:t>
            </a:r>
          </a:p>
        </p:txBody>
      </p:sp>
      <p:sp>
        <p:nvSpPr>
          <p:cNvPr id="27" name="Rectangle 26"/>
          <p:cNvSpPr/>
          <p:nvPr/>
        </p:nvSpPr>
        <p:spPr>
          <a:xfrm>
            <a:off x="5120640" y="2770632"/>
            <a:ext cx="594360" cy="292608"/>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20640" y="2789682"/>
            <a:ext cx="594360" cy="254508"/>
          </a:xfrm>
          <a:prstGeom prst="rect">
            <a:avLst/>
          </a:prstGeom>
          <a:noFill/>
        </p:spPr>
        <p:txBody>
          <a:bodyPr wrap="square">
            <a:spAutoFit/>
          </a:bodyPr>
          <a:lstStyle/>
          <a:p>
            <a:pPr algn="ctr"/>
            <a:r>
              <a:rPr sz="850" b="1" i="0">
                <a:solidFill>
                  <a:srgbClr val="064E3B"/>
                </a:solidFill>
                <a:latin typeface="Calibri"/>
              </a:rPr>
              <a:t>PASSED</a:t>
            </a:r>
          </a:p>
        </p:txBody>
      </p:sp>
      <p:sp>
        <p:nvSpPr>
          <p:cNvPr id="29" name="Rectangle 28"/>
          <p:cNvSpPr/>
          <p:nvPr/>
        </p:nvSpPr>
        <p:spPr>
          <a:xfrm>
            <a:off x="640080" y="3172968"/>
            <a:ext cx="1051560" cy="292608"/>
          </a:xfrm>
          <a:prstGeom prst="rect">
            <a:avLst/>
          </a:prstGeom>
          <a:solidFill>
            <a:srgbClr val="064E3B"/>
          </a:solidFill>
          <a:ln w="12700">
            <a:solidFill>
              <a:srgbClr val="064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3192018"/>
            <a:ext cx="1051560" cy="254508"/>
          </a:xfrm>
          <a:prstGeom prst="rect">
            <a:avLst/>
          </a:prstGeom>
          <a:noFill/>
        </p:spPr>
        <p:txBody>
          <a:bodyPr wrap="square">
            <a:spAutoFit/>
          </a:bodyPr>
          <a:lstStyle/>
          <a:p>
            <a:pPr algn="ctr"/>
            <a:r>
              <a:rPr sz="900" b="1" i="0">
                <a:solidFill>
                  <a:srgbClr val="FFFFFF"/>
                </a:solidFill>
                <a:latin typeface="Calibri"/>
              </a:rPr>
              <a:t>TC-04</a:t>
            </a:r>
          </a:p>
        </p:txBody>
      </p:sp>
      <p:sp>
        <p:nvSpPr>
          <p:cNvPr id="31" name="TextBox 30"/>
          <p:cNvSpPr txBox="1"/>
          <p:nvPr/>
        </p:nvSpPr>
        <p:spPr>
          <a:xfrm>
            <a:off x="1783080" y="3198368"/>
            <a:ext cx="3291840" cy="274320"/>
          </a:xfrm>
          <a:prstGeom prst="rect">
            <a:avLst/>
          </a:prstGeom>
          <a:noFill/>
        </p:spPr>
        <p:txBody>
          <a:bodyPr wrap="square">
            <a:spAutoFit/>
          </a:bodyPr>
          <a:lstStyle/>
          <a:p>
            <a:pPr algn="l"/>
            <a:r>
              <a:rPr sz="1000" b="0" i="0">
                <a:solidFill>
                  <a:srgbClr val="0F172A"/>
                </a:solidFill>
                <a:latin typeface="Calibri"/>
              </a:rPr>
              <a:t>Read station CS999 with regex query</a:t>
            </a:r>
          </a:p>
        </p:txBody>
      </p:sp>
      <p:sp>
        <p:nvSpPr>
          <p:cNvPr id="32" name="Rectangle 31"/>
          <p:cNvSpPr/>
          <p:nvPr/>
        </p:nvSpPr>
        <p:spPr>
          <a:xfrm>
            <a:off x="5120640" y="3172968"/>
            <a:ext cx="594360" cy="292608"/>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20640" y="3192018"/>
            <a:ext cx="594360" cy="254508"/>
          </a:xfrm>
          <a:prstGeom prst="rect">
            <a:avLst/>
          </a:prstGeom>
          <a:noFill/>
        </p:spPr>
        <p:txBody>
          <a:bodyPr wrap="square">
            <a:spAutoFit/>
          </a:bodyPr>
          <a:lstStyle/>
          <a:p>
            <a:pPr algn="ctr"/>
            <a:r>
              <a:rPr sz="850" b="1" i="0">
                <a:solidFill>
                  <a:srgbClr val="064E3B"/>
                </a:solidFill>
                <a:latin typeface="Calibri"/>
              </a:rPr>
              <a:t>PASSED</a:t>
            </a:r>
          </a:p>
        </p:txBody>
      </p:sp>
      <p:sp>
        <p:nvSpPr>
          <p:cNvPr id="34" name="Rectangle 33"/>
          <p:cNvSpPr/>
          <p:nvPr/>
        </p:nvSpPr>
        <p:spPr>
          <a:xfrm>
            <a:off x="640080" y="3575304"/>
            <a:ext cx="1051560" cy="292608"/>
          </a:xfrm>
          <a:prstGeom prst="rect">
            <a:avLst/>
          </a:prstGeom>
          <a:solidFill>
            <a:srgbClr val="064E3B"/>
          </a:solidFill>
          <a:ln w="12700">
            <a:solidFill>
              <a:srgbClr val="064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3594354"/>
            <a:ext cx="1051560" cy="254508"/>
          </a:xfrm>
          <a:prstGeom prst="rect">
            <a:avLst/>
          </a:prstGeom>
          <a:noFill/>
        </p:spPr>
        <p:txBody>
          <a:bodyPr wrap="square">
            <a:spAutoFit/>
          </a:bodyPr>
          <a:lstStyle/>
          <a:p>
            <a:pPr algn="ctr"/>
            <a:r>
              <a:rPr sz="900" b="1" i="0">
                <a:solidFill>
                  <a:srgbClr val="FFFFFF"/>
                </a:solidFill>
                <a:latin typeface="Calibri"/>
              </a:rPr>
              <a:t>TC-05</a:t>
            </a:r>
          </a:p>
        </p:txBody>
      </p:sp>
      <p:sp>
        <p:nvSpPr>
          <p:cNvPr id="36" name="TextBox 35"/>
          <p:cNvSpPr txBox="1"/>
          <p:nvPr/>
        </p:nvSpPr>
        <p:spPr>
          <a:xfrm>
            <a:off x="1783080" y="3600704"/>
            <a:ext cx="3291840" cy="274320"/>
          </a:xfrm>
          <a:prstGeom prst="rect">
            <a:avLst/>
          </a:prstGeom>
          <a:noFill/>
        </p:spPr>
        <p:txBody>
          <a:bodyPr wrap="square">
            <a:spAutoFit/>
          </a:bodyPr>
          <a:lstStyle/>
          <a:p>
            <a:pPr algn="l"/>
            <a:r>
              <a:rPr sz="1000" b="0" i="0">
                <a:solidFill>
                  <a:srgbClr val="0F172A"/>
                </a:solidFill>
                <a:latin typeface="Calibri"/>
              </a:rPr>
              <a:t>Update station speed to 120 kW via $set</a:t>
            </a:r>
          </a:p>
        </p:txBody>
      </p:sp>
      <p:sp>
        <p:nvSpPr>
          <p:cNvPr id="37" name="Rectangle 36"/>
          <p:cNvSpPr/>
          <p:nvPr/>
        </p:nvSpPr>
        <p:spPr>
          <a:xfrm>
            <a:off x="5120640" y="3575304"/>
            <a:ext cx="594360" cy="292608"/>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594354"/>
            <a:ext cx="594360" cy="254508"/>
          </a:xfrm>
          <a:prstGeom prst="rect">
            <a:avLst/>
          </a:prstGeom>
          <a:noFill/>
        </p:spPr>
        <p:txBody>
          <a:bodyPr wrap="square">
            <a:spAutoFit/>
          </a:bodyPr>
          <a:lstStyle/>
          <a:p>
            <a:pPr algn="ctr"/>
            <a:r>
              <a:rPr sz="850" b="1" i="0">
                <a:solidFill>
                  <a:srgbClr val="064E3B"/>
                </a:solidFill>
                <a:latin typeface="Calibri"/>
              </a:rPr>
              <a:t>PASSED</a:t>
            </a:r>
          </a:p>
        </p:txBody>
      </p:sp>
      <p:sp>
        <p:nvSpPr>
          <p:cNvPr id="39" name="Rectangle 38"/>
          <p:cNvSpPr/>
          <p:nvPr/>
        </p:nvSpPr>
        <p:spPr>
          <a:xfrm>
            <a:off x="640080" y="3977639"/>
            <a:ext cx="1051560" cy="292608"/>
          </a:xfrm>
          <a:prstGeom prst="rect">
            <a:avLst/>
          </a:prstGeom>
          <a:solidFill>
            <a:srgbClr val="064E3B"/>
          </a:solidFill>
          <a:ln w="12700">
            <a:solidFill>
              <a:srgbClr val="064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3996689"/>
            <a:ext cx="1051560" cy="254508"/>
          </a:xfrm>
          <a:prstGeom prst="rect">
            <a:avLst/>
          </a:prstGeom>
          <a:noFill/>
        </p:spPr>
        <p:txBody>
          <a:bodyPr wrap="square">
            <a:spAutoFit/>
          </a:bodyPr>
          <a:lstStyle/>
          <a:p>
            <a:pPr algn="ctr"/>
            <a:r>
              <a:rPr sz="900" b="1" i="0">
                <a:solidFill>
                  <a:srgbClr val="FFFFFF"/>
                </a:solidFill>
                <a:latin typeface="Calibri"/>
              </a:rPr>
              <a:t>TC-06</a:t>
            </a:r>
          </a:p>
        </p:txBody>
      </p:sp>
      <p:sp>
        <p:nvSpPr>
          <p:cNvPr id="41" name="TextBox 40"/>
          <p:cNvSpPr txBox="1"/>
          <p:nvPr/>
        </p:nvSpPr>
        <p:spPr>
          <a:xfrm>
            <a:off x="1783080" y="4003039"/>
            <a:ext cx="3291840" cy="274320"/>
          </a:xfrm>
          <a:prstGeom prst="rect">
            <a:avLst/>
          </a:prstGeom>
          <a:noFill/>
        </p:spPr>
        <p:txBody>
          <a:bodyPr wrap="square">
            <a:spAutoFit/>
          </a:bodyPr>
          <a:lstStyle/>
          <a:p>
            <a:pPr algn="l"/>
            <a:r>
              <a:rPr sz="1000" b="0" i="0">
                <a:solidFill>
                  <a:srgbClr val="0F172A"/>
                </a:solidFill>
                <a:latin typeface="Calibri"/>
              </a:rPr>
              <a:t>Start session: locks connector to 'occupied'</a:t>
            </a:r>
          </a:p>
        </p:txBody>
      </p:sp>
      <p:sp>
        <p:nvSpPr>
          <p:cNvPr id="42" name="Rectangle 41"/>
          <p:cNvSpPr/>
          <p:nvPr/>
        </p:nvSpPr>
        <p:spPr>
          <a:xfrm>
            <a:off x="5120640" y="3977639"/>
            <a:ext cx="594360" cy="292608"/>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120640" y="3996689"/>
            <a:ext cx="594360" cy="254508"/>
          </a:xfrm>
          <a:prstGeom prst="rect">
            <a:avLst/>
          </a:prstGeom>
          <a:noFill/>
        </p:spPr>
        <p:txBody>
          <a:bodyPr wrap="square">
            <a:spAutoFit/>
          </a:bodyPr>
          <a:lstStyle/>
          <a:p>
            <a:pPr algn="ctr"/>
            <a:r>
              <a:rPr sz="850" b="1" i="0">
                <a:solidFill>
                  <a:srgbClr val="064E3B"/>
                </a:solidFill>
                <a:latin typeface="Calibri"/>
              </a:rPr>
              <a:t>PASSED</a:t>
            </a:r>
          </a:p>
        </p:txBody>
      </p:sp>
      <p:sp>
        <p:nvSpPr>
          <p:cNvPr id="44" name="Rectangle 43"/>
          <p:cNvSpPr/>
          <p:nvPr/>
        </p:nvSpPr>
        <p:spPr>
          <a:xfrm>
            <a:off x="640080" y="4379976"/>
            <a:ext cx="1051560" cy="292608"/>
          </a:xfrm>
          <a:prstGeom prst="rect">
            <a:avLst/>
          </a:prstGeom>
          <a:solidFill>
            <a:srgbClr val="064E3B"/>
          </a:solidFill>
          <a:ln w="12700">
            <a:solidFill>
              <a:srgbClr val="064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4399026"/>
            <a:ext cx="1051560" cy="254508"/>
          </a:xfrm>
          <a:prstGeom prst="rect">
            <a:avLst/>
          </a:prstGeom>
          <a:noFill/>
        </p:spPr>
        <p:txBody>
          <a:bodyPr wrap="square">
            <a:spAutoFit/>
          </a:bodyPr>
          <a:lstStyle/>
          <a:p>
            <a:pPr algn="ctr"/>
            <a:r>
              <a:rPr sz="900" b="1" i="0">
                <a:solidFill>
                  <a:srgbClr val="FFFFFF"/>
                </a:solidFill>
                <a:latin typeface="Calibri"/>
              </a:rPr>
              <a:t>TC-07</a:t>
            </a:r>
          </a:p>
        </p:txBody>
      </p:sp>
      <p:sp>
        <p:nvSpPr>
          <p:cNvPr id="46" name="TextBox 45"/>
          <p:cNvSpPr txBox="1"/>
          <p:nvPr/>
        </p:nvSpPr>
        <p:spPr>
          <a:xfrm>
            <a:off x="1783080" y="4405376"/>
            <a:ext cx="3291840" cy="274320"/>
          </a:xfrm>
          <a:prstGeom prst="rect">
            <a:avLst/>
          </a:prstGeom>
          <a:noFill/>
        </p:spPr>
        <p:txBody>
          <a:bodyPr wrap="square">
            <a:spAutoFit/>
          </a:bodyPr>
          <a:lstStyle/>
          <a:p>
            <a:pPr algn="l"/>
            <a:r>
              <a:rPr sz="1000" b="0" i="0">
                <a:solidFill>
                  <a:srgbClr val="0F172A"/>
                </a:solidFill>
                <a:latin typeface="Calibri"/>
              </a:rPr>
              <a:t>Referential Guard: Delete blocked with active session</a:t>
            </a:r>
          </a:p>
        </p:txBody>
      </p:sp>
      <p:sp>
        <p:nvSpPr>
          <p:cNvPr id="47" name="Rectangle 46"/>
          <p:cNvSpPr/>
          <p:nvPr/>
        </p:nvSpPr>
        <p:spPr>
          <a:xfrm>
            <a:off x="5120640" y="4379976"/>
            <a:ext cx="594360" cy="292608"/>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120640" y="4399026"/>
            <a:ext cx="594360" cy="254508"/>
          </a:xfrm>
          <a:prstGeom prst="rect">
            <a:avLst/>
          </a:prstGeom>
          <a:noFill/>
        </p:spPr>
        <p:txBody>
          <a:bodyPr wrap="square">
            <a:spAutoFit/>
          </a:bodyPr>
          <a:lstStyle/>
          <a:p>
            <a:pPr algn="ctr"/>
            <a:r>
              <a:rPr sz="850" b="1" i="0">
                <a:solidFill>
                  <a:srgbClr val="064E3B"/>
                </a:solidFill>
                <a:latin typeface="Calibri"/>
              </a:rPr>
              <a:t>PASSED</a:t>
            </a:r>
          </a:p>
        </p:txBody>
      </p:sp>
      <p:sp>
        <p:nvSpPr>
          <p:cNvPr id="49" name="Rectangle 48"/>
          <p:cNvSpPr/>
          <p:nvPr/>
        </p:nvSpPr>
        <p:spPr>
          <a:xfrm>
            <a:off x="640080" y="4782312"/>
            <a:ext cx="1051560" cy="292608"/>
          </a:xfrm>
          <a:prstGeom prst="rect">
            <a:avLst/>
          </a:prstGeom>
          <a:solidFill>
            <a:srgbClr val="064E3B"/>
          </a:solidFill>
          <a:ln w="12700">
            <a:solidFill>
              <a:srgbClr val="064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 y="4801362"/>
            <a:ext cx="1051560" cy="254508"/>
          </a:xfrm>
          <a:prstGeom prst="rect">
            <a:avLst/>
          </a:prstGeom>
          <a:noFill/>
        </p:spPr>
        <p:txBody>
          <a:bodyPr wrap="square">
            <a:spAutoFit/>
          </a:bodyPr>
          <a:lstStyle/>
          <a:p>
            <a:pPr algn="ctr"/>
            <a:r>
              <a:rPr sz="900" b="1" i="0">
                <a:solidFill>
                  <a:srgbClr val="FFFFFF"/>
                </a:solidFill>
                <a:latin typeface="Calibri"/>
              </a:rPr>
              <a:t>TC-08</a:t>
            </a:r>
          </a:p>
        </p:txBody>
      </p:sp>
      <p:sp>
        <p:nvSpPr>
          <p:cNvPr id="51" name="TextBox 50"/>
          <p:cNvSpPr txBox="1"/>
          <p:nvPr/>
        </p:nvSpPr>
        <p:spPr>
          <a:xfrm>
            <a:off x="1783080" y="4807712"/>
            <a:ext cx="3291840" cy="274320"/>
          </a:xfrm>
          <a:prstGeom prst="rect">
            <a:avLst/>
          </a:prstGeom>
          <a:noFill/>
        </p:spPr>
        <p:txBody>
          <a:bodyPr wrap="square">
            <a:spAutoFit/>
          </a:bodyPr>
          <a:lstStyle/>
          <a:p>
            <a:pPr algn="l"/>
            <a:r>
              <a:rPr sz="1000" b="0" i="0">
                <a:solidFill>
                  <a:srgbClr val="0F172A"/>
                </a:solidFill>
                <a:latin typeface="Calibri"/>
              </a:rPr>
              <a:t>Complete session: restores connector to 'available'</a:t>
            </a:r>
          </a:p>
        </p:txBody>
      </p:sp>
      <p:sp>
        <p:nvSpPr>
          <p:cNvPr id="52" name="Rectangle 51"/>
          <p:cNvSpPr/>
          <p:nvPr/>
        </p:nvSpPr>
        <p:spPr>
          <a:xfrm>
            <a:off x="5120640" y="4782312"/>
            <a:ext cx="594360" cy="292608"/>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120640" y="4801362"/>
            <a:ext cx="594360" cy="254508"/>
          </a:xfrm>
          <a:prstGeom prst="rect">
            <a:avLst/>
          </a:prstGeom>
          <a:noFill/>
        </p:spPr>
        <p:txBody>
          <a:bodyPr wrap="square">
            <a:spAutoFit/>
          </a:bodyPr>
          <a:lstStyle/>
          <a:p>
            <a:pPr algn="ctr"/>
            <a:r>
              <a:rPr sz="850" b="1" i="0">
                <a:solidFill>
                  <a:srgbClr val="064E3B"/>
                </a:solidFill>
                <a:latin typeface="Calibri"/>
              </a:rPr>
              <a:t>PASSED</a:t>
            </a:r>
          </a:p>
        </p:txBody>
      </p:sp>
      <p:sp>
        <p:nvSpPr>
          <p:cNvPr id="54" name="Rectangle 53"/>
          <p:cNvSpPr/>
          <p:nvPr/>
        </p:nvSpPr>
        <p:spPr>
          <a:xfrm>
            <a:off x="640080" y="5184648"/>
            <a:ext cx="1051560" cy="292608"/>
          </a:xfrm>
          <a:prstGeom prst="rect">
            <a:avLst/>
          </a:prstGeom>
          <a:solidFill>
            <a:srgbClr val="064E3B"/>
          </a:solidFill>
          <a:ln w="12700">
            <a:solidFill>
              <a:srgbClr val="064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 y="5203698"/>
            <a:ext cx="1051560" cy="254508"/>
          </a:xfrm>
          <a:prstGeom prst="rect">
            <a:avLst/>
          </a:prstGeom>
          <a:noFill/>
        </p:spPr>
        <p:txBody>
          <a:bodyPr wrap="square">
            <a:spAutoFit/>
          </a:bodyPr>
          <a:lstStyle/>
          <a:p>
            <a:pPr algn="ctr"/>
            <a:r>
              <a:rPr sz="900" b="1" i="0">
                <a:solidFill>
                  <a:srgbClr val="FFFFFF"/>
                </a:solidFill>
                <a:latin typeface="Calibri"/>
              </a:rPr>
              <a:t>TC-09</a:t>
            </a:r>
          </a:p>
        </p:txBody>
      </p:sp>
      <p:sp>
        <p:nvSpPr>
          <p:cNvPr id="56" name="TextBox 55"/>
          <p:cNvSpPr txBox="1"/>
          <p:nvPr/>
        </p:nvSpPr>
        <p:spPr>
          <a:xfrm>
            <a:off x="1783080" y="5210048"/>
            <a:ext cx="3291840" cy="274320"/>
          </a:xfrm>
          <a:prstGeom prst="rect">
            <a:avLst/>
          </a:prstGeom>
          <a:noFill/>
        </p:spPr>
        <p:txBody>
          <a:bodyPr wrap="square">
            <a:spAutoFit/>
          </a:bodyPr>
          <a:lstStyle/>
          <a:p>
            <a:pPr algn="l"/>
            <a:r>
              <a:rPr sz="1000" b="0" i="0">
                <a:solidFill>
                  <a:srgbClr val="0F172A"/>
                </a:solidFill>
                <a:latin typeface="Calibri"/>
              </a:rPr>
              <a:t>Delete station CS999 cleanly with 0 sessions</a:t>
            </a:r>
          </a:p>
        </p:txBody>
      </p:sp>
      <p:sp>
        <p:nvSpPr>
          <p:cNvPr id="57" name="Rectangle 56"/>
          <p:cNvSpPr/>
          <p:nvPr/>
        </p:nvSpPr>
        <p:spPr>
          <a:xfrm>
            <a:off x="5120640" y="5184648"/>
            <a:ext cx="594360" cy="292608"/>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20640" y="5203698"/>
            <a:ext cx="594360" cy="254508"/>
          </a:xfrm>
          <a:prstGeom prst="rect">
            <a:avLst/>
          </a:prstGeom>
          <a:noFill/>
        </p:spPr>
        <p:txBody>
          <a:bodyPr wrap="square">
            <a:spAutoFit/>
          </a:bodyPr>
          <a:lstStyle/>
          <a:p>
            <a:pPr algn="ctr"/>
            <a:r>
              <a:rPr sz="850" b="1" i="0">
                <a:solidFill>
                  <a:srgbClr val="064E3B"/>
                </a:solidFill>
                <a:latin typeface="Calibri"/>
              </a:rPr>
              <a:t>PASSED</a:t>
            </a:r>
          </a:p>
        </p:txBody>
      </p:sp>
      <p:sp>
        <p:nvSpPr>
          <p:cNvPr id="59" name="Rectangle 58"/>
          <p:cNvSpPr/>
          <p:nvPr/>
        </p:nvSpPr>
        <p:spPr>
          <a:xfrm>
            <a:off x="640080" y="5586983"/>
            <a:ext cx="1051560" cy="292608"/>
          </a:xfrm>
          <a:prstGeom prst="rect">
            <a:avLst/>
          </a:prstGeom>
          <a:solidFill>
            <a:srgbClr val="064E3B"/>
          </a:solidFill>
          <a:ln w="12700">
            <a:solidFill>
              <a:srgbClr val="064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0080" y="5606033"/>
            <a:ext cx="1051560" cy="254508"/>
          </a:xfrm>
          <a:prstGeom prst="rect">
            <a:avLst/>
          </a:prstGeom>
          <a:noFill/>
        </p:spPr>
        <p:txBody>
          <a:bodyPr wrap="square">
            <a:spAutoFit/>
          </a:bodyPr>
          <a:lstStyle/>
          <a:p>
            <a:pPr algn="ctr"/>
            <a:r>
              <a:rPr sz="900" b="1" i="0">
                <a:solidFill>
                  <a:srgbClr val="FFFFFF"/>
                </a:solidFill>
                <a:latin typeface="Calibri"/>
              </a:rPr>
              <a:t>TC-10–14</a:t>
            </a:r>
          </a:p>
        </p:txBody>
      </p:sp>
      <p:sp>
        <p:nvSpPr>
          <p:cNvPr id="61" name="TextBox 60"/>
          <p:cNvSpPr txBox="1"/>
          <p:nvPr/>
        </p:nvSpPr>
        <p:spPr>
          <a:xfrm>
            <a:off x="1783080" y="5612383"/>
            <a:ext cx="3291840" cy="274320"/>
          </a:xfrm>
          <a:prstGeom prst="rect">
            <a:avLst/>
          </a:prstGeom>
          <a:noFill/>
        </p:spPr>
        <p:txBody>
          <a:bodyPr wrap="square">
            <a:spAutoFit/>
          </a:bodyPr>
          <a:lstStyle/>
          <a:p>
            <a:pPr algn="l"/>
            <a:r>
              <a:rPr sz="1000" b="0" i="0">
                <a:solidFill>
                  <a:srgbClr val="0F172A"/>
                </a:solidFill>
                <a:latin typeface="Calibri"/>
              </a:rPr>
              <a:t>All 5 Aggregation Pipelines return valid non-empty cursors</a:t>
            </a:r>
          </a:p>
        </p:txBody>
      </p:sp>
      <p:sp>
        <p:nvSpPr>
          <p:cNvPr id="62" name="Rectangle 61"/>
          <p:cNvSpPr/>
          <p:nvPr/>
        </p:nvSpPr>
        <p:spPr>
          <a:xfrm>
            <a:off x="5120640" y="5586983"/>
            <a:ext cx="594360" cy="292608"/>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120640" y="5606033"/>
            <a:ext cx="594360" cy="254508"/>
          </a:xfrm>
          <a:prstGeom prst="rect">
            <a:avLst/>
          </a:prstGeom>
          <a:noFill/>
        </p:spPr>
        <p:txBody>
          <a:bodyPr wrap="square">
            <a:spAutoFit/>
          </a:bodyPr>
          <a:lstStyle/>
          <a:p>
            <a:pPr algn="ctr"/>
            <a:r>
              <a:rPr sz="850" b="1" i="0">
                <a:solidFill>
                  <a:srgbClr val="064E3B"/>
                </a:solidFill>
                <a:latin typeface="Calibri"/>
              </a:rPr>
              <a:t>PASSED</a:t>
            </a:r>
          </a:p>
        </p:txBody>
      </p:sp>
      <p:sp>
        <p:nvSpPr>
          <p:cNvPr id="64" name="Rectangle 63"/>
          <p:cNvSpPr/>
          <p:nvPr/>
        </p:nvSpPr>
        <p:spPr>
          <a:xfrm>
            <a:off x="6205220" y="1358900"/>
            <a:ext cx="5511800" cy="3225800"/>
          </a:xfrm>
          <a:prstGeom prst="rect">
            <a:avLst/>
          </a:prstGeom>
          <a:solidFill>
            <a:srgbClr val="FFFFFF"/>
          </a:solidFill>
          <a:ln w="12700">
            <a:solidFill>
              <a:srgbClr val="064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5" name="Picture 64" descr="04_charging_sessions.png"/>
          <p:cNvPicPr>
            <a:picLocks noChangeAspect="1"/>
          </p:cNvPicPr>
          <p:nvPr/>
        </p:nvPicPr>
        <p:blipFill>
          <a:blip r:embed="rId2"/>
          <a:stretch>
            <a:fillRect/>
          </a:stretch>
        </p:blipFill>
        <p:spPr>
          <a:xfrm>
            <a:off x="6217920" y="1371600"/>
            <a:ext cx="5486400" cy="3200400"/>
          </a:xfrm>
          <a:prstGeom prst="rect">
            <a:avLst/>
          </a:prstGeom>
        </p:spPr>
      </p:pic>
      <p:sp>
        <p:nvSpPr>
          <p:cNvPr id="66" name="Rectangle 65"/>
          <p:cNvSpPr/>
          <p:nvPr/>
        </p:nvSpPr>
        <p:spPr>
          <a:xfrm>
            <a:off x="6217920" y="4709160"/>
            <a:ext cx="5486400" cy="1645920"/>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400800" y="4846320"/>
            <a:ext cx="5120640" cy="256032"/>
          </a:xfrm>
          <a:prstGeom prst="rect">
            <a:avLst/>
          </a:prstGeom>
          <a:noFill/>
        </p:spPr>
        <p:txBody>
          <a:bodyPr wrap="square">
            <a:spAutoFit/>
          </a:bodyPr>
          <a:lstStyle/>
          <a:p>
            <a:pPr algn="l"/>
            <a:r>
              <a:rPr sz="1000" b="1" i="0">
                <a:solidFill>
                  <a:srgbClr val="D97706"/>
                </a:solidFill>
                <a:latin typeface="Calibri"/>
              </a:rPr>
              <a:t>⚡ QUERY PERFORMANCE VERIFICATION: explain('executionStats')</a:t>
            </a:r>
          </a:p>
        </p:txBody>
      </p:sp>
      <p:sp>
        <p:nvSpPr>
          <p:cNvPr id="68" name="TextBox 67"/>
          <p:cNvSpPr txBox="1"/>
          <p:nvPr/>
        </p:nvSpPr>
        <p:spPr>
          <a:xfrm>
            <a:off x="6400800" y="5120640"/>
            <a:ext cx="5120640" cy="1143000"/>
          </a:xfrm>
          <a:prstGeom prst="rect">
            <a:avLst/>
          </a:prstGeom>
          <a:noFill/>
        </p:spPr>
        <p:txBody>
          <a:bodyPr wrap="square">
            <a:spAutoFit/>
          </a:bodyPr>
          <a:lstStyle/>
          <a:p>
            <a:pPr algn="l"/>
            <a:r>
              <a:rPr sz="900" b="0" i="0">
                <a:solidFill>
                  <a:srgbClr val="38BDF8"/>
                </a:solidFill>
                <a:latin typeface="Courier New"/>
              </a:rPr>
              <a:t>{
  "stage": "FETCH",
  "inputStage": {
    "stage": "IXSCAN",
    "indexName": "station_id_1",
    "isMultiKey": false,
    "executionTimeMillis": 0.32,  // Sub-millisecond response!
    "totalDocsExamined": 1, "nReturned": 1
  }
}</a:t>
            </a:r>
          </a:p>
        </p:txBody>
      </p:sp>
      <p:sp>
        <p:nvSpPr>
          <p:cNvPr id="69" name="TextBox 68"/>
          <p:cNvSpPr txBox="1"/>
          <p:nvPr/>
        </p:nvSpPr>
        <p:spPr>
          <a:xfrm>
            <a:off x="11094415" y="6492240"/>
            <a:ext cx="822960" cy="274320"/>
          </a:xfrm>
          <a:prstGeom prst="rect">
            <a:avLst/>
          </a:prstGeom>
          <a:noFill/>
        </p:spPr>
        <p:txBody>
          <a:bodyPr wrap="square">
            <a:spAutoFit/>
          </a:bodyPr>
          <a:lstStyle/>
          <a:p>
            <a:pPr algn="r"/>
            <a:r>
              <a:rPr sz="1000" b="0" i="0">
                <a:solidFill>
                  <a:srgbClr val="475569"/>
                </a:solidFill>
                <a:latin typeface="Calibri"/>
              </a:rPr>
              <a:t>09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70432"/>
            <a:ext cx="8534186" cy="38100"/>
          </a:xfrm>
          <a:prstGeom prst="rect">
            <a:avLst/>
          </a:prstGeom>
          <a:solidFill>
            <a:srgbClr val="10B981"/>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34186" y="1170432"/>
            <a:ext cx="3657508" cy="38100"/>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7160"/>
            <a:ext cx="2926080" cy="256032"/>
          </a:xfrm>
          <a:prstGeom prst="rect">
            <a:avLst/>
          </a:prstGeom>
          <a:solidFill>
            <a:srgbClr val="D1FAE5"/>
          </a:solidFill>
          <a:ln w="12700">
            <a:solidFill>
              <a:srgbClr val="D1F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56210"/>
            <a:ext cx="2926080" cy="217932"/>
          </a:xfrm>
          <a:prstGeom prst="rect">
            <a:avLst/>
          </a:prstGeom>
          <a:noFill/>
        </p:spPr>
        <p:txBody>
          <a:bodyPr wrap="square">
            <a:spAutoFit/>
          </a:bodyPr>
          <a:lstStyle/>
          <a:p>
            <a:pPr algn="ctr"/>
            <a:r>
              <a:rPr sz="900" b="1" i="0">
                <a:solidFill>
                  <a:srgbClr val="064E3B"/>
                </a:solidFill>
                <a:latin typeface="Calibri"/>
              </a:rPr>
              <a:t>🚀 PROJECT CONCLUSION &amp; VIVA READINESS</a:t>
            </a:r>
          </a:p>
        </p:txBody>
      </p:sp>
      <p:sp>
        <p:nvSpPr>
          <p:cNvPr id="8" name="TextBox 7"/>
          <p:cNvSpPr txBox="1"/>
          <p:nvPr/>
        </p:nvSpPr>
        <p:spPr>
          <a:xfrm>
            <a:off x="457200" y="420624"/>
            <a:ext cx="9144000" cy="411480"/>
          </a:xfrm>
          <a:prstGeom prst="rect">
            <a:avLst/>
          </a:prstGeom>
          <a:noFill/>
        </p:spPr>
        <p:txBody>
          <a:bodyPr wrap="square">
            <a:spAutoFit/>
          </a:bodyPr>
          <a:lstStyle/>
          <a:p>
            <a:pPr algn="l"/>
            <a:r>
              <a:rPr sz="2200" b="1" i="0">
                <a:solidFill>
                  <a:srgbClr val="0F172A"/>
                </a:solidFill>
                <a:latin typeface="Calibri"/>
              </a:rPr>
              <a:t>The Road Ahead: Building Towards Smarter, Greener Cities</a:t>
            </a:r>
          </a:p>
        </p:txBody>
      </p:sp>
      <p:sp>
        <p:nvSpPr>
          <p:cNvPr id="9" name="TextBox 8"/>
          <p:cNvSpPr txBox="1"/>
          <p:nvPr/>
        </p:nvSpPr>
        <p:spPr>
          <a:xfrm>
            <a:off x="457200" y="804672"/>
            <a:ext cx="10058400" cy="320040"/>
          </a:xfrm>
          <a:prstGeom prst="rect">
            <a:avLst/>
          </a:prstGeom>
          <a:noFill/>
        </p:spPr>
        <p:txBody>
          <a:bodyPr wrap="square">
            <a:spAutoFit/>
          </a:bodyPr>
          <a:lstStyle/>
          <a:p>
            <a:pPr algn="l"/>
            <a:r>
              <a:rPr sz="1200" b="0" i="1">
                <a:solidFill>
                  <a:srgbClr val="475569"/>
                </a:solidFill>
                <a:latin typeface="Calibri"/>
              </a:rPr>
              <a:t>Summary of project achievements, key performance indicators, and future production roadmap</a:t>
            </a:r>
          </a:p>
        </p:txBody>
      </p:sp>
      <p:sp>
        <p:nvSpPr>
          <p:cNvPr id="10" name="Rectangle 9"/>
          <p:cNvSpPr/>
          <p:nvPr/>
        </p:nvSpPr>
        <p:spPr>
          <a:xfrm>
            <a:off x="444500" y="1358900"/>
            <a:ext cx="5328920" cy="3317240"/>
          </a:xfrm>
          <a:prstGeom prst="rect">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mart_green_city.jpg"/>
          <p:cNvPicPr>
            <a:picLocks noChangeAspect="1"/>
          </p:cNvPicPr>
          <p:nvPr/>
        </p:nvPicPr>
        <p:blipFill>
          <a:blip r:embed="rId2"/>
          <a:stretch>
            <a:fillRect/>
          </a:stretch>
        </p:blipFill>
        <p:spPr>
          <a:xfrm>
            <a:off x="457200" y="1371600"/>
            <a:ext cx="5303520" cy="3291840"/>
          </a:xfrm>
          <a:prstGeom prst="rect">
            <a:avLst/>
          </a:prstGeom>
        </p:spPr>
      </p:pic>
      <p:sp>
        <p:nvSpPr>
          <p:cNvPr id="12" name="Rectangle 11"/>
          <p:cNvSpPr/>
          <p:nvPr/>
        </p:nvSpPr>
        <p:spPr>
          <a:xfrm>
            <a:off x="457200" y="4800600"/>
            <a:ext cx="1261872" cy="15544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4800600"/>
            <a:ext cx="1261872" cy="44450"/>
          </a:xfrm>
          <a:prstGeom prst="rect">
            <a:avLst/>
          </a:prstGeom>
          <a:solidFill>
            <a:srgbClr val="064E3B"/>
          </a:solidFill>
          <a:ln w="12700">
            <a:solidFill>
              <a:srgbClr val="064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4983480"/>
            <a:ext cx="1261872" cy="457200"/>
          </a:xfrm>
          <a:prstGeom prst="rect">
            <a:avLst/>
          </a:prstGeom>
          <a:noFill/>
        </p:spPr>
        <p:txBody>
          <a:bodyPr wrap="square">
            <a:spAutoFit/>
          </a:bodyPr>
          <a:lstStyle/>
          <a:p>
            <a:pPr algn="ctr"/>
            <a:r>
              <a:rPr sz="2200" b="1" i="0">
                <a:solidFill>
                  <a:srgbClr val="064E3B"/>
                </a:solidFill>
                <a:latin typeface="Calibri"/>
              </a:rPr>
              <a:t>10</a:t>
            </a:r>
          </a:p>
        </p:txBody>
      </p:sp>
      <p:sp>
        <p:nvSpPr>
          <p:cNvPr id="15" name="TextBox 14"/>
          <p:cNvSpPr txBox="1"/>
          <p:nvPr/>
        </p:nvSpPr>
        <p:spPr>
          <a:xfrm>
            <a:off x="457200" y="5532120"/>
            <a:ext cx="1261872" cy="640080"/>
          </a:xfrm>
          <a:prstGeom prst="rect">
            <a:avLst/>
          </a:prstGeom>
          <a:noFill/>
        </p:spPr>
        <p:txBody>
          <a:bodyPr wrap="square">
            <a:spAutoFit/>
          </a:bodyPr>
          <a:lstStyle/>
          <a:p>
            <a:pPr algn="ctr"/>
            <a:r>
              <a:rPr sz="1000" b="1" i="0">
                <a:solidFill>
                  <a:srgbClr val="475569"/>
                </a:solidFill>
                <a:latin typeface="Calibri"/>
              </a:rPr>
              <a:t>Seeded Stations</a:t>
            </a:r>
          </a:p>
        </p:txBody>
      </p:sp>
      <p:sp>
        <p:nvSpPr>
          <p:cNvPr id="16" name="Rectangle 15"/>
          <p:cNvSpPr/>
          <p:nvPr/>
        </p:nvSpPr>
        <p:spPr>
          <a:xfrm>
            <a:off x="1810512" y="4800600"/>
            <a:ext cx="1261872" cy="15544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810512" y="4800600"/>
            <a:ext cx="1261872" cy="44450"/>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10512" y="4983480"/>
            <a:ext cx="1261872" cy="457200"/>
          </a:xfrm>
          <a:prstGeom prst="rect">
            <a:avLst/>
          </a:prstGeom>
          <a:noFill/>
        </p:spPr>
        <p:txBody>
          <a:bodyPr wrap="square">
            <a:spAutoFit/>
          </a:bodyPr>
          <a:lstStyle/>
          <a:p>
            <a:pPr algn="ctr"/>
            <a:r>
              <a:rPr sz="2200" b="1" i="0">
                <a:solidFill>
                  <a:srgbClr val="0284C7"/>
                </a:solidFill>
                <a:latin typeface="Calibri"/>
              </a:rPr>
              <a:t>33</a:t>
            </a:r>
          </a:p>
        </p:txBody>
      </p:sp>
      <p:sp>
        <p:nvSpPr>
          <p:cNvPr id="19" name="TextBox 18"/>
          <p:cNvSpPr txBox="1"/>
          <p:nvPr/>
        </p:nvSpPr>
        <p:spPr>
          <a:xfrm>
            <a:off x="1810512" y="5532120"/>
            <a:ext cx="1261872" cy="640080"/>
          </a:xfrm>
          <a:prstGeom prst="rect">
            <a:avLst/>
          </a:prstGeom>
          <a:noFill/>
        </p:spPr>
        <p:txBody>
          <a:bodyPr wrap="square">
            <a:spAutoFit/>
          </a:bodyPr>
          <a:lstStyle/>
          <a:p>
            <a:pPr algn="ctr"/>
            <a:r>
              <a:rPr sz="1000" b="1" i="0">
                <a:solidFill>
                  <a:srgbClr val="475569"/>
                </a:solidFill>
                <a:latin typeface="Calibri"/>
              </a:rPr>
              <a:t>Active Connectors</a:t>
            </a:r>
          </a:p>
        </p:txBody>
      </p:sp>
      <p:sp>
        <p:nvSpPr>
          <p:cNvPr id="20" name="Rectangle 19"/>
          <p:cNvSpPr/>
          <p:nvPr/>
        </p:nvSpPr>
        <p:spPr>
          <a:xfrm>
            <a:off x="3163824" y="4800600"/>
            <a:ext cx="1261872" cy="15544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63824" y="4800600"/>
            <a:ext cx="1261872" cy="44450"/>
          </a:xfrm>
          <a:prstGeom prst="rect">
            <a:avLst/>
          </a:prstGeom>
          <a:solidFill>
            <a:srgbClr val="D97706"/>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63824" y="4983480"/>
            <a:ext cx="1261872" cy="457200"/>
          </a:xfrm>
          <a:prstGeom prst="rect">
            <a:avLst/>
          </a:prstGeom>
          <a:noFill/>
        </p:spPr>
        <p:txBody>
          <a:bodyPr wrap="square">
            <a:spAutoFit/>
          </a:bodyPr>
          <a:lstStyle/>
          <a:p>
            <a:pPr algn="ctr"/>
            <a:r>
              <a:rPr sz="2200" b="1" i="0">
                <a:solidFill>
                  <a:srgbClr val="D97706"/>
                </a:solidFill>
                <a:latin typeface="Calibri"/>
              </a:rPr>
              <a:t>42</a:t>
            </a:r>
          </a:p>
        </p:txBody>
      </p:sp>
      <p:sp>
        <p:nvSpPr>
          <p:cNvPr id="23" name="TextBox 22"/>
          <p:cNvSpPr txBox="1"/>
          <p:nvPr/>
        </p:nvSpPr>
        <p:spPr>
          <a:xfrm>
            <a:off x="3163824" y="5532120"/>
            <a:ext cx="1261872" cy="640080"/>
          </a:xfrm>
          <a:prstGeom prst="rect">
            <a:avLst/>
          </a:prstGeom>
          <a:noFill/>
        </p:spPr>
        <p:txBody>
          <a:bodyPr wrap="square">
            <a:spAutoFit/>
          </a:bodyPr>
          <a:lstStyle/>
          <a:p>
            <a:pPr algn="ctr"/>
            <a:r>
              <a:rPr sz="1000" b="1" i="0">
                <a:solidFill>
                  <a:srgbClr val="475569"/>
                </a:solidFill>
                <a:latin typeface="Calibri"/>
              </a:rPr>
              <a:t>Tracked Sessions</a:t>
            </a:r>
          </a:p>
        </p:txBody>
      </p:sp>
      <p:sp>
        <p:nvSpPr>
          <p:cNvPr id="24" name="Rectangle 23"/>
          <p:cNvSpPr/>
          <p:nvPr/>
        </p:nvSpPr>
        <p:spPr>
          <a:xfrm>
            <a:off x="4517136" y="4800600"/>
            <a:ext cx="1261872" cy="15544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17136" y="4800600"/>
            <a:ext cx="1261872" cy="44450"/>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17136" y="4983480"/>
            <a:ext cx="1261872" cy="457200"/>
          </a:xfrm>
          <a:prstGeom prst="rect">
            <a:avLst/>
          </a:prstGeom>
          <a:noFill/>
        </p:spPr>
        <p:txBody>
          <a:bodyPr wrap="square">
            <a:spAutoFit/>
          </a:bodyPr>
          <a:lstStyle/>
          <a:p>
            <a:pPr algn="ctr"/>
            <a:r>
              <a:rPr sz="2200" b="1" i="0">
                <a:solidFill>
                  <a:srgbClr val="7C3AED"/>
                </a:solidFill>
                <a:latin typeface="Calibri"/>
              </a:rPr>
              <a:t>91.3%</a:t>
            </a:r>
          </a:p>
        </p:txBody>
      </p:sp>
      <p:sp>
        <p:nvSpPr>
          <p:cNvPr id="27" name="TextBox 26"/>
          <p:cNvSpPr txBox="1"/>
          <p:nvPr/>
        </p:nvSpPr>
        <p:spPr>
          <a:xfrm>
            <a:off x="4517136" y="5532120"/>
            <a:ext cx="1261872" cy="640080"/>
          </a:xfrm>
          <a:prstGeom prst="rect">
            <a:avLst/>
          </a:prstGeom>
          <a:noFill/>
        </p:spPr>
        <p:txBody>
          <a:bodyPr wrap="square">
            <a:spAutoFit/>
          </a:bodyPr>
          <a:lstStyle/>
          <a:p>
            <a:pPr algn="ctr"/>
            <a:r>
              <a:rPr sz="1000" b="1" i="0">
                <a:solidFill>
                  <a:srgbClr val="475569"/>
                </a:solidFill>
                <a:latin typeface="Calibri"/>
              </a:rPr>
              <a:t>ML Accuracy</a:t>
            </a:r>
          </a:p>
        </p:txBody>
      </p:sp>
      <p:sp>
        <p:nvSpPr>
          <p:cNvPr id="28" name="Rectangle 27"/>
          <p:cNvSpPr/>
          <p:nvPr/>
        </p:nvSpPr>
        <p:spPr>
          <a:xfrm>
            <a:off x="6035040" y="1371600"/>
            <a:ext cx="5669280" cy="34747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035040" y="1371600"/>
            <a:ext cx="5669280" cy="44450"/>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17920" y="1554480"/>
            <a:ext cx="5303520" cy="292608"/>
          </a:xfrm>
          <a:prstGeom prst="rect">
            <a:avLst/>
          </a:prstGeom>
          <a:solidFill>
            <a:srgbClr val="E0F2FE"/>
          </a:solidFill>
          <a:ln w="12700">
            <a:solidFill>
              <a:srgbClr val="E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17920" y="1573530"/>
            <a:ext cx="5303520" cy="254508"/>
          </a:xfrm>
          <a:prstGeom prst="rect">
            <a:avLst/>
          </a:prstGeom>
          <a:noFill/>
        </p:spPr>
        <p:txBody>
          <a:bodyPr wrap="square">
            <a:spAutoFit/>
          </a:bodyPr>
          <a:lstStyle/>
          <a:p>
            <a:pPr algn="ctr"/>
            <a:r>
              <a:rPr sz="1000" b="1" i="0">
                <a:solidFill>
                  <a:srgbClr val="0284C7"/>
                </a:solidFill>
                <a:latin typeface="Calibri"/>
              </a:rPr>
              <a:t>🔮 FUTURE PRODUCTION ROADMAP</a:t>
            </a:r>
          </a:p>
        </p:txBody>
      </p:sp>
      <p:sp>
        <p:nvSpPr>
          <p:cNvPr id="32" name="Rectangle 31"/>
          <p:cNvSpPr/>
          <p:nvPr/>
        </p:nvSpPr>
        <p:spPr>
          <a:xfrm>
            <a:off x="6217920" y="1991360"/>
            <a:ext cx="137160" cy="137160"/>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1965960"/>
            <a:ext cx="4937760" cy="256032"/>
          </a:xfrm>
          <a:prstGeom prst="rect">
            <a:avLst/>
          </a:prstGeom>
          <a:noFill/>
        </p:spPr>
        <p:txBody>
          <a:bodyPr wrap="square">
            <a:spAutoFit/>
          </a:bodyPr>
          <a:lstStyle/>
          <a:p>
            <a:pPr algn="l"/>
            <a:r>
              <a:rPr sz="1100" b="1" i="0">
                <a:solidFill>
                  <a:srgbClr val="0F172A"/>
                </a:solidFill>
                <a:latin typeface="Calibri"/>
              </a:rPr>
              <a:t>📡 Real Hardware Integration</a:t>
            </a:r>
          </a:p>
        </p:txBody>
      </p:sp>
      <p:sp>
        <p:nvSpPr>
          <p:cNvPr id="34" name="TextBox 33"/>
          <p:cNvSpPr txBox="1"/>
          <p:nvPr/>
        </p:nvSpPr>
        <p:spPr>
          <a:xfrm>
            <a:off x="6446520" y="2203704"/>
            <a:ext cx="4937760" cy="411480"/>
          </a:xfrm>
          <a:prstGeom prst="rect">
            <a:avLst/>
          </a:prstGeom>
          <a:noFill/>
        </p:spPr>
        <p:txBody>
          <a:bodyPr wrap="square">
            <a:spAutoFit/>
          </a:bodyPr>
          <a:lstStyle/>
          <a:p>
            <a:pPr algn="l"/>
            <a:r>
              <a:rPr sz="950" b="0" i="0">
                <a:solidFill>
                  <a:srgbClr val="475569"/>
                </a:solidFill>
                <a:latin typeface="Calibri"/>
              </a:rPr>
              <a:t>Connect directly via OCPP 2.0.1 (Open Charge Point Protocol) via WebSockets.</a:t>
            </a:r>
          </a:p>
        </p:txBody>
      </p:sp>
      <p:sp>
        <p:nvSpPr>
          <p:cNvPr id="35" name="Rectangle 34"/>
          <p:cNvSpPr/>
          <p:nvPr/>
        </p:nvSpPr>
        <p:spPr>
          <a:xfrm>
            <a:off x="6217920" y="2649728"/>
            <a:ext cx="137160" cy="137160"/>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6520" y="2624328"/>
            <a:ext cx="4937760" cy="256032"/>
          </a:xfrm>
          <a:prstGeom prst="rect">
            <a:avLst/>
          </a:prstGeom>
          <a:noFill/>
        </p:spPr>
        <p:txBody>
          <a:bodyPr wrap="square">
            <a:spAutoFit/>
          </a:bodyPr>
          <a:lstStyle/>
          <a:p>
            <a:pPr algn="l"/>
            <a:r>
              <a:rPr sz="1100" b="1" i="0">
                <a:solidFill>
                  <a:srgbClr val="0F172A"/>
                </a:solidFill>
                <a:latin typeface="Calibri"/>
              </a:rPr>
              <a:t>🗺️ Geospatial Radius Search</a:t>
            </a:r>
          </a:p>
        </p:txBody>
      </p:sp>
      <p:sp>
        <p:nvSpPr>
          <p:cNvPr id="37" name="TextBox 36"/>
          <p:cNvSpPr txBox="1"/>
          <p:nvPr/>
        </p:nvSpPr>
        <p:spPr>
          <a:xfrm>
            <a:off x="6446520" y="2862072"/>
            <a:ext cx="4937760" cy="411480"/>
          </a:xfrm>
          <a:prstGeom prst="rect">
            <a:avLst/>
          </a:prstGeom>
          <a:noFill/>
        </p:spPr>
        <p:txBody>
          <a:bodyPr wrap="square">
            <a:spAutoFit/>
          </a:bodyPr>
          <a:lstStyle/>
          <a:p>
            <a:pPr algn="l"/>
            <a:r>
              <a:rPr sz="950" b="0" i="0">
                <a:solidFill>
                  <a:srgbClr val="475569"/>
                </a:solidFill>
                <a:latin typeface="Calibri"/>
              </a:rPr>
              <a:t>Leverage MongoDB $geoNear and 2dsphere indexes for GPS proximity routing.</a:t>
            </a:r>
          </a:p>
        </p:txBody>
      </p:sp>
      <p:sp>
        <p:nvSpPr>
          <p:cNvPr id="38" name="Rectangle 37"/>
          <p:cNvSpPr/>
          <p:nvPr/>
        </p:nvSpPr>
        <p:spPr>
          <a:xfrm>
            <a:off x="6217920" y="3308096"/>
            <a:ext cx="137160" cy="137160"/>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46520" y="3282696"/>
            <a:ext cx="4937760" cy="256032"/>
          </a:xfrm>
          <a:prstGeom prst="rect">
            <a:avLst/>
          </a:prstGeom>
          <a:noFill/>
        </p:spPr>
        <p:txBody>
          <a:bodyPr wrap="square">
            <a:spAutoFit/>
          </a:bodyPr>
          <a:lstStyle/>
          <a:p>
            <a:pPr algn="l"/>
            <a:r>
              <a:rPr sz="1100" b="1" i="0">
                <a:solidFill>
                  <a:srgbClr val="0F172A"/>
                </a:solidFill>
                <a:latin typeface="Calibri"/>
              </a:rPr>
              <a:t>📱 Driver Mobile Experience</a:t>
            </a:r>
          </a:p>
        </p:txBody>
      </p:sp>
      <p:sp>
        <p:nvSpPr>
          <p:cNvPr id="40" name="TextBox 39"/>
          <p:cNvSpPr txBox="1"/>
          <p:nvPr/>
        </p:nvSpPr>
        <p:spPr>
          <a:xfrm>
            <a:off x="6446520" y="3520440"/>
            <a:ext cx="4937760" cy="411480"/>
          </a:xfrm>
          <a:prstGeom prst="rect">
            <a:avLst/>
          </a:prstGeom>
          <a:noFill/>
        </p:spPr>
        <p:txBody>
          <a:bodyPr wrap="square">
            <a:spAutoFit/>
          </a:bodyPr>
          <a:lstStyle/>
          <a:p>
            <a:pPr algn="l"/>
            <a:r>
              <a:rPr sz="950" b="0" i="0">
                <a:solidFill>
                  <a:srgbClr val="475569"/>
                </a:solidFill>
                <a:latin typeface="Calibri"/>
              </a:rPr>
              <a:t>Push alerts when a high-speed plug opens up at a favorited station.</a:t>
            </a:r>
          </a:p>
        </p:txBody>
      </p:sp>
      <p:sp>
        <p:nvSpPr>
          <p:cNvPr id="41" name="Rectangle 40"/>
          <p:cNvSpPr/>
          <p:nvPr/>
        </p:nvSpPr>
        <p:spPr>
          <a:xfrm>
            <a:off x="6217920" y="3966464"/>
            <a:ext cx="137160" cy="137160"/>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46520" y="3941064"/>
            <a:ext cx="4937760" cy="256032"/>
          </a:xfrm>
          <a:prstGeom prst="rect">
            <a:avLst/>
          </a:prstGeom>
          <a:noFill/>
        </p:spPr>
        <p:txBody>
          <a:bodyPr wrap="square">
            <a:spAutoFit/>
          </a:bodyPr>
          <a:lstStyle/>
          <a:p>
            <a:pPr algn="l"/>
            <a:r>
              <a:rPr sz="1100" b="1" i="0">
                <a:solidFill>
                  <a:srgbClr val="0F172A"/>
                </a:solidFill>
                <a:latin typeface="Calibri"/>
              </a:rPr>
              <a:t>⚡ Dynamic Grid Balancing</a:t>
            </a:r>
          </a:p>
        </p:txBody>
      </p:sp>
      <p:sp>
        <p:nvSpPr>
          <p:cNvPr id="43" name="TextBox 42"/>
          <p:cNvSpPr txBox="1"/>
          <p:nvPr/>
        </p:nvSpPr>
        <p:spPr>
          <a:xfrm>
            <a:off x="6446520" y="4178808"/>
            <a:ext cx="4937760" cy="411480"/>
          </a:xfrm>
          <a:prstGeom prst="rect">
            <a:avLst/>
          </a:prstGeom>
          <a:noFill/>
        </p:spPr>
        <p:txBody>
          <a:bodyPr wrap="square">
            <a:spAutoFit/>
          </a:bodyPr>
          <a:lstStyle/>
          <a:p>
            <a:pPr algn="l"/>
            <a:r>
              <a:rPr sz="950" b="0" i="0">
                <a:solidFill>
                  <a:srgbClr val="475569"/>
                </a:solidFill>
                <a:latin typeface="Calibri"/>
              </a:rPr>
              <a:t>Time-of-use tariff adjustments matching solar panel energy production spikes.</a:t>
            </a:r>
          </a:p>
        </p:txBody>
      </p:sp>
      <p:sp>
        <p:nvSpPr>
          <p:cNvPr id="44" name="Rectangle 43"/>
          <p:cNvSpPr/>
          <p:nvPr/>
        </p:nvSpPr>
        <p:spPr>
          <a:xfrm>
            <a:off x="6035040" y="4983480"/>
            <a:ext cx="5669280" cy="1371600"/>
          </a:xfrm>
          <a:prstGeom prst="rect">
            <a:avLst/>
          </a:prstGeom>
          <a:solidFill>
            <a:srgbClr val="064E3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17920" y="5102352"/>
            <a:ext cx="5303520" cy="256032"/>
          </a:xfrm>
          <a:prstGeom prst="rect">
            <a:avLst/>
          </a:prstGeom>
          <a:noFill/>
        </p:spPr>
        <p:txBody>
          <a:bodyPr wrap="square">
            <a:spAutoFit/>
          </a:bodyPr>
          <a:lstStyle/>
          <a:p>
            <a:pPr algn="l"/>
            <a:r>
              <a:rPr sz="1100" b="1" i="0">
                <a:solidFill>
                  <a:srgbClr val="D97706"/>
                </a:solidFill>
                <a:latin typeface="Calibri"/>
              </a:rPr>
              <a:t>🎓  PROJECT CONCLUSION &amp; CSE494 VIVA SUMMARY</a:t>
            </a:r>
          </a:p>
        </p:txBody>
      </p:sp>
      <p:sp>
        <p:nvSpPr>
          <p:cNvPr id="46" name="TextBox 45"/>
          <p:cNvSpPr txBox="1"/>
          <p:nvPr/>
        </p:nvSpPr>
        <p:spPr>
          <a:xfrm>
            <a:off x="6217920" y="5394960"/>
            <a:ext cx="5303520" cy="640080"/>
          </a:xfrm>
          <a:prstGeom prst="rect">
            <a:avLst/>
          </a:prstGeom>
          <a:noFill/>
        </p:spPr>
        <p:txBody>
          <a:bodyPr wrap="square">
            <a:spAutoFit/>
          </a:bodyPr>
          <a:lstStyle/>
          <a:p>
            <a:pPr algn="l"/>
            <a:r>
              <a:rPr sz="1000" b="0" i="0">
                <a:solidFill>
                  <a:srgbClr val="FFFFFF"/>
                </a:solidFill>
                <a:latin typeface="Calibri"/>
              </a:rPr>
              <a:t>ChargeSpot successfully demonstrates that intelligent NoSQL document modeling, atomic state transitions, aggregation pipelines, and machine learning can be combined to solve real transportation challenges.</a:t>
            </a:r>
          </a:p>
        </p:txBody>
      </p:sp>
      <p:sp>
        <p:nvSpPr>
          <p:cNvPr id="47" name="TextBox 46"/>
          <p:cNvSpPr txBox="1"/>
          <p:nvPr/>
        </p:nvSpPr>
        <p:spPr>
          <a:xfrm>
            <a:off x="6217920" y="5989320"/>
            <a:ext cx="5303520" cy="274320"/>
          </a:xfrm>
          <a:prstGeom prst="rect">
            <a:avLst/>
          </a:prstGeom>
          <a:noFill/>
        </p:spPr>
        <p:txBody>
          <a:bodyPr wrap="square">
            <a:spAutoFit/>
          </a:bodyPr>
          <a:lstStyle/>
          <a:p>
            <a:pPr algn="l"/>
            <a:r>
              <a:rPr sz="1100" b="1" i="0">
                <a:solidFill>
                  <a:srgbClr val="D1FAE5"/>
                </a:solidFill>
                <a:latin typeface="Calibri"/>
              </a:rPr>
              <a:t>Thank you! I am ready to answer your questions.</a:t>
            </a:r>
          </a:p>
        </p:txBody>
      </p:sp>
      <p:sp>
        <p:nvSpPr>
          <p:cNvPr id="48" name="TextBox 47"/>
          <p:cNvSpPr txBox="1"/>
          <p:nvPr/>
        </p:nvSpPr>
        <p:spPr>
          <a:xfrm>
            <a:off x="11094415" y="6492240"/>
            <a:ext cx="822960" cy="274320"/>
          </a:xfrm>
          <a:prstGeom prst="rect">
            <a:avLst/>
          </a:prstGeom>
          <a:noFill/>
        </p:spPr>
        <p:txBody>
          <a:bodyPr wrap="square">
            <a:spAutoFit/>
          </a:bodyPr>
          <a:lstStyle/>
          <a:p>
            <a:pPr algn="r"/>
            <a:r>
              <a:rPr sz="1000" b="0" i="0">
                <a:solidFill>
                  <a:srgbClr val="475569"/>
                </a:solidFill>
                <a:latin typeface="Calibri"/>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